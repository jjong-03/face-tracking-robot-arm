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1"/>
  </p:sldMasterIdLst>
  <p:notesMasterIdLst>
    <p:notesMasterId r:id="rId10"/>
  </p:notesMasterIdLst>
  <p:sldIdLst>
    <p:sldId id="256" r:id="rId2"/>
    <p:sldId id="257" r:id="rId3"/>
    <p:sldId id="267" r:id="rId4"/>
    <p:sldId id="258" r:id="rId5"/>
    <p:sldId id="266" r:id="rId6"/>
    <p:sldId id="268" r:id="rId7"/>
    <p:sldId id="261" r:id="rId8"/>
    <p:sldId id="259" r:id="rId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10" autoAdjust="0"/>
    <p:restoredTop sz="76895" autoAdjust="0"/>
  </p:normalViewPr>
  <p:slideViewPr>
    <p:cSldViewPr snapToObjects="1">
      <p:cViewPr varScale="1">
        <p:scale>
          <a:sx n="38" d="100"/>
          <a:sy n="38" d="100"/>
        </p:scale>
        <p:origin x="80" y="696"/>
      </p:cViewPr>
      <p:guideLst>
        <p:guide orient="horz" pos="2152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FAF5C0C-5DDA-42C8-B806-7AF716C74F11}" type="datetime1">
              <a:rPr lang="ko-KR" altLang="en-US"/>
              <a:pPr lvl="0">
                <a:defRPr/>
              </a:pPr>
              <a:t>2025-05-08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오늘은 음성 명령을 어떻게 받아왔고 결과를 보여주며 이후에 계획에 대해서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1294690"/>
      </p:ext>
    </p:extLst>
  </p:cSld>
  <p:clrMapOvr>
    <a:masterClrMapping/>
  </p:clrMapOvr>
</p:notes>
</file>

<file path=ppt/notesSlides/notesSlide3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3"/>
              <p:cNvSpPr>
                <a:spLocks noGrp="1" noRot="1" noChangeAspect="1" noTextEdi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>
                  <a:buFontTx/>
                  <a:buNone/>
                  <a:defRPr/>
                </a:pPr>
                <a:endParaRPr/>
              </a:p>
            </p:txBody>
          </p:sp>
          <p:sp>
            <p:nvSpPr>
              <p:cNvPr id="3" name="슬라이드 노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r>
                  <a:rPr lang="ko-KR" altLang="en-US" dirty="0"/>
                  <a:t>“처음에는 </a:t>
                </a:r>
                <a:r>
                  <a:rPr lang="en-US" altLang="ko-KR" dirty="0" err="1"/>
                  <a:t>PyAudio</a:t>
                </a:r>
                <a:r>
                  <a:rPr lang="ko-KR" altLang="en-US" dirty="0"/>
                  <a:t>로 </a:t>
                </a:r>
                <a:r>
                  <a:rPr lang="en-US" altLang="ko-KR" b="1" dirty="0"/>
                  <a:t>2</a:t>
                </a:r>
                <a:r>
                  <a:rPr lang="ko-KR" altLang="en-US" b="1" dirty="0"/>
                  <a:t>초 고정 녹음</a:t>
                </a:r>
                <a:r>
                  <a:rPr lang="ko-KR" altLang="en-US" dirty="0"/>
                  <a:t>한 뒤 </a:t>
                </a:r>
                <a:r>
                  <a:rPr lang="en-US" altLang="ko-KR" dirty="0"/>
                  <a:t>Google STT recognize()</a:t>
                </a:r>
                <a:r>
                  <a:rPr lang="ko-KR" altLang="en-US" dirty="0"/>
                  <a:t>를 호출하는 방식을 사용했습니다</a:t>
                </a:r>
                <a:r>
                  <a:rPr lang="en-US" altLang="ko-KR" dirty="0"/>
                  <a:t>.”</a:t>
                </a:r>
              </a:p>
              <a:p>
                <a:r>
                  <a:rPr lang="en-US" altLang="ko-KR" dirty="0"/>
                  <a:t>“</a:t>
                </a:r>
                <a:r>
                  <a:rPr lang="ko-KR" altLang="en-US" dirty="0"/>
                  <a:t>예를 들어 ‘영상 촬영 </a:t>
                </a:r>
                <a:r>
                  <a:rPr lang="ko-KR" altLang="en-US" dirty="0" err="1"/>
                  <a:t>시작’을</a:t>
                </a:r>
                <a:r>
                  <a:rPr lang="ko-KR" altLang="en-US" dirty="0"/>
                  <a:t> 말하면</a:t>
                </a:r>
                <a:r>
                  <a:rPr lang="en-US" altLang="ko-KR" dirty="0"/>
                  <a:t>, 2</a:t>
                </a:r>
                <a:r>
                  <a:rPr lang="ko-KR" altLang="en-US" dirty="0"/>
                  <a:t>초 안에 들어온 부분만 인식해서</a:t>
                </a:r>
                <a:r>
                  <a:rPr lang="en-US" altLang="ko-KR" dirty="0"/>
                  <a:t>… </a:t>
                </a:r>
                <a:r>
                  <a:rPr lang="ko-KR" altLang="en-US" dirty="0"/>
                  <a:t>영상 촬영만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혹은 시작만 출력되는 현상이 자주 발생했습니다</a:t>
                </a:r>
                <a:r>
                  <a:rPr lang="en-US" altLang="ko-KR" dirty="0"/>
                  <a:t>.”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“이후에 녹음 시간을 </a:t>
                </a:r>
                <a:r>
                  <a:rPr lang="en-US" altLang="ko-KR" dirty="0"/>
                  <a:t>3~4</a:t>
                </a:r>
                <a:r>
                  <a:rPr lang="ko-KR" altLang="en-US" dirty="0"/>
                  <a:t>초로 늘리고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single_utterance</a:t>
                </a:r>
                <a:r>
                  <a:rPr lang="en-US" altLang="ko-KR" dirty="0"/>
                  <a:t>=True </a:t>
                </a:r>
                <a:r>
                  <a:rPr lang="ko-KR" altLang="en-US" dirty="0"/>
                  <a:t>옵션을 적용해 ‘한 번의 말이 끝나면 즉시 결과를 </a:t>
                </a:r>
                <a:r>
                  <a:rPr lang="ko-KR" altLang="en-US" dirty="0" err="1"/>
                  <a:t>반환’하도록</a:t>
                </a:r>
                <a:r>
                  <a:rPr lang="ko-KR" altLang="en-US" dirty="0"/>
                  <a:t> 변경했지만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무음 감지 기준이 엄격하거나 너무 느슨하게 작동해 여전히 긴 문장이 중간에 잘리거나 음절 일부만 반환되는 문제가 발생했습니다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예를 들어 ‘</a:t>
                </a:r>
                <a:r>
                  <a:rPr lang="en-US" altLang="ko-KR" dirty="0"/>
                  <a:t>5</a:t>
                </a:r>
                <a:r>
                  <a:rPr lang="ko-KR" altLang="en-US" dirty="0"/>
                  <a:t>초 뒤에 영상 촬영 </a:t>
                </a:r>
                <a:r>
                  <a:rPr lang="ko-KR" altLang="en-US" dirty="0" err="1"/>
                  <a:t>시작’을</a:t>
                </a:r>
                <a:r>
                  <a:rPr lang="ko-KR" altLang="en-US" dirty="0"/>
                  <a:t> 말해도 ‘영상 </a:t>
                </a:r>
                <a:r>
                  <a:rPr lang="ko-KR" altLang="en-US" dirty="0" err="1"/>
                  <a:t>촬영’만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또는 ‘</a:t>
                </a:r>
                <a:r>
                  <a:rPr lang="ko-KR" altLang="en-US" dirty="0" err="1"/>
                  <a:t>시작’만</a:t>
                </a:r>
                <a:r>
                  <a:rPr lang="ko-KR" altLang="en-US" dirty="0"/>
                  <a:t> 인식되는 경우가 많았습니다</a:t>
                </a:r>
                <a:r>
                  <a:rPr lang="en-US" altLang="ko-KR" dirty="0"/>
                  <a:t>.”</a:t>
                </a:r>
              </a:p>
            </p:txBody>
          </p:sp>
          <p:sp>
            <p:nvSpPr>
              <p:cNvPr id="4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  <a:defRPr/>
                </a:pPr>
                <a:fld id="{B9320F77-B9A0-41C5-862A-B4B631284C64}" type="slidenum">
                  <a:rPr lang="en-US" altLang="en-US"/>
                  <a:t>5</a:t>
                </a:fld>
                <a:endParaRPr lang="en-US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>
    <p:transition spd="slow"/>
  </mc:Fallback>
</mc:AlternateContent>
</file>

<file path=ppt/notesSlides/notesSlide4.xml><?xml version="1.0" encoding="utf-8"?>
<mc:AlternateContent xmlns:mc="http://schemas.openxmlformats.org/markup-compatibility/2006" xmlns:p14="http://schemas.microsoft.com/office/powerpoint/2010/main">
  <mc:Choice Requires="p14">
    <p:notes xmlns:a="http://schemas.openxmlformats.org/drawingml/2006/main" xmlns:r="http://schemas.openxmlformats.org/officeDocument/2006/relationships" xmlns:p="http://schemas.openxmlformats.org/presentationml/2006/main">
      <p:cSld>
        <p:spTree>
          <p:nvGrpSpPr>
            <p:cNvPr id="1" name="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" name="슬라이드 이미지 개체 틀 3"/>
              <p:cNvSpPr>
                <a:spLocks noGrp="1" noRot="1" noChangeAspect="1" noTextEdit="1"/>
              </p:cNvSpPr>
              <p:nvPr>
                <p:ph type="sldImg" idx="2"/>
              </p:nvPr>
            </p:nvSpPr>
            <p:spPr>
              <a:xfrm>
                <a:off x="685800" y="1143000"/>
                <a:ext cx="5486400" cy="3086100"/>
              </a:xfrm>
              <a:prstGeom prst="rect">
                <a:avLst/>
              </a:prstGeom>
              <a:noFill/>
              <a:ln w="12700" cap="flat" cmpd="sng">
                <a:solidFill>
                  <a:srgbClr val="000000">
                    <a:alpha val="100000"/>
                  </a:srgbClr>
                </a:solidFill>
                <a:prstDash val="solid"/>
              </a:ln>
            </p:spPr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>
                  <a:buFontTx/>
                  <a:buNone/>
                  <a:defRPr/>
                </a:pPr>
                <a:endParaRPr/>
              </a:p>
            </p:txBody>
          </p:sp>
          <p:sp>
            <p:nvSpPr>
              <p:cNvPr id="3" name="슬라이드 노트 개체 틀 4"/>
              <p:cNvSpPr txBox="1">
                <a:spLocks noGrp="1"/>
              </p:cNvSpPr>
              <p:nvPr>
                <p:ph type="body" idx="3"/>
              </p:nvPr>
            </p:nvSpPr>
            <p:spPr>
              <a:xfrm>
                <a:off x="685800" y="4400550"/>
                <a:ext cx="5487035" cy="360108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FontTx/>
                  <a:buNone/>
                  <a:defRPr/>
                </a:pPr>
                <a:r>
                  <a:rPr lang="ko-KR" altLang="en-US" dirty="0"/>
                  <a:t>“그래서 저희는 </a:t>
                </a:r>
                <a:r>
                  <a:rPr lang="en-US" altLang="ko-KR" dirty="0"/>
                  <a:t>Google STT</a:t>
                </a:r>
                <a:r>
                  <a:rPr lang="ko-KR" altLang="en-US" dirty="0"/>
                  <a:t>의 스트리밍 방식 대신</a:t>
                </a:r>
                <a:r>
                  <a:rPr lang="en-US" altLang="ko-KR" dirty="0"/>
                  <a:t>, </a:t>
                </a:r>
                <a:r>
                  <a:rPr lang="en-US" altLang="ko-KR" dirty="0" err="1"/>
                  <a:t>webrtcvad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기반의 </a:t>
                </a:r>
                <a:r>
                  <a:rPr lang="en-US" altLang="ko-KR" dirty="0"/>
                  <a:t>VAD(Voice Activity Detection)</a:t>
                </a:r>
                <a:r>
                  <a:rPr lang="ko-KR" altLang="en-US" dirty="0"/>
                  <a:t>를 도입했습니다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dirty="0"/>
                  <a:t>VAD</a:t>
                </a:r>
                <a:r>
                  <a:rPr lang="ko-KR" altLang="en-US" dirty="0"/>
                  <a:t>가 ‘음성 활동 </a:t>
                </a:r>
                <a:r>
                  <a:rPr lang="ko-KR" altLang="en-US" dirty="0" err="1"/>
                  <a:t>구간’만</a:t>
                </a:r>
                <a:r>
                  <a:rPr lang="ko-KR" altLang="en-US" dirty="0"/>
                  <a:t> 골라내어 프레임 단위로 묶어 주기 때문에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말이 시작되고 끝나는 지점을 더 정확하게 잡을 수 있었습니다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덕분에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초나 </a:t>
                </a:r>
                <a:r>
                  <a:rPr lang="en-US" altLang="ko-KR" dirty="0"/>
                  <a:t>4</a:t>
                </a:r>
                <a:r>
                  <a:rPr lang="ko-KR" altLang="en-US" dirty="0"/>
                  <a:t>초처럼 임의로 고정된 녹음 시간을 기다릴 필요 없이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실제 발화가 끝나는 즉시 오디오 조각을 </a:t>
                </a:r>
                <a:r>
                  <a:rPr lang="en-US" altLang="ko-KR" dirty="0"/>
                  <a:t>STT</a:t>
                </a:r>
                <a:r>
                  <a:rPr lang="ko-KR" altLang="en-US" dirty="0"/>
                  <a:t>에 전달할 수 있었죠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결과적으로 “</a:t>
                </a:r>
                <a:r>
                  <a:rPr lang="en-US" altLang="ko-KR" dirty="0"/>
                  <a:t>5</a:t>
                </a:r>
                <a:r>
                  <a:rPr lang="ko-KR" altLang="en-US" dirty="0"/>
                  <a:t>초 뒤에 영상 촬영 시작” 같은 긴 명령어도 음절 하나하나 끊기지 않고 통째로 인식되었고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en-US" altLang="ko-KR" dirty="0"/>
                  <a:t>‘</a:t>
                </a:r>
                <a:r>
                  <a:rPr lang="ko-KR" altLang="en-US" dirty="0"/>
                  <a:t>영상 촬영 </a:t>
                </a:r>
                <a:r>
                  <a:rPr lang="ko-KR" altLang="en-US" dirty="0" err="1"/>
                  <a:t>시작’과</a:t>
                </a:r>
                <a:r>
                  <a:rPr lang="ko-KR" altLang="en-US" dirty="0"/>
                  <a:t> ‘영상 촬영 종료’</a:t>
                </a:r>
                <a:r>
                  <a:rPr lang="en-US" altLang="ko-KR" dirty="0"/>
                  <a:t>, ‘1</a:t>
                </a:r>
                <a:r>
                  <a:rPr lang="ko-KR" altLang="en-US" dirty="0"/>
                  <a:t>단계’</a:t>
                </a:r>
                <a:r>
                  <a:rPr lang="en-US" altLang="ko-KR" dirty="0"/>
                  <a:t>~‘5</a:t>
                </a:r>
                <a:r>
                  <a:rPr lang="ko-KR" altLang="en-US" dirty="0"/>
                  <a:t>단계’ 같은 키워드 매칭도 훨씬 안정적으로 동작하게 되었습니다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endParaRPr lang="en-US" altLang="ko-KR" dirty="0"/>
              </a:p>
              <a:p>
                <a:r>
                  <a:rPr lang="ko-KR" altLang="en-US" dirty="0"/>
                  <a:t>또한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음성 인식의 정확도를 높이기 위해 </a:t>
                </a:r>
                <a:r>
                  <a:rPr lang="en-US" altLang="ko-KR" b="1" dirty="0"/>
                  <a:t>Phrase Hinting</a:t>
                </a:r>
                <a:r>
                  <a:rPr lang="ko-KR" altLang="en-US" dirty="0"/>
                  <a:t> 기능을 도입했습니다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en-US" altLang="ko-KR" dirty="0"/>
                  <a:t>Phrase Hinting</a:t>
                </a:r>
                <a:r>
                  <a:rPr lang="ko-KR" altLang="en-US" dirty="0"/>
                  <a:t>은 자주 쓰는 명령어를 미리 등록하고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각 문구에 </a:t>
                </a:r>
                <a:r>
                  <a:rPr lang="en-US" altLang="ko-KR" dirty="0"/>
                  <a:t>boost</a:t>
                </a:r>
                <a:r>
                  <a:rPr lang="ko-KR" altLang="en-US" dirty="0"/>
                  <a:t>라는 가중치를 부여하여</a:t>
                </a:r>
                <a:br>
                  <a:rPr lang="ko-KR" altLang="en-US" dirty="0"/>
                </a:br>
                <a:r>
                  <a:rPr lang="en-US" altLang="ko-KR" dirty="0"/>
                  <a:t>STT </a:t>
                </a:r>
                <a:r>
                  <a:rPr lang="ko-KR" altLang="en-US" dirty="0"/>
                  <a:t>엔진이 유사 표현보다 등록된 키워드를 우선적으로 인식하도록 돕는 방법입니다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저희는 “영상 촬영 시작”</a:t>
                </a:r>
                <a:r>
                  <a:rPr lang="en-US" altLang="ko-KR" dirty="0"/>
                  <a:t>, “1</a:t>
                </a:r>
                <a:r>
                  <a:rPr lang="ko-KR" altLang="en-US" dirty="0"/>
                  <a:t>단계” 등 주요 명령어들을 리스트에 등록하고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명령어별 사용 빈도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그리고 단어의 길이에 따라 적절한 </a:t>
                </a:r>
                <a:r>
                  <a:rPr lang="en-US" altLang="ko-KR" dirty="0"/>
                  <a:t>boost </a:t>
                </a:r>
                <a:r>
                  <a:rPr lang="ko-KR" altLang="en-US" dirty="0"/>
                  <a:t>값을 설정했습니다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그 결과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발음이 흐려지더라도</a:t>
                </a:r>
                <a:br>
                  <a:rPr lang="ko-KR" altLang="en-US" dirty="0"/>
                </a:br>
                <a:r>
                  <a:rPr lang="ko-KR" altLang="en-US" dirty="0"/>
                  <a:t>필요한 키워드가 빠지지 않고 </a:t>
                </a:r>
                <a:r>
                  <a:rPr lang="ko-KR" altLang="en-US" b="1" dirty="0"/>
                  <a:t>안정적으로</a:t>
                </a:r>
                <a:r>
                  <a:rPr lang="ko-KR" altLang="en-US" dirty="0"/>
                  <a:t> 인식되도록 보완할 수 있었습니다</a:t>
                </a:r>
                <a:r>
                  <a:rPr lang="en-US" altLang="ko-KR" dirty="0"/>
                  <a:t>.</a:t>
                </a:r>
              </a:p>
              <a:p>
                <a:pPr marL="0" indent="0" algn="l" defTabSz="914400" rtl="0" eaLnBrk="1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FontTx/>
                  <a:buNone/>
                  <a:defRPr/>
                </a:pPr>
                <a:endParaRPr lang="en-US" altLang="ko-KR" dirty="0"/>
              </a:p>
            </p:txBody>
          </p:sp>
          <p:sp>
            <p:nvSpPr>
              <p:cNvPr id="4" name="슬라이드 번호 개체 틀 6"/>
              <p:cNvSpPr txBox="1">
                <a:spLocks noGrp="1"/>
              </p:cNvSpPr>
              <p:nvPr>
                <p:ph type="sldNum" idx="5"/>
              </p:nvPr>
            </p:nvSpPr>
            <p:spPr>
              <a:xfrm>
                <a:off x="3884930" y="8685530"/>
                <a:ext cx="2972435" cy="459105"/>
              </a:xfrm>
              <a:prstGeom prst="rect">
                <a:avLst/>
              </a:prstGeom>
            </p:spPr>
            <p:txBody>
              <a:bodyPr vert="horz" wrap="square" lIns="91440" tIns="45720" rIns="91440" bIns="45720" numCol="1" anchor="b">
                <a:noAutofit/>
              </a:bodyPr>
              <a:lstStyle/>
              <a:p>
                <a:pPr marL="0" indent="0">
                  <a:buFontTx/>
                  <a:buNone/>
                  <a:defRPr/>
                </a:pPr>
                <a:fld id="{B9320F77-B9A0-41C5-862A-B4B631284C64}" type="slidenum">
                  <a:rPr lang="en-US" altLang="en-US"/>
                  <a:t>6</a:t>
                </a:fld>
                <a:endParaRPr lang="en-US" altLang="en-US"/>
              </a:p>
            </p:txBody>
          </p:sp>
        </p:spTree>
      </p:cSld>
      <p:clrMapOvr>
        <a:masterClrMapping/>
      </p:clrMapOvr>
    </p:notes>
  </mc:Choice>
  <mc:Fallback xmlns:mc="http://schemas.openxmlformats.org/markup-compatibility/2006" xmlns:p="http://schemas.openxmlformats.org/presentationml/2006/main" xmlns:r="http://schemas.openxmlformats.org/officeDocument/2006/relationships" xmlns:a="http://schemas.openxmlformats.org/drawingml/2006/main" xmlns="">
    <p:transition spd="slow"/>
  </mc:Fallback>
</mc:AlternateContent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735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2385" y="4503420"/>
            <a:ext cx="10603230" cy="1278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이상한 나라의 개발자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19110" y="3803650"/>
            <a:ext cx="2050415" cy="7112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altLang="ko-KR" sz="3999">
                <a:solidFill>
                  <a:srgbClr val="090807"/>
                </a:solidFill>
                <a:latin typeface="Raleway"/>
                <a:ea typeface="Raleway"/>
                <a:cs typeface="Raleway"/>
                <a:sym typeface="Raleway"/>
              </a:rPr>
              <a:t>Team.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463915"/>
            <a:ext cx="1253490" cy="33701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>
              <a:lnSpc>
                <a:spcPts val="2800"/>
              </a:lnSpc>
              <a:spcBef>
                <a:spcPct val="0"/>
              </a:spcBef>
              <a:buFontTx/>
              <a:buNone/>
              <a:defRPr/>
            </a:pPr>
            <a:r>
              <a:rPr lang="en-US" sz="2000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20</a:t>
            </a:r>
            <a:r>
              <a:rPr lang="en-US" altLang="ko-KR" sz="2000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25.05.08</a:t>
            </a:r>
            <a:endParaRPr lang="ko-KR" altLang="en-US" sz="2000" dirty="0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83920" y="8924925"/>
            <a:ext cx="1859280" cy="7143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김종원 김동현      손홍준 최민주</a:t>
            </a:r>
          </a:p>
        </p:txBody>
      </p:sp>
      <p:sp>
        <p:nvSpPr>
          <p:cNvPr id="6" name="AutoShape 6"/>
          <p:cNvSpPr/>
          <p:nvPr/>
        </p:nvSpPr>
        <p:spPr>
          <a:xfrm>
            <a:off x="3121025" y="9117330"/>
            <a:ext cx="15166975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9"/>
          <p:cNvSpPr txBox="1"/>
          <p:nvPr/>
        </p:nvSpPr>
        <p:spPr>
          <a:xfrm>
            <a:off x="3169920" y="4627245"/>
            <a:ext cx="2938145" cy="91884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7426"/>
              </a:lnSpc>
              <a:spcBef>
                <a:spcPct val="0"/>
              </a:spcBef>
              <a:defRPr/>
            </a:pPr>
            <a:r>
              <a:rPr lang="en-US" sz="5305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Contents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12215" y="2077720"/>
            <a:ext cx="701040" cy="8464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6690"/>
              </a:lnSpc>
              <a:defRPr/>
            </a:pPr>
            <a:endParaRPr lang="en-US" sz="300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37650" y="3489325"/>
            <a:ext cx="7042150" cy="247882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6690"/>
              </a:lnSpc>
              <a:buFontTx/>
              <a:buNone/>
              <a:defRPr/>
            </a:pPr>
            <a:r>
              <a:rPr lang="en-US" sz="4000" b="1" dirty="0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01</a:t>
            </a:r>
            <a:r>
              <a:rPr lang="ko-KR" sz="4000" b="1" dirty="0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	상세 기능</a:t>
            </a: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r>
              <a:rPr lang="en-US" sz="4000" b="1" dirty="0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02</a:t>
            </a:r>
            <a:r>
              <a:rPr lang="ko-KR" sz="4000" b="1" dirty="0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	</a:t>
            </a:r>
            <a:r>
              <a:rPr lang="ko-KR" altLang="en-US" sz="4000" b="1" dirty="0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음성처리 확인</a:t>
            </a:r>
            <a:endParaRPr lang="en-US" altLang="ko-KR" sz="4000" b="1" dirty="0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  <a:p>
            <a:pPr marL="0" lvl="0" indent="0" algn="l">
              <a:lnSpc>
                <a:spcPts val="6690"/>
              </a:lnSpc>
              <a:buFontTx/>
              <a:buNone/>
              <a:defRPr/>
            </a:pPr>
            <a:r>
              <a:rPr lang="en-US" sz="4000" b="1" dirty="0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03</a:t>
            </a:r>
            <a:r>
              <a:rPr lang="ko-KR" sz="4000" b="1" dirty="0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	</a:t>
            </a:r>
            <a:r>
              <a:rPr lang="ko-KR" altLang="en-US" sz="4000" b="1" dirty="0">
                <a:solidFill>
                  <a:srgbClr val="090807"/>
                </a:solidFill>
                <a:latin typeface="Raleway Bold"/>
                <a:ea typeface="Raleway Bold"/>
                <a:cs typeface="Raleway Bold"/>
              </a:rPr>
              <a:t>이후 계획</a:t>
            </a:r>
            <a:endParaRPr lang="ko-KR" sz="4000" b="1" dirty="0">
              <a:solidFill>
                <a:srgbClr val="090807"/>
              </a:solidFill>
              <a:latin typeface="Raleway Bold"/>
              <a:ea typeface="Raleway Bold"/>
              <a:cs typeface="Raleway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Rect 0"/>
          <p:cNvCxnSpPr/>
          <p:nvPr/>
        </p:nvCxnSpPr>
        <p:spPr>
          <a:xfrm flipV="1">
            <a:off x="860425" y="1333500"/>
            <a:ext cx="2416810" cy="1397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 0"/>
          <p:cNvSpPr txBox="1">
            <a:spLocks/>
          </p:cNvSpPr>
          <p:nvPr/>
        </p:nvSpPr>
        <p:spPr>
          <a:xfrm>
            <a:off x="914400" y="393700"/>
            <a:ext cx="3267710" cy="79502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01 </a:t>
            </a:r>
            <a:r>
              <a:rPr lang="ko-KR" altLang="en-US" sz="2495" b="1" i="0" strike="noStrike" cap="none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상세기능</a:t>
            </a:r>
          </a:p>
        </p:txBody>
      </p:sp>
      <p:sp>
        <p:nvSpPr>
          <p:cNvPr id="17" name="Rect 0"/>
          <p:cNvSpPr txBox="1">
            <a:spLocks/>
          </p:cNvSpPr>
          <p:nvPr/>
        </p:nvSpPr>
        <p:spPr>
          <a:xfrm>
            <a:off x="1355725" y="1822450"/>
            <a:ext cx="5314315" cy="44450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ctr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ko-KR" altLang="en-US"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이용자 위치에 따른 카메라 이동</a:t>
            </a:r>
          </a:p>
        </p:txBody>
      </p:sp>
      <p:grpSp>
        <p:nvGrpSpPr>
          <p:cNvPr id="18" name="그룹 30"/>
          <p:cNvGrpSpPr>
            <a:grpSpLocks/>
          </p:cNvGrpSpPr>
          <p:nvPr/>
        </p:nvGrpSpPr>
        <p:grpSpPr>
          <a:xfrm>
            <a:off x="683895" y="2223135"/>
            <a:ext cx="16920845" cy="7083425"/>
            <a:chOff x="683895" y="2223135"/>
            <a:chExt cx="16920845" cy="7083425"/>
          </a:xfrm>
        </p:grpSpPr>
        <p:sp>
          <p:nvSpPr>
            <p:cNvPr id="19" name="도형 28"/>
            <p:cNvSpPr>
              <a:spLocks/>
            </p:cNvSpPr>
            <p:nvPr/>
          </p:nvSpPr>
          <p:spPr>
            <a:xfrm>
              <a:off x="683895" y="2223135"/>
              <a:ext cx="16920845" cy="7083425"/>
            </a:xfrm>
            <a:custGeom>
              <a:avLst/>
              <a:gdLst>
                <a:gd name="TX0" fmla="*/ 0 w 4456349"/>
                <a:gd name="TY0" fmla="*/ 0 h 1865386"/>
                <a:gd name="TX1" fmla="*/ 4456348 w 4456349"/>
                <a:gd name="TY1" fmla="*/ 0 h 1865386"/>
                <a:gd name="TX2" fmla="*/ 4456348 w 4456349"/>
                <a:gd name="TY2" fmla="*/ 1865385 h 1865386"/>
                <a:gd name="TX3" fmla="*/ 0 w 4456349"/>
                <a:gd name="TY3" fmla="*/ 1865385 h 1865386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</a:cxnLst>
              <a:rect l="l" t="t" r="r" b="b"/>
              <a:pathLst>
                <a:path w="4456349" h="1865386">
                  <a:moveTo>
                    <a:pt x="0" y="0"/>
                  </a:moveTo>
                  <a:lnTo>
                    <a:pt x="4456348" y="0"/>
                  </a:lnTo>
                  <a:lnTo>
                    <a:pt x="4456348" y="1865385"/>
                  </a:lnTo>
                  <a:lnTo>
                    <a:pt x="0" y="1865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 cmpd="sng">
              <a:solidFill>
                <a:srgbClr val="090807">
                  <a:alpha val="100000"/>
                </a:srgbClr>
              </a:solidFill>
              <a:prstDash val="solid"/>
              <a:miter lim="800000"/>
            </a:ln>
          </p:spPr>
          <p:txBody>
            <a:bodyPr vert="horz" wrap="square" lIns="0" tIns="0" rIns="0" bIns="0" anchor="t">
              <a:noAutofit/>
            </a:bodyPr>
            <a:lstStyle/>
            <a:p>
              <a:pPr marL="0" indent="0" algn="l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0" name="텍스트 상자 29"/>
            <p:cNvSpPr txBox="1">
              <a:spLocks/>
            </p:cNvSpPr>
            <p:nvPr/>
          </p:nvSpPr>
          <p:spPr>
            <a:xfrm>
              <a:off x="683895" y="2078355"/>
              <a:ext cx="16920845" cy="7228205"/>
            </a:xfrm>
            <a:prstGeom prst="rect">
              <a:avLst/>
            </a:prstGeom>
          </p:spPr>
          <p:txBody>
            <a:bodyPr vert="horz" wrap="square" lIns="50800" tIns="50800" rIns="50800" bIns="50800" anchor="ctr">
              <a:noAutofit/>
            </a:bodyPr>
            <a:lstStyle/>
            <a:p>
              <a:pPr marL="0" indent="0" algn="ctr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24" name="그룹 36"/>
          <p:cNvGrpSpPr>
            <a:grpSpLocks/>
          </p:cNvGrpSpPr>
          <p:nvPr/>
        </p:nvGrpSpPr>
        <p:grpSpPr>
          <a:xfrm>
            <a:off x="1414145" y="5480685"/>
            <a:ext cx="2814320" cy="699135"/>
            <a:chOff x="1414145" y="5480685"/>
            <a:chExt cx="2814320" cy="699135"/>
          </a:xfrm>
        </p:grpSpPr>
        <p:sp>
          <p:nvSpPr>
            <p:cNvPr id="25" name="도형 34"/>
            <p:cNvSpPr>
              <a:spLocks/>
            </p:cNvSpPr>
            <p:nvPr/>
          </p:nvSpPr>
          <p:spPr>
            <a:xfrm>
              <a:off x="1414145" y="5480685"/>
              <a:ext cx="2814320" cy="699135"/>
            </a:xfrm>
            <a:custGeom>
              <a:avLst/>
              <a:gdLst>
                <a:gd name="TX0" fmla="*/ 91967 w 741048"/>
                <a:gd name="TY0" fmla="*/ 0 h 183934"/>
                <a:gd name="TX1" fmla="*/ 649081 w 741048"/>
                <a:gd name="TY1" fmla="*/ 0 h 183934"/>
                <a:gd name="TX2" fmla="*/ 714111 w 741048"/>
                <a:gd name="TY2" fmla="*/ 26936 h 183934"/>
                <a:gd name="TX3" fmla="*/ 741047 w 741048"/>
                <a:gd name="TY3" fmla="*/ 91967 h 183934"/>
                <a:gd name="TX4" fmla="*/ 741047 w 741048"/>
                <a:gd name="TY4" fmla="*/ 91967 h 183934"/>
                <a:gd name="TX5" fmla="*/ 714111 w 741048"/>
                <a:gd name="TY5" fmla="*/ 156997 h 183934"/>
                <a:gd name="TX6" fmla="*/ 649081 w 741048"/>
                <a:gd name="TY6" fmla="*/ 183933 h 183934"/>
                <a:gd name="TX7" fmla="*/ 91967 w 741048"/>
                <a:gd name="TY7" fmla="*/ 183933 h 183934"/>
                <a:gd name="TX8" fmla="*/ 26936 w 741048"/>
                <a:gd name="TY8" fmla="*/ 156997 h 183934"/>
                <a:gd name="TX9" fmla="*/ 0 w 741048"/>
                <a:gd name="TY9" fmla="*/ 91967 h 183934"/>
                <a:gd name="TX10" fmla="*/ 0 w 741048"/>
                <a:gd name="TY10" fmla="*/ 91967 h 183934"/>
                <a:gd name="TX11" fmla="*/ 26936 w 741048"/>
                <a:gd name="TY11" fmla="*/ 26936 h 183934"/>
                <a:gd name="TX12" fmla="*/ 91967 w 741048"/>
                <a:gd name="TY12" fmla="*/ 0 h 183934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741048" h="183934">
                  <a:moveTo>
                    <a:pt x="91967" y="0"/>
                  </a:moveTo>
                  <a:lnTo>
                    <a:pt x="649081" y="0"/>
                  </a:lnTo>
                  <a:cubicBezTo>
                    <a:pt x="673472" y="0"/>
                    <a:pt x="696864" y="9689"/>
                    <a:pt x="714111" y="26936"/>
                  </a:cubicBezTo>
                  <a:cubicBezTo>
                    <a:pt x="731358" y="44184"/>
                    <a:pt x="741047" y="67576"/>
                    <a:pt x="741047" y="91967"/>
                  </a:cubicBezTo>
                  <a:lnTo>
                    <a:pt x="741047" y="91967"/>
                  </a:lnTo>
                  <a:cubicBezTo>
                    <a:pt x="741047" y="116358"/>
                    <a:pt x="731358" y="139750"/>
                    <a:pt x="714111" y="156997"/>
                  </a:cubicBezTo>
                  <a:cubicBezTo>
                    <a:pt x="696864" y="174244"/>
                    <a:pt x="673472" y="183933"/>
                    <a:pt x="64908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 vert="horz" wrap="square" lIns="0" tIns="0" rIns="0" bIns="0" anchor="t">
              <a:noAutofit/>
            </a:bodyPr>
            <a:lstStyle/>
            <a:p>
              <a:pPr marL="0" indent="0" algn="l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6" name="텍스트 상자 35"/>
            <p:cNvSpPr txBox="1">
              <a:spLocks/>
            </p:cNvSpPr>
            <p:nvPr/>
          </p:nvSpPr>
          <p:spPr>
            <a:xfrm>
              <a:off x="1414145" y="5335905"/>
              <a:ext cx="2814320" cy="843915"/>
            </a:xfrm>
            <a:prstGeom prst="rect">
              <a:avLst/>
            </a:prstGeom>
          </p:spPr>
          <p:txBody>
            <a:bodyPr vert="horz" wrap="square" lIns="50800" tIns="50800" rIns="50800" bIns="50800" anchor="ctr">
              <a:noAutofit/>
            </a:bodyPr>
            <a:lstStyle/>
            <a:p>
              <a:pPr marL="0" indent="0" algn="ctr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27" name="그룹 39"/>
          <p:cNvGrpSpPr>
            <a:grpSpLocks/>
          </p:cNvGrpSpPr>
          <p:nvPr/>
        </p:nvGrpSpPr>
        <p:grpSpPr>
          <a:xfrm>
            <a:off x="10177780" y="5492750"/>
            <a:ext cx="2509520" cy="699135"/>
            <a:chOff x="10177780" y="5492750"/>
            <a:chExt cx="2509520" cy="699135"/>
          </a:xfrm>
        </p:grpSpPr>
        <p:sp>
          <p:nvSpPr>
            <p:cNvPr id="28" name="도형 37"/>
            <p:cNvSpPr>
              <a:spLocks/>
            </p:cNvSpPr>
            <p:nvPr/>
          </p:nvSpPr>
          <p:spPr>
            <a:xfrm>
              <a:off x="10177780" y="5492750"/>
              <a:ext cx="2509520" cy="699135"/>
            </a:xfrm>
            <a:custGeom>
              <a:avLst/>
              <a:gdLst>
                <a:gd name="TX0" fmla="*/ 91967 w 660823"/>
                <a:gd name="TY0" fmla="*/ 0 h 183934"/>
                <a:gd name="TX1" fmla="*/ 568856 w 660823"/>
                <a:gd name="TY1" fmla="*/ 0 h 183934"/>
                <a:gd name="TX2" fmla="*/ 633886 w 660823"/>
                <a:gd name="TY2" fmla="*/ 26936 h 183934"/>
                <a:gd name="TX3" fmla="*/ 660822 w 660823"/>
                <a:gd name="TY3" fmla="*/ 91967 h 183934"/>
                <a:gd name="TX4" fmla="*/ 660822 w 660823"/>
                <a:gd name="TY4" fmla="*/ 91967 h 183934"/>
                <a:gd name="TX5" fmla="*/ 633886 w 660823"/>
                <a:gd name="TY5" fmla="*/ 156997 h 183934"/>
                <a:gd name="TX6" fmla="*/ 568856 w 660823"/>
                <a:gd name="TY6" fmla="*/ 183933 h 183934"/>
                <a:gd name="TX7" fmla="*/ 91967 w 660823"/>
                <a:gd name="TY7" fmla="*/ 183933 h 183934"/>
                <a:gd name="TX8" fmla="*/ 26936 w 660823"/>
                <a:gd name="TY8" fmla="*/ 156997 h 183934"/>
                <a:gd name="TX9" fmla="*/ 0 w 660823"/>
                <a:gd name="TY9" fmla="*/ 91967 h 183934"/>
                <a:gd name="TX10" fmla="*/ 0 w 660823"/>
                <a:gd name="TY10" fmla="*/ 91967 h 183934"/>
                <a:gd name="TX11" fmla="*/ 26936 w 660823"/>
                <a:gd name="TY11" fmla="*/ 26936 h 183934"/>
                <a:gd name="TX12" fmla="*/ 91967 w 660823"/>
                <a:gd name="TY12" fmla="*/ 0 h 183934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660823" h="183934">
                  <a:moveTo>
                    <a:pt x="91967" y="0"/>
                  </a:moveTo>
                  <a:lnTo>
                    <a:pt x="568856" y="0"/>
                  </a:lnTo>
                  <a:cubicBezTo>
                    <a:pt x="593247" y="0"/>
                    <a:pt x="616639" y="9689"/>
                    <a:pt x="633886" y="26936"/>
                  </a:cubicBezTo>
                  <a:cubicBezTo>
                    <a:pt x="651133" y="44184"/>
                    <a:pt x="660822" y="67576"/>
                    <a:pt x="660822" y="91967"/>
                  </a:cubicBezTo>
                  <a:lnTo>
                    <a:pt x="660822" y="91967"/>
                  </a:lnTo>
                  <a:cubicBezTo>
                    <a:pt x="660822" y="116358"/>
                    <a:pt x="651133" y="139750"/>
                    <a:pt x="633886" y="156997"/>
                  </a:cubicBezTo>
                  <a:cubicBezTo>
                    <a:pt x="616639" y="174244"/>
                    <a:pt x="593247" y="183933"/>
                    <a:pt x="568856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 vert="horz" wrap="square" lIns="0" tIns="0" rIns="0" bIns="0" anchor="t">
              <a:noAutofit/>
            </a:bodyPr>
            <a:lstStyle/>
            <a:p>
              <a:pPr marL="0" indent="0" algn="l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29" name="텍스트 상자 38"/>
            <p:cNvSpPr txBox="1">
              <a:spLocks/>
            </p:cNvSpPr>
            <p:nvPr/>
          </p:nvSpPr>
          <p:spPr>
            <a:xfrm>
              <a:off x="10177780" y="5347970"/>
              <a:ext cx="2509520" cy="843915"/>
            </a:xfrm>
            <a:prstGeom prst="rect">
              <a:avLst/>
            </a:prstGeom>
          </p:spPr>
          <p:txBody>
            <a:bodyPr vert="horz" wrap="square" lIns="50800" tIns="50800" rIns="50800" bIns="50800" anchor="ctr">
              <a:noAutofit/>
            </a:bodyPr>
            <a:lstStyle/>
            <a:p>
              <a:pPr marL="0" indent="0" algn="ctr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30" name="그룹 42"/>
          <p:cNvGrpSpPr>
            <a:grpSpLocks/>
          </p:cNvGrpSpPr>
          <p:nvPr/>
        </p:nvGrpSpPr>
        <p:grpSpPr>
          <a:xfrm>
            <a:off x="5405120" y="5480685"/>
            <a:ext cx="3293110" cy="699135"/>
            <a:chOff x="5405120" y="5480685"/>
            <a:chExt cx="3293110" cy="699135"/>
          </a:xfrm>
        </p:grpSpPr>
        <p:sp>
          <p:nvSpPr>
            <p:cNvPr id="31" name="도형 40"/>
            <p:cNvSpPr>
              <a:spLocks/>
            </p:cNvSpPr>
            <p:nvPr/>
          </p:nvSpPr>
          <p:spPr>
            <a:xfrm>
              <a:off x="5405120" y="5480685"/>
              <a:ext cx="3293110" cy="699135"/>
            </a:xfrm>
            <a:custGeom>
              <a:avLst/>
              <a:gdLst>
                <a:gd name="TX0" fmla="*/ 91967 w 867116"/>
                <a:gd name="TY0" fmla="*/ 0 h 183934"/>
                <a:gd name="TX1" fmla="*/ 775149 w 867116"/>
                <a:gd name="TY1" fmla="*/ 0 h 183934"/>
                <a:gd name="TX2" fmla="*/ 840179 w 867116"/>
                <a:gd name="TY2" fmla="*/ 26936 h 183934"/>
                <a:gd name="TX3" fmla="*/ 867115 w 867116"/>
                <a:gd name="TY3" fmla="*/ 91967 h 183934"/>
                <a:gd name="TX4" fmla="*/ 867115 w 867116"/>
                <a:gd name="TY4" fmla="*/ 91967 h 183934"/>
                <a:gd name="TX5" fmla="*/ 840179 w 867116"/>
                <a:gd name="TY5" fmla="*/ 156997 h 183934"/>
                <a:gd name="TX6" fmla="*/ 775149 w 867116"/>
                <a:gd name="TY6" fmla="*/ 183933 h 183934"/>
                <a:gd name="TX7" fmla="*/ 91967 w 867116"/>
                <a:gd name="TY7" fmla="*/ 183933 h 183934"/>
                <a:gd name="TX8" fmla="*/ 26936 w 867116"/>
                <a:gd name="TY8" fmla="*/ 156997 h 183934"/>
                <a:gd name="TX9" fmla="*/ 0 w 867116"/>
                <a:gd name="TY9" fmla="*/ 91967 h 183934"/>
                <a:gd name="TX10" fmla="*/ 0 w 867116"/>
                <a:gd name="TY10" fmla="*/ 91967 h 183934"/>
                <a:gd name="TX11" fmla="*/ 26936 w 867116"/>
                <a:gd name="TY11" fmla="*/ 26936 h 183934"/>
                <a:gd name="TX12" fmla="*/ 91967 w 867116"/>
                <a:gd name="TY12" fmla="*/ 0 h 183934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867116" h="183934">
                  <a:moveTo>
                    <a:pt x="91967" y="0"/>
                  </a:moveTo>
                  <a:lnTo>
                    <a:pt x="775149" y="0"/>
                  </a:lnTo>
                  <a:cubicBezTo>
                    <a:pt x="799540" y="0"/>
                    <a:pt x="822932" y="9689"/>
                    <a:pt x="840179" y="26936"/>
                  </a:cubicBezTo>
                  <a:cubicBezTo>
                    <a:pt x="857426" y="44184"/>
                    <a:pt x="867115" y="67576"/>
                    <a:pt x="867115" y="91967"/>
                  </a:cubicBezTo>
                  <a:lnTo>
                    <a:pt x="867115" y="91967"/>
                  </a:lnTo>
                  <a:cubicBezTo>
                    <a:pt x="867115" y="116358"/>
                    <a:pt x="857426" y="139750"/>
                    <a:pt x="840179" y="156997"/>
                  </a:cubicBezTo>
                  <a:cubicBezTo>
                    <a:pt x="822932" y="174244"/>
                    <a:pt x="799540" y="183933"/>
                    <a:pt x="775149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 vert="horz" wrap="square" lIns="0" tIns="0" rIns="0" bIns="0" anchor="t">
              <a:noAutofit/>
            </a:bodyPr>
            <a:lstStyle/>
            <a:p>
              <a:pPr marL="0" indent="0" algn="l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32" name="텍스트 상자 41"/>
            <p:cNvSpPr txBox="1">
              <a:spLocks/>
            </p:cNvSpPr>
            <p:nvPr/>
          </p:nvSpPr>
          <p:spPr>
            <a:xfrm>
              <a:off x="5405120" y="5335905"/>
              <a:ext cx="3293110" cy="843915"/>
            </a:xfrm>
            <a:prstGeom prst="rect">
              <a:avLst/>
            </a:prstGeom>
          </p:spPr>
          <p:txBody>
            <a:bodyPr vert="horz" wrap="square" lIns="50800" tIns="50800" rIns="50800" bIns="50800" anchor="ctr">
              <a:noAutofit/>
            </a:bodyPr>
            <a:lstStyle/>
            <a:p>
              <a:pPr marL="0" indent="0" algn="ctr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grpSp>
        <p:nvGrpSpPr>
          <p:cNvPr id="33" name="그룹 45"/>
          <p:cNvGrpSpPr>
            <a:grpSpLocks/>
          </p:cNvGrpSpPr>
          <p:nvPr/>
        </p:nvGrpSpPr>
        <p:grpSpPr>
          <a:xfrm>
            <a:off x="14311630" y="5492750"/>
            <a:ext cx="2312035" cy="699135"/>
            <a:chOff x="14311630" y="5492750"/>
            <a:chExt cx="2312035" cy="699135"/>
          </a:xfrm>
        </p:grpSpPr>
        <p:sp>
          <p:nvSpPr>
            <p:cNvPr id="34" name="도형 43"/>
            <p:cNvSpPr>
              <a:spLocks/>
            </p:cNvSpPr>
            <p:nvPr/>
          </p:nvSpPr>
          <p:spPr>
            <a:xfrm>
              <a:off x="14311630" y="5492750"/>
              <a:ext cx="2312035" cy="699135"/>
            </a:xfrm>
            <a:custGeom>
              <a:avLst/>
              <a:gdLst>
                <a:gd name="TX0" fmla="*/ 91967 w 608719"/>
                <a:gd name="TY0" fmla="*/ 0 h 183934"/>
                <a:gd name="TX1" fmla="*/ 516751 w 608719"/>
                <a:gd name="TY1" fmla="*/ 0 h 183934"/>
                <a:gd name="TX2" fmla="*/ 581782 w 608719"/>
                <a:gd name="TY2" fmla="*/ 26936 h 183934"/>
                <a:gd name="TX3" fmla="*/ 608718 w 608719"/>
                <a:gd name="TY3" fmla="*/ 91967 h 183934"/>
                <a:gd name="TX4" fmla="*/ 608718 w 608719"/>
                <a:gd name="TY4" fmla="*/ 91967 h 183934"/>
                <a:gd name="TX5" fmla="*/ 581782 w 608719"/>
                <a:gd name="TY5" fmla="*/ 156997 h 183934"/>
                <a:gd name="TX6" fmla="*/ 516751 w 608719"/>
                <a:gd name="TY6" fmla="*/ 183933 h 183934"/>
                <a:gd name="TX7" fmla="*/ 91967 w 608719"/>
                <a:gd name="TY7" fmla="*/ 183933 h 183934"/>
                <a:gd name="TX8" fmla="*/ 26936 w 608719"/>
                <a:gd name="TY8" fmla="*/ 156997 h 183934"/>
                <a:gd name="TX9" fmla="*/ 0 w 608719"/>
                <a:gd name="TY9" fmla="*/ 91967 h 183934"/>
                <a:gd name="TX10" fmla="*/ 0 w 608719"/>
                <a:gd name="TY10" fmla="*/ 91967 h 183934"/>
                <a:gd name="TX11" fmla="*/ 26936 w 608719"/>
                <a:gd name="TY11" fmla="*/ 26936 h 183934"/>
                <a:gd name="TX12" fmla="*/ 91967 w 608719"/>
                <a:gd name="TY12" fmla="*/ 0 h 183934"/>
              </a:gdLst>
              <a:ahLst/>
              <a:cxnLst>
                <a:cxn ang="0">
                  <a:pos x="TX0" y="TY0"/>
                </a:cxn>
                <a:cxn ang="0">
                  <a:pos x="TX1" y="TY1"/>
                </a:cxn>
                <a:cxn ang="0">
                  <a:pos x="TX2" y="TY2"/>
                </a:cxn>
                <a:cxn ang="0">
                  <a:pos x="TX3" y="TY3"/>
                </a:cxn>
                <a:cxn ang="0">
                  <a:pos x="TX4" y="TY4"/>
                </a:cxn>
                <a:cxn ang="0">
                  <a:pos x="TX5" y="TY5"/>
                </a:cxn>
                <a:cxn ang="0">
                  <a:pos x="TX6" y="TY6"/>
                </a:cxn>
                <a:cxn ang="0">
                  <a:pos x="TX7" y="TY7"/>
                </a:cxn>
                <a:cxn ang="0">
                  <a:pos x="TX8" y="TY8"/>
                </a:cxn>
                <a:cxn ang="0">
                  <a:pos x="TX9" y="TY9"/>
                </a:cxn>
                <a:cxn ang="0">
                  <a:pos x="TX10" y="TY10"/>
                </a:cxn>
                <a:cxn ang="0">
                  <a:pos x="TX11" y="TY11"/>
                </a:cxn>
                <a:cxn ang="0">
                  <a:pos x="TX12" y="TY12"/>
                </a:cxn>
              </a:cxnLst>
              <a:rect l="l" t="t" r="r" b="b"/>
              <a:pathLst>
                <a:path w="608719" h="183934">
                  <a:moveTo>
                    <a:pt x="91967" y="0"/>
                  </a:moveTo>
                  <a:lnTo>
                    <a:pt x="516751" y="0"/>
                  </a:lnTo>
                  <a:cubicBezTo>
                    <a:pt x="541143" y="0"/>
                    <a:pt x="564535" y="9689"/>
                    <a:pt x="581782" y="26936"/>
                  </a:cubicBezTo>
                  <a:cubicBezTo>
                    <a:pt x="599029" y="44184"/>
                    <a:pt x="608718" y="67576"/>
                    <a:pt x="608718" y="91967"/>
                  </a:cubicBezTo>
                  <a:lnTo>
                    <a:pt x="608718" y="91967"/>
                  </a:lnTo>
                  <a:cubicBezTo>
                    <a:pt x="608718" y="116358"/>
                    <a:pt x="599029" y="139750"/>
                    <a:pt x="581782" y="156997"/>
                  </a:cubicBezTo>
                  <a:cubicBezTo>
                    <a:pt x="564535" y="174244"/>
                    <a:pt x="541143" y="183933"/>
                    <a:pt x="51675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 vert="horz" wrap="square" lIns="0" tIns="0" rIns="0" bIns="0" anchor="t">
              <a:noAutofit/>
            </a:bodyPr>
            <a:lstStyle/>
            <a:p>
              <a:pPr marL="0" indent="0" algn="l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  <p:sp>
          <p:nvSpPr>
            <p:cNvPr id="35" name="텍스트 상자 44"/>
            <p:cNvSpPr txBox="1">
              <a:spLocks/>
            </p:cNvSpPr>
            <p:nvPr/>
          </p:nvSpPr>
          <p:spPr>
            <a:xfrm>
              <a:off x="14311630" y="5347970"/>
              <a:ext cx="2312035" cy="843915"/>
            </a:xfrm>
            <a:prstGeom prst="rect">
              <a:avLst/>
            </a:prstGeom>
          </p:spPr>
          <p:txBody>
            <a:bodyPr vert="horz" wrap="square" lIns="50800" tIns="50800" rIns="50800" bIns="50800" anchor="ctr">
              <a:noAutofit/>
            </a:bodyPr>
            <a:lstStyle/>
            <a:p>
              <a:pPr marL="0" indent="0" algn="ctr" defTabSz="914400" rtl="0" eaLnBrk="1" latinLnBrk="0" hangingPunct="1">
                <a:buFontTx/>
                <a:buNone/>
              </a:pPr>
              <a:endParaRPr lang="ko-KR" altLang="en-US" sz="1800">
                <a:latin typeface="Calibri" charset="0"/>
                <a:ea typeface="맑은 고딕" charset="0"/>
                <a:sym typeface="맑은 고딕" charset="0"/>
              </a:endParaRPr>
            </a:p>
          </p:txBody>
        </p:sp>
      </p:grpSp>
      <p:sp>
        <p:nvSpPr>
          <p:cNvPr id="36" name="텍스트 상자 46"/>
          <p:cNvSpPr txBox="1">
            <a:spLocks/>
          </p:cNvSpPr>
          <p:nvPr/>
        </p:nvSpPr>
        <p:spPr>
          <a:xfrm>
            <a:off x="1856105" y="5594350"/>
            <a:ext cx="1931035" cy="442595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sym typeface="맑은 고딕" charset="0"/>
              </a:rPr>
              <a:t>음성 명령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sym typeface="맑은 고딕" charset="0"/>
            </a:endParaRPr>
          </a:p>
        </p:txBody>
      </p:sp>
      <p:sp>
        <p:nvSpPr>
          <p:cNvPr id="37" name="텍스트 상자 47"/>
          <p:cNvSpPr txBox="1">
            <a:spLocks/>
          </p:cNvSpPr>
          <p:nvPr/>
        </p:nvSpPr>
        <p:spPr>
          <a:xfrm>
            <a:off x="10417810" y="5606415"/>
            <a:ext cx="2030095" cy="418465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sym typeface="맑은 고딕" charset="0"/>
              </a:rPr>
              <a:t>카메라 조정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sym typeface="맑은 고딕" charset="0"/>
            </a:endParaRPr>
          </a:p>
        </p:txBody>
      </p:sp>
      <p:sp>
        <p:nvSpPr>
          <p:cNvPr id="38" name="텍스트 상자 48"/>
          <p:cNvSpPr txBox="1">
            <a:spLocks/>
          </p:cNvSpPr>
          <p:nvPr/>
        </p:nvSpPr>
        <p:spPr>
          <a:xfrm>
            <a:off x="5895340" y="5594350"/>
            <a:ext cx="2312035" cy="442595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sym typeface="맑은 고딕" charset="0"/>
              </a:rPr>
              <a:t>조명 밝기 조절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sym typeface="맑은 고딕" charset="0"/>
            </a:endParaRPr>
          </a:p>
        </p:txBody>
      </p:sp>
      <p:sp>
        <p:nvSpPr>
          <p:cNvPr id="39" name="텍스트 상자 49"/>
          <p:cNvSpPr txBox="1">
            <a:spLocks/>
          </p:cNvSpPr>
          <p:nvPr/>
        </p:nvSpPr>
        <p:spPr>
          <a:xfrm>
            <a:off x="14634210" y="5630545"/>
            <a:ext cx="1784985" cy="418465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indent="0" algn="ctr" defTabSz="914400" rtl="0" eaLnBrk="1" latinLnBrk="0" hangingPunct="1">
              <a:buFontTx/>
              <a:buNone/>
            </a:pPr>
            <a:r>
              <a:rPr sz="2495" b="1">
                <a:solidFill>
                  <a:srgbClr val="FEFBEE"/>
                </a:solidFill>
                <a:latin typeface="Source Han Sans KR Bold" charset="0"/>
                <a:ea typeface="Source Han Sans KR Bold" charset="0"/>
                <a:sym typeface="맑은 고딕" charset="0"/>
              </a:rPr>
              <a:t>로봇팔 제작</a:t>
            </a:r>
            <a:endParaRPr lang="ko-KR" altLang="en-US" sz="2495" b="1">
              <a:solidFill>
                <a:srgbClr val="FEFBEE"/>
              </a:solidFill>
              <a:latin typeface="Source Han Sans KR Bold" charset="0"/>
              <a:ea typeface="Source Han Sans KR Bold" charset="0"/>
              <a:sym typeface="맑은 고딕" charset="0"/>
            </a:endParaRPr>
          </a:p>
        </p:txBody>
      </p:sp>
      <p:sp>
        <p:nvSpPr>
          <p:cNvPr id="40" name="텍스트 상자 50"/>
          <p:cNvSpPr txBox="1">
            <a:spLocks/>
          </p:cNvSpPr>
          <p:nvPr/>
        </p:nvSpPr>
        <p:spPr>
          <a:xfrm>
            <a:off x="1006475" y="6626860"/>
            <a:ext cx="3629660" cy="1895475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342900" indent="-342900" algn="l" defTabSz="914400" rtl="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음성 명령을 통한 촬영 제어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342900" indent="-342900" algn="l" defTabSz="914400" rtl="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타이머를 통한 촬영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342900" indent="-342900" algn="l" defTabSz="914400" rtl="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N장 연속 촬영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457200" indent="-457200" algn="l" defTabSz="914400" rtl="0" eaLnBrk="1" latinLnBrk="0" hangingPunct="1">
              <a:buFont typeface="Arial"/>
              <a:buChar char="•"/>
            </a:pP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342900" indent="-342900" algn="l" defTabSz="914400" rtl="0" eaLnBrk="1" latinLnBrk="0" hangingPunct="1">
              <a:buFont typeface="Arial"/>
              <a:buChar char="•"/>
            </a:pP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</p:txBody>
      </p:sp>
      <p:sp>
        <p:nvSpPr>
          <p:cNvPr id="41" name="텍스트 상자 51"/>
          <p:cNvSpPr txBox="1">
            <a:spLocks/>
          </p:cNvSpPr>
          <p:nvPr/>
        </p:nvSpPr>
        <p:spPr>
          <a:xfrm>
            <a:off x="5236845" y="6626860"/>
            <a:ext cx="3629660" cy="35433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342900" indent="-342900" algn="ctr" defTabSz="914400" rtl="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단계별 조명 밝기 제어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</p:txBody>
      </p:sp>
      <p:sp>
        <p:nvSpPr>
          <p:cNvPr id="42" name="텍스트 상자 52"/>
          <p:cNvSpPr txBox="1">
            <a:spLocks/>
          </p:cNvSpPr>
          <p:nvPr/>
        </p:nvSpPr>
        <p:spPr>
          <a:xfrm>
            <a:off x="10024110" y="6677660"/>
            <a:ext cx="3629660" cy="74168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342900" indent="-342900" algn="l" defTabSz="914400" rtl="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얼굴 화면 중앙 유지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  <a:p>
            <a:pPr marL="342900" indent="-342900" algn="l" defTabSz="914400" rtl="0" eaLnBrk="1" latinLnBrk="0" hangingPunct="1">
              <a:buFont typeface="Arial"/>
              <a:buChar char="•"/>
            </a:pP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</p:txBody>
      </p:sp>
      <p:sp>
        <p:nvSpPr>
          <p:cNvPr id="43" name="텍스트 상자 53"/>
          <p:cNvSpPr txBox="1">
            <a:spLocks/>
          </p:cNvSpPr>
          <p:nvPr/>
        </p:nvSpPr>
        <p:spPr>
          <a:xfrm>
            <a:off x="13652500" y="6638925"/>
            <a:ext cx="3629660" cy="741680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342900" indent="-342900" algn="l" defTabSz="914400" rtl="0" eaLnBrk="1" latinLnBrk="0" hangingPunct="1">
              <a:buFont typeface="Arial"/>
              <a:buChar char="•"/>
            </a:pPr>
            <a:r>
              <a:rPr sz="2000">
                <a:solidFill>
                  <a:srgbClr val="090807"/>
                </a:solidFill>
                <a:latin typeface="Source Han Sans KR" charset="0"/>
                <a:ea typeface="Source Han Sans KR" charset="0"/>
                <a:sym typeface="맑은 고딕" charset="0"/>
              </a:rPr>
              <a:t>사용자의 움직임에 맞게 회전 및 이동</a:t>
            </a:r>
            <a:endParaRPr lang="ko-KR" altLang="en-US" sz="2000">
              <a:solidFill>
                <a:srgbClr val="090807"/>
              </a:solidFill>
              <a:latin typeface="Source Han Sans KR" charset="0"/>
              <a:ea typeface="Source Han Sans KR" charset="0"/>
              <a:sym typeface="맑은 고딕" charset="0"/>
            </a:endParaRPr>
          </a:p>
        </p:txBody>
      </p:sp>
      <p:pic>
        <p:nvPicPr>
          <p:cNvPr id="44" name="그림 54" descr="C:/Users/user/AppData/Roaming/PolarisOffice/ETemp/2872_20316408/fImage237682634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560" y="2999105"/>
            <a:ext cx="2160905" cy="2160905"/>
          </a:xfrm>
          <a:prstGeom prst="rect">
            <a:avLst/>
          </a:prstGeom>
          <a:noFill/>
        </p:spPr>
      </p:pic>
      <p:pic>
        <p:nvPicPr>
          <p:cNvPr id="45" name="그림 55" descr="C:/Users/user/AppData/Roaming/PolarisOffice/ETemp/2872_20316408/fImage133622648467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105" y="3068955"/>
            <a:ext cx="2160905" cy="2160905"/>
          </a:xfrm>
          <a:prstGeom prst="rect">
            <a:avLst/>
          </a:prstGeom>
          <a:noFill/>
        </p:spPr>
      </p:pic>
      <p:pic>
        <p:nvPicPr>
          <p:cNvPr id="46" name="그림 56" descr="C:/Users/user/AppData/Roaming/PolarisOffice/ETemp/2872_20316408/fImage180492656334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810" y="3007360"/>
            <a:ext cx="2160905" cy="2160905"/>
          </a:xfrm>
          <a:prstGeom prst="rect">
            <a:avLst/>
          </a:prstGeom>
          <a:noFill/>
        </p:spPr>
      </p:pic>
      <p:pic>
        <p:nvPicPr>
          <p:cNvPr id="47" name="그림 57" descr="C:/Users/user/AppData/Roaming/PolarisOffice/ETemp/2872_20316408/fImage154002666500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7195" y="3035935"/>
            <a:ext cx="2160905" cy="2160905"/>
          </a:xfrm>
          <a:prstGeom prst="rect">
            <a:avLst/>
          </a:prstGeom>
          <a:noFill/>
        </p:spPr>
      </p:pic>
      <p:sp>
        <p:nvSpPr>
          <p:cNvPr id="48" name="도형 58"/>
          <p:cNvSpPr>
            <a:spLocks/>
          </p:cNvSpPr>
          <p:nvPr/>
        </p:nvSpPr>
        <p:spPr>
          <a:xfrm>
            <a:off x="796497" y="2831646"/>
            <a:ext cx="3983731" cy="5034374"/>
          </a:xfrm>
          <a:prstGeom prst="frame">
            <a:avLst>
              <a:gd name="adj1" fmla="val 910"/>
            </a:avLst>
          </a:prstGeom>
          <a:solidFill>
            <a:srgbClr val="FF0000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 dirty="0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>
            <a:spLocks/>
          </p:cNvSpPr>
          <p:nvPr/>
        </p:nvSpPr>
        <p:spPr>
          <a:xfrm>
            <a:off x="963295" y="478790"/>
            <a:ext cx="3267710" cy="79502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sz="2495" b="1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01 </a:t>
            </a:r>
            <a:r>
              <a:rPr lang="ko-KR" altLang="en-US" sz="2495" b="1" i="0" strike="noStrike" cap="none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상세기능</a:t>
            </a:r>
          </a:p>
        </p:txBody>
      </p:sp>
      <p:sp>
        <p:nvSpPr>
          <p:cNvPr id="15" name="TextBox 15"/>
          <p:cNvSpPr txBox="1">
            <a:spLocks/>
          </p:cNvSpPr>
          <p:nvPr/>
        </p:nvSpPr>
        <p:spPr>
          <a:xfrm>
            <a:off x="1346200" y="4756150"/>
            <a:ext cx="7837805" cy="1538883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ko-KR" altLang="en-US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사용자의 명령에 따라</a:t>
            </a:r>
            <a:endParaRPr lang="en-US" altLang="ko-KR" sz="2800" b="1" dirty="0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endParaRPr lang="en-US" altLang="ko-KR" sz="2800" b="1" dirty="0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1.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조명의 밝기를 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1~ 5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단계로 조절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.</a:t>
            </a:r>
          </a:p>
          <a:p>
            <a:pPr marL="0" indent="0" algn="l">
              <a:lnSpc>
                <a:spcPts val="3000"/>
              </a:lnSpc>
              <a:buFontTx/>
              <a:buNone/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2.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영상 촬영 시작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,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종료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,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사진 촬영을 진행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 charset="0"/>
                <a:ea typeface="Source Han Sans KR" charset="0"/>
                <a:cs typeface="Source Han Sans KR" charset="0"/>
              </a:rPr>
              <a:t>.</a:t>
            </a:r>
            <a:endParaRPr lang="ko-KR" altLang="en-US" sz="2800" b="1" dirty="0">
              <a:solidFill>
                <a:srgbClr val="090807"/>
              </a:solidFill>
              <a:latin typeface="Source Han Sans KR" charset="0"/>
              <a:ea typeface="Source Han Sans KR" charset="0"/>
              <a:cs typeface="Source Han Sans KR" charset="0"/>
            </a:endParaRPr>
          </a:p>
        </p:txBody>
      </p:sp>
      <p:grpSp>
        <p:nvGrpSpPr>
          <p:cNvPr id="31" name="그룹 68"/>
          <p:cNvGrpSpPr>
            <a:grpSpLocks/>
          </p:cNvGrpSpPr>
          <p:nvPr/>
        </p:nvGrpSpPr>
        <p:grpSpPr>
          <a:xfrm>
            <a:off x="1355725" y="2851150"/>
            <a:ext cx="5921375" cy="698500"/>
            <a:chOff x="1355725" y="2851150"/>
            <a:chExt cx="5921375" cy="698500"/>
          </a:xfrm>
        </p:grpSpPr>
        <p:grpSp>
          <p:nvGrpSpPr>
            <p:cNvPr id="11" name="Group 11"/>
            <p:cNvGrpSpPr/>
            <p:nvPr/>
          </p:nvGrpSpPr>
          <p:grpSpPr>
            <a:xfrm>
              <a:off x="1355725" y="2851150"/>
              <a:ext cx="5921375" cy="698500"/>
              <a:chOff x="1355725" y="2851150"/>
              <a:chExt cx="5921375" cy="698500"/>
            </a:xfrm>
          </p:grpSpPr>
          <p:sp>
            <p:nvSpPr>
              <p:cNvPr id="12" name="Freeform 12"/>
              <p:cNvSpPr>
                <a:spLocks/>
              </p:cNvSpPr>
              <p:nvPr/>
            </p:nvSpPr>
            <p:spPr>
              <a:xfrm>
                <a:off x="1355725" y="2851150"/>
                <a:ext cx="5922010" cy="699135"/>
              </a:xfrm>
              <a:custGeom>
                <a:avLst/>
                <a:gdLst>
                  <a:gd name="TX0" fmla="*/ 91967 w 592059"/>
                  <a:gd name="TY0" fmla="*/ 0 h 183934"/>
                  <a:gd name="TX1" fmla="*/ 500091 w 592059"/>
                  <a:gd name="TY1" fmla="*/ 0 h 183934"/>
                  <a:gd name="TX2" fmla="*/ 565122 w 592059"/>
                  <a:gd name="TY2" fmla="*/ 26936 h 183934"/>
                  <a:gd name="TX3" fmla="*/ 592058 w 592059"/>
                  <a:gd name="TY3" fmla="*/ 91967 h 183934"/>
                  <a:gd name="TX4" fmla="*/ 592058 w 592059"/>
                  <a:gd name="TY4" fmla="*/ 91967 h 183934"/>
                  <a:gd name="TX5" fmla="*/ 565122 w 592059"/>
                  <a:gd name="TY5" fmla="*/ 156997 h 183934"/>
                  <a:gd name="TX6" fmla="*/ 500091 w 592059"/>
                  <a:gd name="TY6" fmla="*/ 183933 h 183934"/>
                  <a:gd name="TX7" fmla="*/ 91967 w 592059"/>
                  <a:gd name="TY7" fmla="*/ 183933 h 183934"/>
                  <a:gd name="TX8" fmla="*/ 26936 w 592059"/>
                  <a:gd name="TY8" fmla="*/ 156997 h 183934"/>
                  <a:gd name="TX9" fmla="*/ 0 w 592059"/>
                  <a:gd name="TY9" fmla="*/ 91967 h 183934"/>
                  <a:gd name="TX10" fmla="*/ 0 w 592059"/>
                  <a:gd name="TY10" fmla="*/ 91967 h 183934"/>
                  <a:gd name="TX11" fmla="*/ 26936 w 592059"/>
                  <a:gd name="TY11" fmla="*/ 26936 h 183934"/>
                  <a:gd name="TX12" fmla="*/ 91967 w 592059"/>
                  <a:gd name="TY12" fmla="*/ 0 h 183934"/>
                </a:gdLst>
                <a:ahLst/>
                <a:cxnLst>
                  <a:cxn ang="0">
                    <a:pos x="TX0" y="TY0"/>
                  </a:cxn>
                  <a:cxn ang="0">
                    <a:pos x="TX1" y="TY1"/>
                  </a:cxn>
                  <a:cxn ang="0">
                    <a:pos x="TX2" y="TY2"/>
                  </a:cxn>
                  <a:cxn ang="0">
                    <a:pos x="TX3" y="TY3"/>
                  </a:cxn>
                  <a:cxn ang="0">
                    <a:pos x="TX4" y="TY4"/>
                  </a:cxn>
                  <a:cxn ang="0">
                    <a:pos x="TX5" y="TY5"/>
                  </a:cxn>
                  <a:cxn ang="0">
                    <a:pos x="TX6" y="TY6"/>
                  </a:cxn>
                  <a:cxn ang="0">
                    <a:pos x="TX7" y="TY7"/>
                  </a:cxn>
                  <a:cxn ang="0">
                    <a:pos x="TX8" y="TY8"/>
                  </a:cxn>
                  <a:cxn ang="0">
                    <a:pos x="TX9" y="TY9"/>
                  </a:cxn>
                  <a:cxn ang="0">
                    <a:pos x="TX10" y="TY10"/>
                  </a:cxn>
                  <a:cxn ang="0">
                    <a:pos x="TX11" y="TY11"/>
                  </a:cxn>
                  <a:cxn ang="0">
                    <a:pos x="TX12" y="TY12"/>
                  </a:cxn>
                </a:cxnLst>
                <a:rect l="l" t="t" r="r" b="b"/>
                <a:pathLst>
                  <a:path w="592059" h="183934">
                    <a:moveTo>
                      <a:pt x="91967" y="0"/>
                    </a:moveTo>
                    <a:lnTo>
                      <a:pt x="500091" y="0"/>
                    </a:lnTo>
                    <a:cubicBezTo>
                      <a:pt x="524483" y="0"/>
                      <a:pt x="547875" y="9689"/>
                      <a:pt x="565122" y="26936"/>
                    </a:cubicBezTo>
                    <a:cubicBezTo>
                      <a:pt x="582369" y="44184"/>
                      <a:pt x="592058" y="67576"/>
                      <a:pt x="592058" y="91967"/>
                    </a:cubicBezTo>
                    <a:lnTo>
                      <a:pt x="592058" y="91967"/>
                    </a:lnTo>
                    <a:cubicBezTo>
                      <a:pt x="592058" y="116358"/>
                      <a:pt x="582369" y="139750"/>
                      <a:pt x="565122" y="156997"/>
                    </a:cubicBezTo>
                    <a:cubicBezTo>
                      <a:pt x="547875" y="174244"/>
                      <a:pt x="524483" y="183933"/>
                      <a:pt x="500091" y="183933"/>
                    </a:cubicBezTo>
                    <a:lnTo>
                      <a:pt x="91967" y="183933"/>
                    </a:lnTo>
                    <a:cubicBezTo>
                      <a:pt x="67576" y="183933"/>
                      <a:pt x="44184" y="174244"/>
                      <a:pt x="26936" y="156997"/>
                    </a:cubicBezTo>
                    <a:cubicBezTo>
                      <a:pt x="9689" y="139750"/>
                      <a:pt x="0" y="116358"/>
                      <a:pt x="0" y="91967"/>
                    </a:cubicBezTo>
                    <a:lnTo>
                      <a:pt x="0" y="91967"/>
                    </a:lnTo>
                    <a:cubicBezTo>
                      <a:pt x="0" y="67576"/>
                      <a:pt x="9689" y="44184"/>
                      <a:pt x="26936" y="26936"/>
                    </a:cubicBezTo>
                    <a:cubicBezTo>
                      <a:pt x="44184" y="9689"/>
                      <a:pt x="67576" y="0"/>
                      <a:pt x="91967" y="0"/>
                    </a:cubicBezTo>
                    <a:close/>
                  </a:path>
                </a:pathLst>
              </a:custGeom>
              <a:solidFill>
                <a:srgbClr val="090807"/>
              </a:solidFill>
            </p:spPr>
            <p:txBody>
              <a:bodyPr vert="horz" wrap="square" lIns="91440" tIns="45720" rIns="91440" bIns="45720" numCol="1" anchor="t">
                <a:noAutofit/>
              </a:bodyPr>
              <a:lstStyle/>
              <a:p>
                <a:pPr marL="0" indent="0">
                  <a:buFontTx/>
                  <a:buNone/>
                </a:pPr>
                <a:endParaRPr lang="ko-KR" altLang="en-US"/>
              </a:p>
            </p:txBody>
          </p:sp>
          <p:sp>
            <p:nvSpPr>
              <p:cNvPr id="13" name="TextBox 13"/>
              <p:cNvSpPr txBox="1">
                <a:spLocks/>
              </p:cNvSpPr>
              <p:nvPr/>
            </p:nvSpPr>
            <p:spPr>
              <a:xfrm>
                <a:off x="1355725" y="2706370"/>
                <a:ext cx="5922010" cy="843915"/>
              </a:xfrm>
              <a:prstGeom prst="rect">
                <a:avLst/>
              </a:prstGeom>
            </p:spPr>
            <p:txBody>
              <a:bodyPr vert="horz" wrap="square" lIns="50800" tIns="50800" rIns="50800" bIns="50800" numCol="1" anchor="ctr">
                <a:noAutofit/>
              </a:bodyPr>
              <a:lstStyle/>
              <a:p>
                <a:pPr marL="0" indent="0" algn="ctr">
                  <a:lnSpc>
                    <a:spcPts val="3079"/>
                  </a:lnSpc>
                  <a:buFontTx/>
                  <a:buNone/>
                </a:pPr>
                <a:endParaRPr lang="ko-KR" altLang="en-US"/>
              </a:p>
            </p:txBody>
          </p:sp>
        </p:grpSp>
        <p:sp>
          <p:nvSpPr>
            <p:cNvPr id="17" name="TextBox 17"/>
            <p:cNvSpPr txBox="1">
              <a:spLocks/>
            </p:cNvSpPr>
            <p:nvPr/>
          </p:nvSpPr>
          <p:spPr>
            <a:xfrm>
              <a:off x="1659255" y="2990215"/>
              <a:ext cx="5314315" cy="421077"/>
            </a:xfrm>
            <a:prstGeom prst="rect">
              <a:avLst/>
            </a:prstGeom>
          </p:spPr>
          <p:txBody>
            <a:bodyPr vert="horz" wrap="square" lIns="0" tIns="0" rIns="0" bIns="0" numCol="1" anchor="t">
              <a:spAutoFit/>
            </a:bodyPr>
            <a:lstStyle/>
            <a:p>
              <a:pPr marL="0" indent="0" algn="ctr">
                <a:lnSpc>
                  <a:spcPts val="3499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ko-KR" altLang="en-US" sz="2495" b="1" dirty="0">
                  <a:solidFill>
                    <a:srgbClr val="FEFBEE"/>
                  </a:solidFill>
                  <a:latin typeface="Source Han Sans KR Bold" charset="0"/>
                  <a:ea typeface="Source Han Sans KR Bold" charset="0"/>
                  <a:cs typeface="Source Han Sans KR Bold" charset="0"/>
                </a:rPr>
                <a:t>음성 명령에 따른 조명</a:t>
              </a:r>
              <a:r>
                <a:rPr lang="en-US" altLang="ko-KR" sz="2495" b="1" dirty="0">
                  <a:solidFill>
                    <a:srgbClr val="FEFBEE"/>
                  </a:solidFill>
                  <a:latin typeface="Source Han Sans KR Bold" charset="0"/>
                  <a:ea typeface="Source Han Sans KR Bold" charset="0"/>
                  <a:cs typeface="Source Han Sans KR Bold" charset="0"/>
                </a:rPr>
                <a:t>, </a:t>
              </a:r>
              <a:r>
                <a:rPr lang="ko-KR" altLang="en-US" sz="2495" b="1" dirty="0">
                  <a:solidFill>
                    <a:srgbClr val="FEFBEE"/>
                  </a:solidFill>
                  <a:latin typeface="Source Han Sans KR Bold" charset="0"/>
                  <a:ea typeface="Source Han Sans KR Bold" charset="0"/>
                  <a:cs typeface="Source Han Sans KR Bold" charset="0"/>
                </a:rPr>
                <a:t>카메라 조정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595860" y="2675890"/>
            <a:ext cx="1115695" cy="3054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endParaRPr lang="en-US" sz="1800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cxnSp>
        <p:nvCxnSpPr>
          <p:cNvPr id="23" name="직선 화살표 연결선 22"/>
          <p:cNvCxnSpPr>
            <a:cxnSpLocks/>
          </p:cNvCxnSpPr>
          <p:nvPr/>
        </p:nvCxnSpPr>
        <p:spPr>
          <a:xfrm flipH="1" flipV="1">
            <a:off x="11692043" y="4756151"/>
            <a:ext cx="662347" cy="1412239"/>
          </a:xfrm>
          <a:prstGeom prst="straightConnector1">
            <a:avLst/>
          </a:prstGeom>
          <a:ln w="7620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도형 23"/>
          <p:cNvCxnSpPr/>
          <p:nvPr/>
        </p:nvCxnSpPr>
        <p:spPr>
          <a:xfrm flipV="1">
            <a:off x="13215852" y="4756150"/>
            <a:ext cx="742315" cy="1412240"/>
          </a:xfrm>
          <a:prstGeom prst="straightConnector1">
            <a:avLst/>
          </a:prstGeom>
          <a:ln w="76200" cap="flat" cmpd="sng">
            <a:solidFill>
              <a:schemeClr val="tx1">
                <a:alpha val="100000"/>
              </a:schemeClr>
            </a:solidFill>
            <a:prstDash val="soli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그림 25" descr="C:/Users/user/AppData/Roaming/PolarisOffice/ETemp/2872_20316408/fImage233542189169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9828" y="2888791"/>
            <a:ext cx="1372235" cy="1378585"/>
          </a:xfrm>
          <a:prstGeom prst="rect">
            <a:avLst/>
          </a:prstGeom>
          <a:noFill/>
        </p:spPr>
      </p:pic>
      <p:cxnSp>
        <p:nvCxnSpPr>
          <p:cNvPr id="32" name="도형 77"/>
          <p:cNvCxnSpPr/>
          <p:nvPr/>
        </p:nvCxnSpPr>
        <p:spPr>
          <a:xfrm flipV="1">
            <a:off x="860425" y="1333500"/>
            <a:ext cx="1959610" cy="1397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155C921-63D4-472F-A854-20A42CFCA1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2702" y="6823957"/>
            <a:ext cx="1722925" cy="1722925"/>
          </a:xfrm>
          <a:prstGeom prst="rect">
            <a:avLst/>
          </a:prstGeom>
        </p:spPr>
      </p:pic>
      <p:pic>
        <p:nvPicPr>
          <p:cNvPr id="9" name="그림 8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F17A08F-B41A-4042-AD8F-BABB4F9952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2735" y="2431550"/>
            <a:ext cx="1904695" cy="19046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Rect 0"/>
          <p:cNvCxnSpPr/>
          <p:nvPr/>
        </p:nvCxnSpPr>
        <p:spPr>
          <a:xfrm flipV="1">
            <a:off x="860425" y="1337945"/>
            <a:ext cx="2327275" cy="9525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 0"/>
          <p:cNvSpPr txBox="1">
            <a:spLocks/>
          </p:cNvSpPr>
          <p:nvPr/>
        </p:nvSpPr>
        <p:spPr>
          <a:xfrm>
            <a:off x="923925" y="765175"/>
            <a:ext cx="3039110" cy="42107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altLang="ko-KR" sz="2495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02 </a:t>
            </a:r>
            <a:r>
              <a:rPr lang="ko-KR" altLang="en-US" sz="2495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음성 처리 확인</a:t>
            </a:r>
          </a:p>
        </p:txBody>
      </p:sp>
      <p:cxnSp>
        <p:nvCxnSpPr>
          <p:cNvPr id="29" name="Rect 0"/>
          <p:cNvCxnSpPr>
            <a:cxnSpLocks/>
          </p:cNvCxnSpPr>
          <p:nvPr/>
        </p:nvCxnSpPr>
        <p:spPr>
          <a:xfrm flipV="1">
            <a:off x="10363200" y="4185384"/>
            <a:ext cx="5029200" cy="29072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 0"/>
          <p:cNvSpPr txBox="1">
            <a:spLocks/>
          </p:cNvSpPr>
          <p:nvPr/>
        </p:nvSpPr>
        <p:spPr>
          <a:xfrm>
            <a:off x="9782357" y="3081932"/>
            <a:ext cx="7010400" cy="78412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3~4</a:t>
            </a: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초로 늘리고</a:t>
            </a: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, </a:t>
            </a:r>
            <a:r>
              <a:rPr lang="en-US" altLang="ko-KR" sz="2495" b="1" i="0" strike="noStrike" cap="none" dirty="0" err="1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single_utterance</a:t>
            </a: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=True </a:t>
            </a: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변경</a:t>
            </a: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  </a:t>
            </a: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 </a:t>
            </a:r>
          </a:p>
        </p:txBody>
      </p:sp>
      <p:cxnSp>
        <p:nvCxnSpPr>
          <p:cNvPr id="14" name="Rect 0">
            <a:extLst>
              <a:ext uri="{FF2B5EF4-FFF2-40B4-BE49-F238E27FC236}">
                <a16:creationId xmlns:a16="http://schemas.microsoft.com/office/drawing/2014/main" id="{C7A5C5E6-79AD-4276-A89F-7B824E189F1F}"/>
              </a:ext>
            </a:extLst>
          </p:cNvPr>
          <p:cNvCxnSpPr>
            <a:cxnSpLocks/>
          </p:cNvCxnSpPr>
          <p:nvPr/>
        </p:nvCxnSpPr>
        <p:spPr>
          <a:xfrm flipV="1">
            <a:off x="2667000" y="4159886"/>
            <a:ext cx="5105400" cy="46354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 0">
            <a:extLst>
              <a:ext uri="{FF2B5EF4-FFF2-40B4-BE49-F238E27FC236}">
                <a16:creationId xmlns:a16="http://schemas.microsoft.com/office/drawing/2014/main" id="{A2ADD7C4-EE17-44BF-9907-62A5D544F87A}"/>
              </a:ext>
            </a:extLst>
          </p:cNvPr>
          <p:cNvSpPr txBox="1">
            <a:spLocks/>
          </p:cNvSpPr>
          <p:nvPr/>
        </p:nvSpPr>
        <p:spPr>
          <a:xfrm>
            <a:off x="2895600" y="3086100"/>
            <a:ext cx="5638800" cy="78412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2</a:t>
            </a: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초로 고정하여 음성을 받는 방식</a:t>
            </a:r>
          </a:p>
        </p:txBody>
      </p:sp>
      <p:sp>
        <p:nvSpPr>
          <p:cNvPr id="22" name="Rect 0">
            <a:extLst>
              <a:ext uri="{FF2B5EF4-FFF2-40B4-BE49-F238E27FC236}">
                <a16:creationId xmlns:a16="http://schemas.microsoft.com/office/drawing/2014/main" id="{1E5F5C81-91A3-4BFB-8718-39B93BFB6FCC}"/>
              </a:ext>
            </a:extLst>
          </p:cNvPr>
          <p:cNvSpPr txBox="1">
            <a:spLocks/>
          </p:cNvSpPr>
          <p:nvPr/>
        </p:nvSpPr>
        <p:spPr>
          <a:xfrm>
            <a:off x="3187700" y="4359375"/>
            <a:ext cx="4051300" cy="173727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음성이 잘리는 문제가 발생</a:t>
            </a:r>
            <a:endParaRPr lang="en-US" altLang="ko-KR" sz="2495" b="1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altLang="ko-KR" sz="2495" b="1" i="0" strike="noStrike" cap="none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  <p:sp>
        <p:nvSpPr>
          <p:cNvPr id="27" name="Rect 0">
            <a:extLst>
              <a:ext uri="{FF2B5EF4-FFF2-40B4-BE49-F238E27FC236}">
                <a16:creationId xmlns:a16="http://schemas.microsoft.com/office/drawing/2014/main" id="{00B0FD45-638E-4D66-A9BC-B7A3A495EB0A}"/>
              </a:ext>
            </a:extLst>
          </p:cNvPr>
          <p:cNvSpPr txBox="1">
            <a:spLocks/>
          </p:cNvSpPr>
          <p:nvPr/>
        </p:nvSpPr>
        <p:spPr>
          <a:xfrm>
            <a:off x="9158377" y="4581830"/>
            <a:ext cx="8505643" cy="2686248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         오히려 뒤에 말까지 한번에 인식하는 문제 발생</a:t>
            </a:r>
            <a:r>
              <a:rPr lang="en-US" altLang="ko-KR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.</a:t>
            </a:r>
          </a:p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“</a:t>
            </a:r>
            <a:r>
              <a:rPr lang="ko-KR" altLang="en-US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말이 끝났다</a:t>
            </a:r>
            <a:r>
              <a:rPr lang="en-US" altLang="ko-KR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”</a:t>
            </a:r>
            <a:r>
              <a:rPr lang="ko-KR" altLang="en-US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고 판단을 잘못하여 긴 문장은 못 가져오는 문제</a:t>
            </a:r>
            <a:endParaRPr lang="en-US" altLang="ko-KR" sz="2495" b="1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altLang="ko-KR" sz="2495" b="1" i="0" strike="noStrike" cap="none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 0"/>
          <p:cNvSpPr txBox="1">
            <a:spLocks/>
          </p:cNvSpPr>
          <p:nvPr/>
        </p:nvSpPr>
        <p:spPr>
          <a:xfrm>
            <a:off x="923925" y="765175"/>
            <a:ext cx="4410075" cy="414857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altLang="ko-KR" sz="2400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02 </a:t>
            </a:r>
            <a:r>
              <a:rPr lang="ko-KR" altLang="en-US" sz="2400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음성 처리 확인 </a:t>
            </a:r>
            <a:r>
              <a:rPr lang="en-US" altLang="ko-KR" sz="2400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(</a:t>
            </a:r>
            <a:r>
              <a:rPr lang="ko-KR" altLang="en-US" sz="2400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최종 선택</a:t>
            </a:r>
            <a:r>
              <a:rPr lang="en-US" altLang="ko-KR" sz="2400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)</a:t>
            </a:r>
            <a:endParaRPr lang="ko-KR" altLang="en-US" sz="2400" b="1" dirty="0">
              <a:solidFill>
                <a:srgbClr val="090807"/>
              </a:solidFill>
              <a:latin typeface="Source Han Sans KR Bold" charset="0"/>
              <a:ea typeface="Source Han Sans KR Bold" charset="0"/>
              <a:cs typeface="Source Han Sans KR Bold" charset="0"/>
            </a:endParaRPr>
          </a:p>
        </p:txBody>
      </p:sp>
      <p:cxnSp>
        <p:nvCxnSpPr>
          <p:cNvPr id="32" name="Rect 0"/>
          <p:cNvCxnSpPr/>
          <p:nvPr/>
        </p:nvCxnSpPr>
        <p:spPr>
          <a:xfrm flipV="1">
            <a:off x="860425" y="1325880"/>
            <a:ext cx="3094355" cy="22225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Rect 0">
            <a:extLst>
              <a:ext uri="{FF2B5EF4-FFF2-40B4-BE49-F238E27FC236}">
                <a16:creationId xmlns:a16="http://schemas.microsoft.com/office/drawing/2014/main" id="{1183B6BF-2198-4BD1-AE3A-B064FF4FA3B6}"/>
              </a:ext>
            </a:extLst>
          </p:cNvPr>
          <p:cNvCxnSpPr>
            <a:cxnSpLocks/>
          </p:cNvCxnSpPr>
          <p:nvPr/>
        </p:nvCxnSpPr>
        <p:spPr>
          <a:xfrm flipV="1">
            <a:off x="2438400" y="4209487"/>
            <a:ext cx="5105400" cy="46354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 0">
            <a:extLst>
              <a:ext uri="{FF2B5EF4-FFF2-40B4-BE49-F238E27FC236}">
                <a16:creationId xmlns:a16="http://schemas.microsoft.com/office/drawing/2014/main" id="{7294563E-A47F-4F45-9B69-30E2B47B05B3}"/>
              </a:ext>
            </a:extLst>
          </p:cNvPr>
          <p:cNvSpPr txBox="1">
            <a:spLocks/>
          </p:cNvSpPr>
          <p:nvPr/>
        </p:nvSpPr>
        <p:spPr>
          <a:xfrm>
            <a:off x="2438400" y="3135701"/>
            <a:ext cx="5638800" cy="78412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VAD(Voice Activity </a:t>
            </a:r>
            <a:r>
              <a:rPr lang="en-US" altLang="ko-KR" sz="2495" b="1" dirty="0" err="1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Detextion</a:t>
            </a:r>
            <a:r>
              <a:rPr lang="en-US" altLang="ko-KR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) </a:t>
            </a:r>
            <a:r>
              <a:rPr lang="ko-KR" altLang="en-US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사용</a:t>
            </a:r>
            <a:endParaRPr lang="ko-KR" altLang="en-US" sz="2495" b="1" i="0" strike="noStrike" cap="none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  <p:cxnSp>
        <p:nvCxnSpPr>
          <p:cNvPr id="12" name="Rect 0">
            <a:extLst>
              <a:ext uri="{FF2B5EF4-FFF2-40B4-BE49-F238E27FC236}">
                <a16:creationId xmlns:a16="http://schemas.microsoft.com/office/drawing/2014/main" id="{0ADBDBC0-519C-4D45-9D5C-5653D7443F53}"/>
              </a:ext>
            </a:extLst>
          </p:cNvPr>
          <p:cNvCxnSpPr>
            <a:cxnSpLocks/>
          </p:cNvCxnSpPr>
          <p:nvPr/>
        </p:nvCxnSpPr>
        <p:spPr>
          <a:xfrm flipV="1">
            <a:off x="10744202" y="4190449"/>
            <a:ext cx="5105400" cy="46354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 0">
            <a:extLst>
              <a:ext uri="{FF2B5EF4-FFF2-40B4-BE49-F238E27FC236}">
                <a16:creationId xmlns:a16="http://schemas.microsoft.com/office/drawing/2014/main" id="{9B53F10B-6940-404A-AE46-9CB82EC4CAD8}"/>
              </a:ext>
            </a:extLst>
          </p:cNvPr>
          <p:cNvSpPr txBox="1">
            <a:spLocks/>
          </p:cNvSpPr>
          <p:nvPr/>
        </p:nvSpPr>
        <p:spPr>
          <a:xfrm>
            <a:off x="11353800" y="3135701"/>
            <a:ext cx="4152899" cy="78412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Phrase </a:t>
            </a:r>
            <a:r>
              <a:rPr lang="en-US" altLang="ko-KR" sz="2495" b="1" i="0" strike="noStrike" cap="none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Hinting </a:t>
            </a: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기능 추가</a:t>
            </a:r>
          </a:p>
        </p:txBody>
      </p:sp>
      <p:sp>
        <p:nvSpPr>
          <p:cNvPr id="14" name="Rect 0">
            <a:extLst>
              <a:ext uri="{FF2B5EF4-FFF2-40B4-BE49-F238E27FC236}">
                <a16:creationId xmlns:a16="http://schemas.microsoft.com/office/drawing/2014/main" id="{6837ACAB-BA8D-4E85-BF4D-A7C5F15ABB97}"/>
              </a:ext>
            </a:extLst>
          </p:cNvPr>
          <p:cNvSpPr txBox="1">
            <a:spLocks/>
          </p:cNvSpPr>
          <p:nvPr/>
        </p:nvSpPr>
        <p:spPr>
          <a:xfrm>
            <a:off x="2622550" y="4353767"/>
            <a:ext cx="5270500" cy="2686248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고정된 녹음 시간을 기다릴 필요 </a:t>
            </a: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x</a:t>
            </a:r>
          </a:p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  =&gt; </a:t>
            </a:r>
            <a:r>
              <a:rPr lang="ko-KR" altLang="en-US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음성 활동 구간만 골라낸다</a:t>
            </a:r>
            <a:r>
              <a:rPr lang="en-US" altLang="ko-KR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.</a:t>
            </a:r>
            <a:endParaRPr lang="en-US" altLang="ko-KR" sz="2495" b="1" i="0" strike="noStrike" cap="none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endParaRPr lang="en-US" altLang="ko-KR" sz="2495" b="1" i="0" strike="noStrike" cap="none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  <p:sp>
        <p:nvSpPr>
          <p:cNvPr id="15" name="Rect 0">
            <a:extLst>
              <a:ext uri="{FF2B5EF4-FFF2-40B4-BE49-F238E27FC236}">
                <a16:creationId xmlns:a16="http://schemas.microsoft.com/office/drawing/2014/main" id="{87016080-6180-4D91-BF79-5724E5D71C45}"/>
              </a:ext>
            </a:extLst>
          </p:cNvPr>
          <p:cNvSpPr txBox="1">
            <a:spLocks/>
          </p:cNvSpPr>
          <p:nvPr/>
        </p:nvSpPr>
        <p:spPr>
          <a:xfrm>
            <a:off x="9848849" y="4507426"/>
            <a:ext cx="7162800" cy="173727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잡음이 섞이거나 발음이 뭉개지는 상황에서도 </a:t>
            </a:r>
            <a:endParaRPr lang="en-US" altLang="ko-KR" sz="2495" b="1" i="0" strike="noStrike" cap="none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  <a:p>
            <a:pPr mar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		</a:t>
            </a: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더욱 안정적으로 진행</a:t>
            </a:r>
            <a:endParaRPr lang="en-US" altLang="ko-KR" sz="2495" b="1" i="0" strike="noStrike" cap="none" dirty="0">
              <a:solidFill>
                <a:srgbClr val="090807"/>
              </a:solidFill>
              <a:latin typeface="Raleway Bold" charset="0"/>
              <a:ea typeface="Raleway Bold" charset="0"/>
              <a:cs typeface="Raleway Bold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D3917D-3BD1-401A-B501-789DF5E9D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7645329"/>
            <a:ext cx="3697941" cy="1033933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63418620-CD01-4726-B1AD-B99F1A74D7E0}"/>
              </a:ext>
            </a:extLst>
          </p:cNvPr>
          <p:cNvSpPr/>
          <p:nvPr/>
        </p:nvSpPr>
        <p:spPr>
          <a:xfrm>
            <a:off x="12611102" y="8061316"/>
            <a:ext cx="419098" cy="228600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7497391-9700-4910-B92C-1564467A4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2761" y="7645328"/>
            <a:ext cx="4668852" cy="1033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2"/>
          <p:cNvCxnSpPr/>
          <p:nvPr/>
        </p:nvCxnSpPr>
        <p:spPr>
          <a:xfrm flipV="1">
            <a:off x="860425" y="1325880"/>
            <a:ext cx="3093720" cy="21590"/>
          </a:xfrm>
          <a:prstGeom prst="line">
            <a:avLst/>
          </a:prstGeom>
          <a:ln w="38100" cap="flat" cmpd="sng">
            <a:solidFill>
              <a:srgbClr val="090807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3"/>
          <p:cNvSpPr txBox="1"/>
          <p:nvPr/>
        </p:nvSpPr>
        <p:spPr>
          <a:xfrm>
            <a:off x="923925" y="765175"/>
            <a:ext cx="3877310" cy="417935"/>
          </a:xfrm>
          <a:prstGeom prst="rect">
            <a:avLst/>
          </a:prstGeom>
        </p:spPr>
        <p:txBody>
          <a:bodyPr vert="horz" wrap="square" lIns="0" tIns="0" rIns="0" bIns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02 </a:t>
            </a:r>
            <a:r>
              <a:rPr lang="ko-KR" altLang="en-US" sz="2495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</a:rPr>
              <a:t>음성 처리 확인</a:t>
            </a:r>
          </a:p>
        </p:txBody>
      </p:sp>
      <p:grpSp>
        <p:nvGrpSpPr>
          <p:cNvPr id="4" name="Group 11"/>
          <p:cNvGrpSpPr/>
          <p:nvPr/>
        </p:nvGrpSpPr>
        <p:grpSpPr>
          <a:xfrm>
            <a:off x="6183260" y="2100262"/>
            <a:ext cx="5921480" cy="698372"/>
            <a:chOff x="0" y="0"/>
            <a:chExt cx="592058" cy="183933"/>
          </a:xfrm>
        </p:grpSpPr>
        <p:sp>
          <p:nvSpPr>
            <p:cNvPr id="5" name="Freeform 12"/>
            <p:cNvSpPr/>
            <p:nvPr/>
          </p:nvSpPr>
          <p:spPr>
            <a:xfrm>
              <a:off x="0" y="0"/>
              <a:ext cx="592058" cy="183933"/>
            </a:xfrm>
            <a:custGeom>
              <a:avLst/>
              <a:gdLst/>
              <a:ahLst/>
              <a:cxnLst/>
              <a:rect l="l" t="t" r="r" b="b"/>
              <a:pathLst>
                <a:path w="592058" h="183933">
                  <a:moveTo>
                    <a:pt x="91967" y="0"/>
                  </a:moveTo>
                  <a:lnTo>
                    <a:pt x="500091" y="0"/>
                  </a:lnTo>
                  <a:cubicBezTo>
                    <a:pt x="524483" y="0"/>
                    <a:pt x="547875" y="9689"/>
                    <a:pt x="565122" y="26936"/>
                  </a:cubicBezTo>
                  <a:cubicBezTo>
                    <a:pt x="582369" y="44184"/>
                    <a:pt x="592058" y="67576"/>
                    <a:pt x="592058" y="91967"/>
                  </a:cubicBezTo>
                  <a:lnTo>
                    <a:pt x="592058" y="91967"/>
                  </a:lnTo>
                  <a:cubicBezTo>
                    <a:pt x="592058" y="116358"/>
                    <a:pt x="582369" y="139750"/>
                    <a:pt x="565122" y="156997"/>
                  </a:cubicBezTo>
                  <a:cubicBezTo>
                    <a:pt x="547875" y="174244"/>
                    <a:pt x="524483" y="183933"/>
                    <a:pt x="50009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>
                <a:alpha val="100000"/>
              </a:srgbClr>
            </a:solidFill>
          </p:spPr>
          <p:txBody>
            <a:bodyPr/>
            <a:lstStyle/>
            <a:p>
              <a:pPr marL="0" lv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kumimoji="0" lang="ko-KR" altLang="en-US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  <p:sp>
          <p:nvSpPr>
            <p:cNvPr id="6" name="TextBox 13"/>
            <p:cNvSpPr txBox="1"/>
            <p:nvPr/>
          </p:nvSpPr>
          <p:spPr>
            <a:xfrm>
              <a:off x="0" y="-38100"/>
              <a:ext cx="592058" cy="22203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marL="0" lvl="0" indent="0" algn="ctr" defTabSz="914400" rtl="0" eaLnBrk="1" latinLnBrk="0" hangingPunct="1">
                <a:lnSpc>
                  <a:spcPts val="3079"/>
                </a:lnSpc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kumimoji="0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맑은 고딕"/>
              </a:endParaRPr>
            </a:p>
          </p:txBody>
        </p:sp>
      </p:grpSp>
      <p:sp>
        <p:nvSpPr>
          <p:cNvPr id="7" name="TextBox 17"/>
          <p:cNvSpPr txBox="1"/>
          <p:nvPr/>
        </p:nvSpPr>
        <p:spPr>
          <a:xfrm>
            <a:off x="6487041" y="2225611"/>
            <a:ext cx="5313916" cy="42120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3499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진행 영상</a:t>
            </a:r>
            <a:endParaRPr kumimoji="0" lang="ko-KR" altLang="en-US" sz="2499" b="1" i="0" u="none" strike="noStrike" kern="1200" cap="none" spc="0" normalizeH="0" baseline="0" dirty="0">
              <a:solidFill>
                <a:srgbClr val="FEFBEE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12" name="캡스턴10주차영상">
            <a:hlinkClick r:id="" action="ppaction://media"/>
            <a:extLst>
              <a:ext uri="{FF2B5EF4-FFF2-40B4-BE49-F238E27FC236}">
                <a16:creationId xmlns:a16="http://schemas.microsoft.com/office/drawing/2014/main" id="{73D70E6C-5B77-41EE-94A1-F69B220F80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198867" y="342900"/>
            <a:ext cx="6096000" cy="108106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875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425" y="1333500"/>
            <a:ext cx="1958975" cy="13335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1" name="TextBox 21"/>
          <p:cNvSpPr txBox="1">
            <a:spLocks/>
          </p:cNvSpPr>
          <p:nvPr/>
        </p:nvSpPr>
        <p:spPr>
          <a:xfrm>
            <a:off x="935990" y="765175"/>
            <a:ext cx="1819910" cy="417935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0" indent="0" algn="l">
              <a:lnSpc>
                <a:spcPts val="3499"/>
              </a:lnSpc>
              <a:spcBef>
                <a:spcPct val="0"/>
              </a:spcBef>
              <a:buFontTx/>
              <a:buNone/>
              <a:defRPr/>
            </a:pPr>
            <a:r>
              <a:rPr lang="en-US" sz="2495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03 </a:t>
            </a:r>
            <a:r>
              <a:rPr lang="ko-KR" altLang="en-US" sz="2495" b="1" dirty="0">
                <a:solidFill>
                  <a:srgbClr val="090807"/>
                </a:solidFill>
                <a:latin typeface="Source Han Sans KR Bold" charset="0"/>
                <a:ea typeface="Source Han Sans KR Bold" charset="0"/>
                <a:cs typeface="Source Han Sans KR Bold" charset="0"/>
              </a:rPr>
              <a:t>이후 계획</a:t>
            </a:r>
          </a:p>
        </p:txBody>
      </p:sp>
      <p:sp>
        <p:nvSpPr>
          <p:cNvPr id="18" name="Rect 0">
            <a:extLst>
              <a:ext uri="{FF2B5EF4-FFF2-40B4-BE49-F238E27FC236}">
                <a16:creationId xmlns:a16="http://schemas.microsoft.com/office/drawing/2014/main" id="{F6290DB8-9153-46D0-8C99-47FD397BE07B}"/>
              </a:ext>
            </a:extLst>
          </p:cNvPr>
          <p:cNvSpPr txBox="1">
            <a:spLocks/>
          </p:cNvSpPr>
          <p:nvPr/>
        </p:nvSpPr>
        <p:spPr>
          <a:xfrm>
            <a:off x="935990" y="2857500"/>
            <a:ext cx="12094210" cy="173727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/>
          <a:p>
            <a:pPr marL="457200" indent="-45720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ko-KR" altLang="en-US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다음주까지 받아온 음성에 대해 카메라 동작 및 조명 동작 진행</a:t>
            </a:r>
            <a:r>
              <a:rPr lang="en-US" altLang="ko-KR" sz="2495" b="1" i="0" strike="noStrike" cap="none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.</a:t>
            </a:r>
          </a:p>
          <a:p>
            <a:pPr marL="457200" indent="-45720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ko-KR" altLang="en-US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추가적으로 유용한 음성 기능이 있다면 해당 기능을 추가하는 것</a:t>
            </a:r>
            <a:r>
              <a:rPr lang="en-US" altLang="ko-KR" sz="2495" b="1" dirty="0">
                <a:solidFill>
                  <a:srgbClr val="090807"/>
                </a:solidFill>
                <a:latin typeface="Raleway Bold" charset="0"/>
                <a:ea typeface="Raleway Bold" charset="0"/>
                <a:cs typeface="Raleway Bold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 anchor="t">
        <a:spAutoFit/>
      </a:bodyPr>
      <a:lstStyle>
        <a:defPPr marL="0" lvl="0" indent="0" algn="ctr" defTabSz="914400" rtl="0" eaLnBrk="1" latinLnBrk="0" hangingPunct="1">
          <a:lnSpc>
            <a:spcPts val="3000"/>
          </a:lnSpc>
          <a:spcBef>
            <a:spcPts val="0"/>
          </a:spcBef>
          <a:spcAft>
            <a:spcPts val="0"/>
          </a:spcAft>
          <a:buNone/>
          <a:defRPr kumimoji="0" lang="en-US" altLang="ko-KR" sz="4100" b="1" i="0" u="none" strike="noStrike" kern="1200" cap="none" spc="0" normalizeH="0" baseline="0">
            <a:solidFill>
              <a:srgbClr val="090807"/>
            </a:solidFill>
            <a:latin typeface="Source Han Sans KR"/>
            <a:ea typeface="Source Han Sans KR"/>
            <a:cs typeface="Source Han Sans KR"/>
            <a:sym typeface="Source Han Sans KR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565</Words>
  <Application>Microsoft Office PowerPoint</Application>
  <PresentationFormat>사용자 지정</PresentationFormat>
  <Paragraphs>58</Paragraphs>
  <Slides>8</Slides>
  <Notes>6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Source Han Sans KR</vt:lpstr>
      <vt:lpstr>Source Han Sans KR Bold</vt:lpstr>
      <vt:lpstr>맑은 고딕</vt:lpstr>
      <vt:lpstr>Arial</vt:lpstr>
      <vt:lpstr>Calibri</vt:lpstr>
      <vt:lpstr>Raleway</vt:lpstr>
      <vt:lpstr>Raleway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옐로우 블랙 깔끔한 보고서 프레젠테이션</dc:title>
  <dc:creator>김동현</dc:creator>
  <cp:lastModifiedBy>김종원/임베디드시스템공학과</cp:lastModifiedBy>
  <cp:revision>24</cp:revision>
  <dcterms:modified xsi:type="dcterms:W3CDTF">2025-05-08T06:59:00Z</dcterms:modified>
  <cp:version>10.105.269.55310</cp:version>
</cp:coreProperties>
</file>