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1" r:id="rId11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9810" autoAdjust="0"/>
    <p:restoredTop sz="76895" autoAdjust="0"/>
  </p:normalViewPr>
  <p:slideViewPr>
    <p:cSldViewPr>
      <p:cViewPr varScale="1">
        <p:scale>
          <a:sx n="100" d="100"/>
          <a:sy n="100" d="100"/>
        </p:scale>
        <p:origin x="-164" y="32"/>
      </p:cViewPr>
      <p:guideLst>
        <p:guide orient="horz" pos="215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presProps" Target="presProps.xml"  /><Relationship Id="rId13" Type="http://schemas.openxmlformats.org/officeDocument/2006/relationships/viewProps" Target="viewProps.xml"  /><Relationship Id="rId14" Type="http://schemas.openxmlformats.org/officeDocument/2006/relationships/theme" Target="theme/theme1.xml"  /><Relationship Id="rId15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BFAF5C0C-5DDA-42C8-B806-7AF716C74F11}" type="datetime1">
              <a:rPr lang="ko-KR" altLang="en-US"/>
              <a:pPr lvl="0">
                <a:defRPr/>
              </a:pPr>
              <a:t>2025-04-16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90923A6-3A5F-4108-B2BE-257B2CED64A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/>
              <a:t>사용자의 음성 중 ‘3단계’, ‘4단계’와</a:t>
            </a: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은 명령을 감지하면,</a:t>
            </a:r>
            <a:endPara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<a:solidFill>
                <a:srgbClr val="000000"/>
              </a:solidFill>
              <a:latin typeface="맑은 고딕"/>
              <a:ea typeface="맑은 고딕"/>
              <a:cs typeface="맑은 고딕"/>
            </a:endParaRPr>
          </a:p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2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 숫자를 추출해서 3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4</a:t>
            </a:r>
            <a:r>
              <a:rPr lang="ko-KR" altLang="en-US"/>
              <a:t> 같은 단계에 해당하는 숫자만 아두이노에 전달하여 해당 값을 통해 조명을 조절할 예정입니다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“‘영상 촬영 시작’이라는 명령어를 인식하면 로그가 출력되도록 합니다</a:t>
            </a:r>
            <a:r>
              <a:rPr lang="en-US" altLang="ko-KR"/>
              <a:t>.</a:t>
            </a:r>
            <a:endParaRPr lang="en-US" altLang="ko-KR"/>
          </a:p>
          <a:p>
            <a:pPr>
              <a:defRPr/>
            </a:pPr>
            <a:r>
              <a:rPr lang="ko-KR" altLang="en-US"/>
              <a:t>추후 카메라 제어를 맡고 있는 팀원이 카메라 영상 시작</a:t>
            </a:r>
            <a:r>
              <a:rPr lang="en-US" altLang="ko-KR"/>
              <a:t>/</a:t>
            </a:r>
            <a:r>
              <a:rPr lang="ko-KR" altLang="en-US"/>
              <a:t>종료 코드를 만들면 통합하여 자연스럽게 이어지도록 만들 예정입니다</a:t>
            </a:r>
            <a:r>
              <a:rPr lang="en-US" altLang="ko-KR"/>
              <a:t>.</a:t>
            </a:r>
            <a:endParaRPr lang="en-US" altLang="ko-KR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“‘3초 뒤 영상 촬영 시작’ 같은 명령은 숫자를 추출해서</a:t>
            </a:r>
            <a:endParaRPr lang="ko-KR" altLang="en-US"/>
          </a:p>
          <a:p>
            <a:pPr>
              <a:defRPr/>
            </a:pPr>
            <a:r>
              <a:rPr lang="ko-KR" altLang="en-US"/>
              <a:t>타이머 기능을 통해 자연스러운 지연 촬영을 구현할 수 있도록 준비합니다.</a:t>
            </a:r>
            <a:endParaRPr lang="ko-KR" altLang="en-US"/>
          </a:p>
          <a:p>
            <a:pPr>
              <a:defRPr/>
            </a:pPr>
            <a:r>
              <a:rPr lang="ko-KR" altLang="en-US"/>
              <a:t>즉시 촬영 명령도 따로 인식해서 처리합니다.”</a:t>
            </a:r>
            <a:endParaRPr lang="ko-KR" altLang="en-US"/>
          </a:p>
          <a:p>
            <a:pPr>
              <a:defRPr/>
            </a:pPr>
            <a:endParaRPr lang="ko-KR" altLang="en-US"/>
          </a:p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Google STT에서는 이렇게 phrases에 자주 쓸 명령어를 미리 등록할 수 있습니다.</a:t>
            </a:r>
            <a:endParaRPr lang="ko-KR" altLang="en-US"/>
          </a:p>
          <a:p>
            <a:pPr>
              <a:defRPr/>
            </a:pPr>
            <a:r>
              <a:rPr lang="ko-KR" altLang="en-US"/>
              <a:t>이걸 통해 ‘촬염’ 같은 오인식도 줄이고, 원하는 명령을 더 정확히 인식할 수 있도록 유도합니다.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0923A6-3A5F-4108-B2BE-257B2CED64A5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Relationship Id="rId3" Type="http://schemas.openxmlformats.org/officeDocument/2006/relationships/image" Target="../media/image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7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7.xml"  /><Relationship Id="rId3" Type="http://schemas.openxmlformats.org/officeDocument/2006/relationships/image" Target="../media/image1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1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478" y="4503386"/>
            <a:ext cx="10603044" cy="127828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25.4.16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65" y="8924925"/>
            <a:ext cx="1859235" cy="714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손홍준 최민주</a:t>
            </a:r>
          </a:p>
        </p:txBody>
      </p:sp>
      <p:sp>
        <p:nvSpPr>
          <p:cNvPr id="6" name="AutoShape 6"/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34600" y="4889068"/>
            <a:ext cx="24911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AutoShape 3"/>
          <p:cNvSpPr/>
          <p:nvPr/>
        </p:nvSpPr>
        <p:spPr>
          <a:xfrm>
            <a:off x="10158018" y="5879668"/>
            <a:ext cx="24149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TextBox 9"/>
          <p:cNvSpPr txBox="1"/>
          <p:nvPr/>
        </p:nvSpPr>
        <p:spPr>
          <a:xfrm>
            <a:off x="3169946" y="4627050"/>
            <a:ext cx="2938136" cy="91860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7426"/>
              </a:lnSpc>
              <a:spcBef>
                <a:spcPct val="0"/>
              </a:spcBef>
              <a:defRPr/>
            </a:pPr>
            <a:r>
              <a:rPr lang="en-US" sz="5305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Contents</a:t>
            </a:r>
            <a:endParaRPr lang="en-US" sz="5305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912174" y="2077403"/>
            <a:ext cx="701055" cy="8467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endParaRPr lang="en-US" sz="300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991600" y="4000499"/>
            <a:ext cx="990599" cy="6810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  <a:endParaRPr lang="en-US" sz="4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  <a:endParaRPr lang="en-US" sz="4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  <a:endParaRPr lang="en-US" sz="4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04</a:t>
            </a:r>
            <a:endParaRPr lang="en-US" sz="4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9829800" y="3807980"/>
            <a:ext cx="2938136" cy="8190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상세 기능</a:t>
            </a:r>
            <a:endParaRPr kumimoji="0" lang="ko-KR" altLang="en-US" sz="3500" b="1" i="0" u="none" strike="noStrike" kern="1200" cap="none" spc="0" normalizeH="0" baseline="0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3" name="TextBox 9"/>
          <p:cNvSpPr txBox="1"/>
          <p:nvPr/>
        </p:nvSpPr>
        <p:spPr>
          <a:xfrm>
            <a:off x="10113818" y="5338548"/>
            <a:ext cx="2938136" cy="8190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3500" b="1" i="0" u="none" strike="noStrike" kern="1200" cap="none" spc="0" normalizeH="0" baseline="0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9345377" y="5894396"/>
            <a:ext cx="4038600" cy="8190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음성명령 코드</a:t>
            </a:r>
            <a:endParaRPr kumimoji="0" lang="ko-KR" altLang="en-US" sz="3500" b="1" i="0" u="none" strike="noStrike" kern="1200" cap="none" spc="0" normalizeH="0" baseline="0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9809018" y="4863174"/>
            <a:ext cx="2938136" cy="8190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구현 구조</a:t>
            </a:r>
            <a:endParaRPr kumimoji="0" lang="ko-KR" altLang="en-US" sz="3500" b="1" i="0" u="none" strike="noStrike" kern="1200" cap="none" spc="0" normalizeH="0" baseline="0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6" name="AutoShape 2"/>
          <p:cNvSpPr/>
          <p:nvPr/>
        </p:nvSpPr>
        <p:spPr>
          <a:xfrm>
            <a:off x="10070109" y="6819900"/>
            <a:ext cx="34055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TextBox 9"/>
          <p:cNvSpPr txBox="1"/>
          <p:nvPr/>
        </p:nvSpPr>
        <p:spPr>
          <a:xfrm>
            <a:off x="9753600" y="6826406"/>
            <a:ext cx="4038600" cy="81900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조명밝기조절 코드</a:t>
            </a:r>
            <a:endParaRPr kumimoji="0" lang="ko-KR" altLang="en-US" sz="3500" b="1" i="0" u="none" strike="noStrike" kern="1200" cap="none" spc="0" normalizeH="0" baseline="0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8" name="AutoShape 2"/>
          <p:cNvSpPr/>
          <p:nvPr/>
        </p:nvSpPr>
        <p:spPr>
          <a:xfrm>
            <a:off x="9982199" y="7886700"/>
            <a:ext cx="34055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4162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7"/>
          <p:cNvSpPr txBox="1"/>
          <p:nvPr/>
        </p:nvSpPr>
        <p:spPr>
          <a:xfrm>
            <a:off x="914399" y="393595"/>
            <a:ext cx="3267168" cy="794576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sz="2499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 </a:t>
            </a:r>
            <a:r>
              <a:rPr kumimoji="0" lang="ko-KR" altLang="en-US" sz="2499" b="1" i="0" u="none" strike="noStrike" kern="1200" cap="none" spc="0" normalizeH="0" baseline="0" dirty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상세기능</a:t>
            </a:r>
            <a:endParaRPr lang="en-US" sz="2499" b="1" dirty="0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51910" y="1683289"/>
            <a:ext cx="5921480" cy="698372"/>
            <a:chOff x="0" y="0"/>
            <a:chExt cx="592058" cy="183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68430" y="3467100"/>
            <a:ext cx="7035690" cy="4616648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00"/>
              </a:lnSpc>
              <a:defRPr/>
            </a:pP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조명과 사용자가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2m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내에서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60~70db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의 음성명령을 내렸을 때 조명의 밝기가 변한다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.</a:t>
            </a:r>
          </a:p>
          <a:p>
            <a:pPr lvl="0" algn="l">
              <a:lnSpc>
                <a:spcPts val="3000"/>
              </a:lnSpc>
              <a:defRPr/>
            </a:pP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60db :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보통 크기의 대화</a:t>
            </a: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70db :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시끄러운 사무실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전화벨</a:t>
            </a: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음성명령의 종류</a:t>
            </a: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2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3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4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5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</a:t>
            </a: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b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-&gt; 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사용자가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단계라고 음성명령을 주면 조명은 </a:t>
            </a:r>
            <a:r>
              <a:rPr lang="en-US" altLang="ko-KR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</a:t>
            </a:r>
            <a:r>
              <a:rPr lang="ko-KR" altLang="en-US" sz="28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단계에 해당하는 조명의 밝기를 조절</a:t>
            </a:r>
            <a:endParaRPr lang="en-US" altLang="ko-KR" sz="28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355692" y="1822738"/>
            <a:ext cx="5313916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음성명령을 통한 조명 밝기 조절</a:t>
            </a:r>
            <a:endParaRPr lang="en-US" altLang="ko-KR" sz="2499" b="1" dirty="0">
              <a:solidFill>
                <a:srgbClr val="FEFBEE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595638" y="2676050"/>
            <a:ext cx="1115616" cy="30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endParaRPr lang="en-US" sz="18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638518" y="3216070"/>
            <a:ext cx="3854860" cy="3854860"/>
          </a:xfrm>
          <a:prstGeom prst="ellipse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0DCD867B-55F0-CB1F-AC28-39D57C9BC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9679" y="3867150"/>
            <a:ext cx="2552700" cy="2552700"/>
          </a:xfrm>
          <a:prstGeom prst="rect">
            <a:avLst/>
          </a:prstGeom>
        </p:spPr>
      </p:pic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DC2CC5D-48DE-1A28-28FC-99A7F2D1049F}"/>
              </a:ext>
            </a:extLst>
          </p:cNvPr>
          <p:cNvCxnSpPr/>
          <p:nvPr/>
        </p:nvCxnSpPr>
        <p:spPr>
          <a:xfrm>
            <a:off x="11132379" y="5043256"/>
            <a:ext cx="2355021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3FFDC9-EEF5-5AE2-922C-A2AB4E58FA98}"/>
              </a:ext>
            </a:extLst>
          </p:cNvPr>
          <p:cNvSpPr txBox="1"/>
          <p:nvPr/>
        </p:nvSpPr>
        <p:spPr>
          <a:xfrm>
            <a:off x="11657959" y="5243744"/>
            <a:ext cx="1905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2m </a:t>
            </a:r>
            <a:r>
              <a:rPr lang="ko-KR" altLang="en-US" sz="2000" dirty="0">
                <a:latin typeface="HY견고딕" panose="02030600000101010101" pitchFamily="18" charset="-127"/>
                <a:ea typeface="HY견고딕" panose="02030600000101010101" pitchFamily="18" charset="-127"/>
                <a:cs typeface="ADLaM Display" panose="020F0502020204030204" pitchFamily="2" charset="0"/>
              </a:rPr>
              <a:t>이내</a:t>
            </a: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19590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1" name="TextBox 21"/>
          <p:cNvSpPr txBox="1"/>
          <p:nvPr/>
        </p:nvSpPr>
        <p:spPr>
          <a:xfrm>
            <a:off x="923832" y="765070"/>
            <a:ext cx="1819368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구현구조</a:t>
            </a:r>
            <a:endParaRPr lang="ko-KR" alt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95324" y="1908681"/>
            <a:ext cx="3376613" cy="2917595"/>
          </a:xfrm>
          <a:prstGeom prst="rect">
            <a:avLst/>
          </a:prstGeom>
        </p:spPr>
      </p:pic>
      <p:pic>
        <p:nvPicPr>
          <p:cNvPr id="30" name="그림 2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258800" y="1184544"/>
            <a:ext cx="3810000" cy="3810000"/>
          </a:xfrm>
          <a:prstGeom prst="rect">
            <a:avLst/>
          </a:prstGeom>
        </p:spPr>
      </p:pic>
      <p:cxnSp>
        <p:nvCxnSpPr>
          <p:cNvPr id="32" name="직선 연결선 31"/>
          <p:cNvCxnSpPr/>
          <p:nvPr/>
        </p:nvCxnSpPr>
        <p:spPr>
          <a:xfrm>
            <a:off x="3022324" y="4610100"/>
            <a:ext cx="1473476" cy="19812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H="1">
            <a:off x="12834937" y="4076700"/>
            <a:ext cx="2252663" cy="15726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/>
          <p:cNvSpPr/>
          <p:nvPr/>
        </p:nvSpPr>
        <p:spPr>
          <a:xfrm>
            <a:off x="5791200" y="7658100"/>
            <a:ext cx="6400800" cy="304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0631764" y="4731543"/>
            <a:ext cx="4633912" cy="46339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954982" y="8104026"/>
            <a:ext cx="5257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3600">
                <a:latin typeface="HY견고딕"/>
                <a:ea typeface="HY견고딕"/>
              </a:rPr>
              <a:t>USB </a:t>
            </a:r>
            <a:r>
              <a:rPr lang="ko-KR" altLang="en-US" sz="3600">
                <a:latin typeface="HY견고딕"/>
                <a:ea typeface="HY견고딕"/>
              </a:rPr>
              <a:t>시리얼 통신</a:t>
            </a:r>
            <a:endParaRPr lang="ko-KR" altLang="en-US" sz="3600">
              <a:latin typeface="HY견고딕"/>
              <a:ea typeface="HY견고딕"/>
            </a:endParaRPr>
          </a:p>
        </p:txBody>
      </p:sp>
      <p:cxnSp>
        <p:nvCxnSpPr>
          <p:cNvPr id="42" name="직선 화살표 연결선 41"/>
          <p:cNvCxnSpPr/>
          <p:nvPr/>
        </p:nvCxnSpPr>
        <p:spPr>
          <a:xfrm>
            <a:off x="6858000" y="7124700"/>
            <a:ext cx="3967294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200400" y="5753100"/>
            <a:ext cx="3948112" cy="299725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7148512" y="6502191"/>
            <a:ext cx="43727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2400"/>
              <a:t>문자 전송</a:t>
            </a:r>
            <a:r>
              <a:rPr lang="en-US" altLang="ko-KR" sz="2400"/>
              <a:t>(‘1’, ‘2’, ‘3’, ‘4’, ‘5’)</a:t>
            </a:r>
            <a:endParaRPr lang="ko-KR" altLang="en-US" sz="2400"/>
          </a:p>
        </p:txBody>
      </p:sp>
      <p:sp>
        <p:nvSpPr>
          <p:cNvPr id="45" name="TextBox 44"/>
          <p:cNvSpPr txBox="1"/>
          <p:nvPr/>
        </p:nvSpPr>
        <p:spPr>
          <a:xfrm>
            <a:off x="1219200" y="4985385"/>
            <a:ext cx="210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>
                <a:latin typeface="HY견고딕"/>
                <a:ea typeface="HY견고딕"/>
              </a:rPr>
              <a:t>음성 모듈</a:t>
            </a:r>
            <a:endParaRPr lang="ko-KR" altLang="en-US" sz="2400">
              <a:latin typeface="HY견고딕"/>
              <a:ea typeface="HY견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672660" y="8755052"/>
            <a:ext cx="210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>
                <a:latin typeface="HY견고딕"/>
                <a:ea typeface="HY견고딕"/>
              </a:rPr>
              <a:t>라즈베리파이</a:t>
            </a:r>
            <a:endParaRPr lang="ko-KR" altLang="en-US" sz="2400">
              <a:latin typeface="HY견고딕"/>
              <a:ea typeface="HY견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039600" y="8827073"/>
            <a:ext cx="21087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>
                <a:latin typeface="HY견고딕"/>
                <a:ea typeface="HY견고딕"/>
              </a:rPr>
              <a:t>아두이노</a:t>
            </a:r>
            <a:endParaRPr lang="ko-KR" altLang="en-US" sz="2400">
              <a:latin typeface="HY견고딕"/>
              <a:ea typeface="HY견고딕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3926632" y="4523720"/>
            <a:ext cx="2844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ko-KR" altLang="en-US" sz="2400">
                <a:latin typeface="HY견고딕"/>
                <a:ea typeface="HY견고딕"/>
              </a:rPr>
              <a:t>네오픽셀 스트립</a:t>
            </a:r>
            <a:endParaRPr lang="ko-KR" altLang="en-US" sz="2400">
              <a:latin typeface="HY견고딕"/>
              <a:ea typeface="HY견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9496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923832" y="765070"/>
            <a:ext cx="3038568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음성명령 코드</a:t>
            </a:r>
            <a:endParaRPr lang="ko-KR" alt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1" name="TextBox 26"/>
          <p:cNvSpPr txBox="1"/>
          <p:nvPr/>
        </p:nvSpPr>
        <p:spPr>
          <a:xfrm>
            <a:off x="1219200" y="2333625"/>
            <a:ext cx="9372600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altLang="ko-KR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1.</a:t>
            </a:r>
            <a:r>
              <a:rPr lang="ko-KR" altLang="en-US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음성 명령 → 조명 밝기 제어</a:t>
            </a:r>
            <a:endParaRPr lang="ko-KR" altLang="en-US" sz="30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62929" y="3486784"/>
            <a:ext cx="15027812" cy="39427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9496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923832" y="765070"/>
            <a:ext cx="3038568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음성명령 코드</a:t>
            </a:r>
            <a:endParaRPr lang="ko-KR" alt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1" name="TextBox 26"/>
          <p:cNvSpPr txBox="1"/>
          <p:nvPr/>
        </p:nvSpPr>
        <p:spPr>
          <a:xfrm>
            <a:off x="1219200" y="2333625"/>
            <a:ext cx="9372600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altLang="ko-KR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2.</a:t>
            </a:r>
            <a:r>
              <a:rPr lang="ko-KR" altLang="en-US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음성 명령 → 촬영 시작/종료</a:t>
            </a:r>
            <a:endParaRPr lang="ko-KR" altLang="en-US" sz="30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34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81100" y="3386889"/>
            <a:ext cx="9563100" cy="5033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9496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923832" y="765070"/>
            <a:ext cx="3038568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음성명령 코드</a:t>
            </a:r>
            <a:endParaRPr lang="ko-KR" alt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1" name="TextBox 26"/>
          <p:cNvSpPr txBox="1"/>
          <p:nvPr/>
        </p:nvSpPr>
        <p:spPr>
          <a:xfrm>
            <a:off x="1219200" y="2333625"/>
            <a:ext cx="9372600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altLang="ko-KR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3.</a:t>
            </a:r>
            <a:r>
              <a:rPr lang="ko-KR" altLang="en-US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타이머 촬영 명령 감지</a:t>
            </a:r>
            <a:endParaRPr lang="ko-KR" altLang="en-US" sz="30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3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3276600"/>
            <a:ext cx="12458700" cy="5676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efb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9496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  <p:txBody>
          <a:bodyPr wrap="square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6" name="TextBox 26"/>
          <p:cNvSpPr txBox="1"/>
          <p:nvPr/>
        </p:nvSpPr>
        <p:spPr>
          <a:xfrm>
            <a:off x="923832" y="765070"/>
            <a:ext cx="3038568" cy="41947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음성명령 코드</a:t>
            </a:r>
            <a:endParaRPr lang="ko-KR" alt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31" name="TextBox 26"/>
          <p:cNvSpPr txBox="1"/>
          <p:nvPr/>
        </p:nvSpPr>
        <p:spPr>
          <a:xfrm>
            <a:off x="1219200" y="2333625"/>
            <a:ext cx="9372600" cy="4476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altLang="ko-KR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4.</a:t>
            </a:r>
            <a:r>
              <a:rPr lang="ko-KR" altLang="en-US" sz="3000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정확도 향상 – Phrase Hinting</a:t>
            </a:r>
            <a:endParaRPr lang="ko-KR" altLang="en-US" sz="30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3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3022962"/>
            <a:ext cx="10972800" cy="6844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60320" y="1347066"/>
            <a:ext cx="1233818" cy="0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Box 3"/>
          <p:cNvSpPr txBox="1"/>
          <p:nvPr/>
        </p:nvSpPr>
        <p:spPr>
          <a:xfrm>
            <a:off x="923832" y="765070"/>
            <a:ext cx="3876768" cy="4194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04 </a:t>
            </a:r>
            <a:r>
              <a:rPr lang="ko-KR" altLang="en-US" sz="2499" b="1" dirty="0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조명조절 코드</a:t>
            </a:r>
            <a:endParaRPr lang="en-US" sz="2499" b="1" dirty="0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E6D8185A-73C2-AC75-F90D-D730AD800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2095500"/>
            <a:ext cx="11682983" cy="6865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61ECFAEB-F937-DD7F-7DD2-4B7FB1A7327B}"/>
              </a:ext>
            </a:extLst>
          </p:cNvPr>
          <p:cNvSpPr txBox="1"/>
          <p:nvPr/>
        </p:nvSpPr>
        <p:spPr>
          <a:xfrm>
            <a:off x="6972300" y="6667500"/>
            <a:ext cx="4343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R,</a:t>
            </a:r>
            <a:r>
              <a:rPr lang="ko-KR" altLang="en-US" sz="3200" dirty="0"/>
              <a:t>  </a:t>
            </a:r>
            <a:r>
              <a:rPr lang="en-US" altLang="ko-KR" sz="3200" dirty="0"/>
              <a:t>G,</a:t>
            </a:r>
            <a:r>
              <a:rPr lang="ko-KR" altLang="en-US" sz="3200" dirty="0"/>
              <a:t>  </a:t>
            </a:r>
            <a:r>
              <a:rPr lang="en-US" altLang="ko-KR" sz="3200" dirty="0"/>
              <a:t>B,</a:t>
            </a:r>
            <a:r>
              <a:rPr lang="ko-KR" altLang="en-US" sz="3200" dirty="0"/>
              <a:t>   </a:t>
            </a:r>
            <a:r>
              <a:rPr lang="en-US" altLang="ko-KR" sz="3200" dirty="0"/>
              <a:t>W</a:t>
            </a:r>
            <a:endParaRPr lang="ko-KR" altLang="en-US" sz="32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121</ep:Words>
  <ep:PresentationFormat>사용자 지정</ep:PresentationFormat>
  <ep:Paragraphs>38</ep:Paragraphs>
  <ep:Slides>9</ep:Slides>
  <ep:Notes>6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ep:HeadingPairs>
  <ep:TitlesOfParts>
    <vt:vector size="1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김동현</dc:creator>
  <cp:lastModifiedBy>ese</cp:lastModifiedBy>
  <dcterms:modified xsi:type="dcterms:W3CDTF">2025-04-16T07:05:25.843</dcterms:modified>
  <cp:revision>27</cp:revision>
  <dc:title>옐로우 블랙 깔끔한 보고서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