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4841" autoAdjust="0"/>
    <p:restoredTop sz="94622" autoAdjust="0"/>
  </p:normalViewPr>
  <p:slideViewPr>
    <p:cSldViewPr>
      <p:cViewPr varScale="1">
        <p:scale>
          <a:sx n="65" d="100"/>
          <a:sy n="65" d="100"/>
        </p:scale>
        <p:origin x="68" y="400"/>
      </p:cViewPr>
      <p:guideLst>
        <p:guide orient="horz" pos="2159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842478" y="4503386"/>
            <a:ext cx="10603044" cy="127828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10076"/>
              </a:lnSpc>
              <a:spcBef>
                <a:spcPct val="0"/>
              </a:spcBef>
              <a:defRPr/>
            </a:pPr>
            <a:r>
              <a:rPr lang="ko-KR" altLang="en-US" sz="7197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이상한 나라의 개발자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8118909" y="3803743"/>
            <a:ext cx="2050182" cy="711107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5599"/>
              </a:lnSpc>
              <a:spcBef>
                <a:spcPct val="0"/>
              </a:spcBef>
              <a:defRPr/>
            </a:pPr>
            <a:r>
              <a:rPr lang="en-US" altLang="ko-KR" sz="3999">
                <a:solidFill>
                  <a:srgbClr val="090807"/>
                </a:solidFill>
                <a:latin typeface="Raleway"/>
                <a:ea typeface="Raleway"/>
                <a:cs typeface="Raleway"/>
                <a:sym typeface="Raleway"/>
              </a:rPr>
              <a:t>Team.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8463794"/>
            <a:ext cx="1252686" cy="34683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en-US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20</a:t>
            </a:r>
            <a:r>
              <a:rPr lang="en-US" altLang="ko-KR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25.4.10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83965" y="8924925"/>
            <a:ext cx="1859235" cy="7143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2800"/>
              </a:lnSpc>
              <a:spcBef>
                <a:spcPct val="0"/>
              </a:spcBef>
              <a:defRPr/>
            </a:pPr>
            <a:r>
              <a:rPr lang="ko-KR" altLang="en-US" sz="200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김종원 김동현      손홍준 최민주</a:t>
            </a:r>
          </a:p>
        </p:txBody>
      </p:sp>
      <p:sp>
        <p:nvSpPr>
          <p:cNvPr id="6" name="AutoShape 6"/>
          <p:cNvSpPr/>
          <p:nvPr/>
        </p:nvSpPr>
        <p:spPr>
          <a:xfrm>
            <a:off x="3121212" y="9117013"/>
            <a:ext cx="15166788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34600" y="4548188"/>
            <a:ext cx="2491182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</p:sp>
      <p:sp>
        <p:nvSpPr>
          <p:cNvPr id="3" name="AutoShape 3"/>
          <p:cNvSpPr/>
          <p:nvPr/>
        </p:nvSpPr>
        <p:spPr>
          <a:xfrm>
            <a:off x="10158018" y="5538788"/>
            <a:ext cx="2414982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</p:sp>
      <p:sp>
        <p:nvSpPr>
          <p:cNvPr id="4" name="AutoShape 4"/>
          <p:cNvSpPr/>
          <p:nvPr/>
        </p:nvSpPr>
        <p:spPr>
          <a:xfrm>
            <a:off x="10158018" y="6529388"/>
            <a:ext cx="3329382" cy="0"/>
          </a:xfrm>
          <a:prstGeom prst="line">
            <a:avLst/>
          </a:prstGeom>
          <a:ln w="9525" cap="flat">
            <a:solidFill>
              <a:srgbClr val="090807"/>
            </a:solidFill>
            <a:prstDash val="solid"/>
            <a:headEnd w="sm" len="sm"/>
            <a:tailEnd w="sm" len="sm"/>
          </a:ln>
        </p:spPr>
      </p:sp>
      <p:sp>
        <p:nvSpPr>
          <p:cNvPr id="9" name="TextBox 9"/>
          <p:cNvSpPr txBox="1"/>
          <p:nvPr/>
        </p:nvSpPr>
        <p:spPr>
          <a:xfrm>
            <a:off x="3169946" y="4627050"/>
            <a:ext cx="2938136" cy="918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27"/>
              </a:lnSpc>
              <a:spcBef>
                <a:spcPct val="0"/>
              </a:spcBef>
            </a:pPr>
            <a:r>
              <a:rPr lang="en-US" sz="5305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Contents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12174" y="2077403"/>
            <a:ext cx="701055" cy="846772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6690"/>
              </a:lnSpc>
              <a:defRPr/>
            </a:pPr>
            <a:endParaRPr lang="en-US" sz="300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8991600" y="4000500"/>
            <a:ext cx="990599" cy="595312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6690"/>
              </a:lnSpc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01</a:t>
            </a:r>
          </a:p>
          <a:p>
            <a:pPr lvl="0" algn="l">
              <a:lnSpc>
                <a:spcPts val="6690"/>
              </a:lnSpc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02</a:t>
            </a:r>
          </a:p>
          <a:p>
            <a:pPr lvl="0" algn="l">
              <a:lnSpc>
                <a:spcPts val="6690"/>
              </a:lnSpc>
              <a:defRPr/>
            </a:pPr>
            <a:r>
              <a:rPr lang="en-US" sz="4000" b="1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03</a:t>
            </a: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  <a:p>
            <a:pPr lvl="0" algn="l">
              <a:lnSpc>
                <a:spcPts val="6690"/>
              </a:lnSpc>
              <a:defRPr/>
            </a:pPr>
            <a:endParaRPr lang="en-US" sz="3000" b="1">
              <a:solidFill>
                <a:srgbClr val="090807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12" name="TextBox 9"/>
          <p:cNvSpPr txBox="1"/>
          <p:nvPr/>
        </p:nvSpPr>
        <p:spPr>
          <a:xfrm>
            <a:off x="9829800" y="3467100"/>
            <a:ext cx="2938136" cy="9429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3500" b="1" i="0" u="none" strike="noStrike" kern="1200" cap="none" spc="0" normalizeH="0" baseline="0" dirty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제품 소개</a:t>
            </a:r>
          </a:p>
        </p:txBody>
      </p:sp>
      <p:sp>
        <p:nvSpPr>
          <p:cNvPr id="13" name="TextBox 9"/>
          <p:cNvSpPr txBox="1"/>
          <p:nvPr/>
        </p:nvSpPr>
        <p:spPr>
          <a:xfrm>
            <a:off x="9753600" y="4505325"/>
            <a:ext cx="2938136" cy="9429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3500" b="1" i="0" u="none" strike="noStrike" kern="1200" cap="none" spc="0" normalizeH="0" baseline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시나리오</a:t>
            </a:r>
          </a:p>
        </p:txBody>
      </p:sp>
      <p:sp>
        <p:nvSpPr>
          <p:cNvPr id="14" name="TextBox 9"/>
          <p:cNvSpPr txBox="1"/>
          <p:nvPr/>
        </p:nvSpPr>
        <p:spPr>
          <a:xfrm>
            <a:off x="9144000" y="5600700"/>
            <a:ext cx="5071736" cy="94297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algn="ctr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3500" b="1" i="0" u="none" strike="noStrike" kern="1200" cap="none" spc="0" normalizeH="0" baseline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1</a:t>
            </a:r>
            <a:r>
              <a:rPr kumimoji="0" lang="ko-KR" altLang="en-US" sz="3500" b="1" i="0" u="none" strike="noStrike" kern="1200" cap="none" spc="0" normalizeH="0" baseline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학기 개발계획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24162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838000" y="2268361"/>
            <a:ext cx="6630892" cy="6558953"/>
            <a:chOff x="0" y="0"/>
            <a:chExt cx="1746408" cy="17274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746408" cy="1727461"/>
            </a:xfrm>
            <a:custGeom>
              <a:avLst/>
              <a:gdLst/>
              <a:ahLst/>
              <a:cxnLst/>
              <a:rect l="l" t="t" r="r" b="b"/>
              <a:pathLst>
                <a:path w="1746408" h="1727461">
                  <a:moveTo>
                    <a:pt x="0" y="0"/>
                  </a:moveTo>
                  <a:lnTo>
                    <a:pt x="1746408" y="0"/>
                  </a:lnTo>
                  <a:lnTo>
                    <a:pt x="1746408" y="1727461"/>
                  </a:lnTo>
                  <a:lnTo>
                    <a:pt x="0" y="172746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90807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1746408" cy="1765561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079"/>
                </a:lnSpc>
                <a:defRPr/>
              </a:pPr>
              <a:endParaRPr lang="ko-KR" alt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914399" y="393595"/>
            <a:ext cx="3267168" cy="9399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marL="0" lvl="0" indent="0" defTabSz="914400" rtl="0" eaLnBrk="1" latinLnBrk="0" hangingPunct="1">
              <a:lnSpc>
                <a:spcPts val="7426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01 </a:t>
            </a:r>
            <a:r>
              <a:rPr kumimoji="0" lang="ko-KR" altLang="en-US" sz="2499" b="1" i="0" u="none" strike="noStrike" kern="1200" cap="none" spc="0" normalizeH="0" baseline="0">
                <a:solidFill>
                  <a:srgbClr val="090807"/>
                </a:solidFill>
                <a:latin typeface="Raleway Bold"/>
                <a:ea typeface="Raleway Bold"/>
                <a:cs typeface="Raleway Bold"/>
                <a:sym typeface="Raleway Bold"/>
              </a:rPr>
              <a:t>제품 소개</a:t>
            </a:r>
            <a:endParaRPr lang="en-US" sz="2499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819108" y="3080817"/>
            <a:ext cx="2247971" cy="698372"/>
            <a:chOff x="0" y="0"/>
            <a:chExt cx="592058" cy="1839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92058" cy="183933"/>
            </a:xfrm>
            <a:custGeom>
              <a:avLst/>
              <a:gdLst/>
              <a:ahLst/>
              <a:cxnLst/>
              <a:rect l="l" t="t" r="r" b="b"/>
              <a:pathLst>
                <a:path w="592058" h="183933">
                  <a:moveTo>
                    <a:pt x="91967" y="0"/>
                  </a:moveTo>
                  <a:lnTo>
                    <a:pt x="500091" y="0"/>
                  </a:lnTo>
                  <a:cubicBezTo>
                    <a:pt x="524483" y="0"/>
                    <a:pt x="547875" y="9689"/>
                    <a:pt x="565122" y="26936"/>
                  </a:cubicBezTo>
                  <a:cubicBezTo>
                    <a:pt x="582369" y="44184"/>
                    <a:pt x="592058" y="67576"/>
                    <a:pt x="592058" y="91967"/>
                  </a:cubicBezTo>
                  <a:lnTo>
                    <a:pt x="592058" y="91967"/>
                  </a:lnTo>
                  <a:cubicBezTo>
                    <a:pt x="592058" y="116358"/>
                    <a:pt x="582369" y="139750"/>
                    <a:pt x="565122" y="156997"/>
                  </a:cubicBezTo>
                  <a:cubicBezTo>
                    <a:pt x="547875" y="174244"/>
                    <a:pt x="524483" y="183933"/>
                    <a:pt x="50009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592058" cy="222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19108" y="6059987"/>
            <a:ext cx="2247971" cy="698372"/>
            <a:chOff x="0" y="0"/>
            <a:chExt cx="592058" cy="18393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92058" cy="183933"/>
            </a:xfrm>
            <a:custGeom>
              <a:avLst/>
              <a:gdLst/>
              <a:ahLst/>
              <a:cxnLst/>
              <a:rect l="l" t="t" r="r" b="b"/>
              <a:pathLst>
                <a:path w="592058" h="183933">
                  <a:moveTo>
                    <a:pt x="91967" y="0"/>
                  </a:moveTo>
                  <a:lnTo>
                    <a:pt x="500091" y="0"/>
                  </a:lnTo>
                  <a:cubicBezTo>
                    <a:pt x="524483" y="0"/>
                    <a:pt x="547875" y="9689"/>
                    <a:pt x="565122" y="26936"/>
                  </a:cubicBezTo>
                  <a:cubicBezTo>
                    <a:pt x="582369" y="44184"/>
                    <a:pt x="592058" y="67576"/>
                    <a:pt x="592058" y="91967"/>
                  </a:cubicBezTo>
                  <a:lnTo>
                    <a:pt x="592058" y="91967"/>
                  </a:lnTo>
                  <a:cubicBezTo>
                    <a:pt x="592058" y="116358"/>
                    <a:pt x="582369" y="139750"/>
                    <a:pt x="565122" y="156997"/>
                  </a:cubicBezTo>
                  <a:cubicBezTo>
                    <a:pt x="547875" y="174244"/>
                    <a:pt x="524483" y="183933"/>
                    <a:pt x="50009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592058" cy="222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819108" y="4016671"/>
            <a:ext cx="7035690" cy="37435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000"/>
              </a:lnSpc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사용자의 위치에 따라 </a:t>
            </a: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카메라와</a:t>
            </a: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조명을</a:t>
            </a: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자동</a:t>
            </a: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조절하는</a:t>
            </a: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로봇</a:t>
            </a:r>
            <a:endParaRPr lang="en-US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819108" y="7010565"/>
            <a:ext cx="7035690" cy="228583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000"/>
              </a:lnSpc>
              <a:defRPr/>
            </a:pP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영상</a:t>
            </a: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콘텐츠</a:t>
            </a: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제작의</a:t>
            </a: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증가</a:t>
            </a: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-&gt;</a:t>
            </a:r>
          </a:p>
          <a:p>
            <a:pPr lvl="0" algn="l">
              <a:lnSpc>
                <a:spcPts val="3000"/>
              </a:lnSpc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영상 콘텐츠의 퀄리티를 위한 최적의 조명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/</a:t>
            </a: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카메라 각도 중요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!</a:t>
            </a:r>
            <a:b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</a:b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ex) 1인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크리에이터</a:t>
            </a: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,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온라인</a:t>
            </a: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강의</a:t>
            </a: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촬영</a:t>
            </a:r>
            <a:endParaRPr lang="en-US" altLang="ko-KR" sz="20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3000"/>
              </a:lnSpc>
              <a:defRPr/>
            </a:pP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lvl="0" algn="l">
              <a:lnSpc>
                <a:spcPts val="3000"/>
              </a:lnSpc>
              <a:defRPr/>
            </a:pPr>
            <a:r>
              <a:rPr lang="en-US" altLang="ko-KR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최적의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촬영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환경을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유지하는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시스템이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있다면</a:t>
            </a: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?</a:t>
            </a:r>
          </a:p>
          <a:p>
            <a:pPr lvl="0" algn="l">
              <a:lnSpc>
                <a:spcPts val="3000"/>
              </a:lnSpc>
              <a:defRPr/>
            </a:pP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=&gt;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보다</a:t>
            </a: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효율적이고</a:t>
            </a: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안정적인</a:t>
            </a: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촬영</a:t>
            </a:r>
            <a:r>
              <a:rPr lang="en-US" altLang="ko-KR" sz="2000" b="1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en-US" altLang="ko-KR" sz="2000" b="1" dirty="0" err="1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가능</a:t>
            </a:r>
            <a:endParaRPr lang="en-US" altLang="ko-KR" sz="2000" b="1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952493" y="3248143"/>
            <a:ext cx="1981200" cy="4180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ko-KR" altLang="en-US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카메라</a:t>
            </a:r>
            <a:r>
              <a:rPr lang="en-US" altLang="ko-KR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+</a:t>
            </a:r>
            <a:r>
              <a:rPr lang="ko-KR" altLang="en-US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조명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314480" y="6188946"/>
            <a:ext cx="1257226" cy="44045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ko-KR" altLang="en-US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필요성</a:t>
            </a:r>
            <a:r>
              <a:rPr lang="en-US" altLang="ko-KR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?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2595638" y="2676050"/>
            <a:ext cx="1115616" cy="3052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2520"/>
              </a:lnSpc>
              <a:spcBef>
                <a:spcPct val="0"/>
              </a:spcBef>
              <a:defRPr/>
            </a:pPr>
            <a:endParaRPr lang="en-US" sz="1800" b="1">
              <a:solidFill>
                <a:srgbClr val="090807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pic>
        <p:nvPicPr>
          <p:cNvPr id="19" name="그림 1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134600" y="2552700"/>
            <a:ext cx="5987771" cy="5943600"/>
          </a:xfrm>
          <a:prstGeom prst="rect">
            <a:avLst/>
          </a:prstGeom>
        </p:spPr>
      </p:pic>
      <p:pic>
        <p:nvPicPr>
          <p:cNvPr id="20" name="그림 19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3182600" y="5753100"/>
            <a:ext cx="2514600" cy="2514600"/>
          </a:xfrm>
          <a:prstGeom prst="ellipse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19590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9364318" y="2062062"/>
            <a:ext cx="7679437" cy="7653438"/>
            <a:chOff x="0" y="0"/>
            <a:chExt cx="2022568" cy="193965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22568" cy="1939653"/>
            </a:xfrm>
            <a:custGeom>
              <a:avLst/>
              <a:gdLst/>
              <a:ahLst/>
              <a:cxnLst/>
              <a:rect l="l" t="t" r="r" b="b"/>
              <a:pathLst>
                <a:path w="2022568" h="1939653">
                  <a:moveTo>
                    <a:pt x="0" y="0"/>
                  </a:moveTo>
                  <a:lnTo>
                    <a:pt x="2022568" y="0"/>
                  </a:lnTo>
                  <a:lnTo>
                    <a:pt x="2022568" y="1939653"/>
                  </a:lnTo>
                  <a:lnTo>
                    <a:pt x="0" y="19396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90807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2022568" cy="197775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079"/>
                </a:lnSpc>
                <a:defRPr/>
              </a:pPr>
              <a:endParaRPr lang="ko-KR" altLang="en-US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244246" y="2062062"/>
            <a:ext cx="7679437" cy="7653438"/>
            <a:chOff x="0" y="0"/>
            <a:chExt cx="2022568" cy="193965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22568" cy="1939653"/>
            </a:xfrm>
            <a:custGeom>
              <a:avLst/>
              <a:gdLst/>
              <a:ahLst/>
              <a:cxnLst/>
              <a:rect l="l" t="t" r="r" b="b"/>
              <a:pathLst>
                <a:path w="2022568" h="1939653">
                  <a:moveTo>
                    <a:pt x="0" y="0"/>
                  </a:moveTo>
                  <a:lnTo>
                    <a:pt x="2022568" y="0"/>
                  </a:lnTo>
                  <a:lnTo>
                    <a:pt x="2022568" y="1939653"/>
                  </a:lnTo>
                  <a:lnTo>
                    <a:pt x="0" y="193965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90807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2022568" cy="197775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079"/>
                </a:lnSpc>
                <a:defRPr/>
              </a:pPr>
              <a:endParaRPr lang="ko-KR" altLang="en-US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887200" y="6743700"/>
            <a:ext cx="2362200" cy="948247"/>
            <a:chOff x="-637" y="-221872"/>
            <a:chExt cx="592058" cy="183933"/>
          </a:xfrm>
        </p:grpSpPr>
        <p:sp>
          <p:nvSpPr>
            <p:cNvPr id="14" name="Freeform 14"/>
            <p:cNvSpPr/>
            <p:nvPr/>
          </p:nvSpPr>
          <p:spPr>
            <a:xfrm>
              <a:off x="-637" y="-221872"/>
              <a:ext cx="592058" cy="183933"/>
            </a:xfrm>
            <a:custGeom>
              <a:avLst/>
              <a:gdLst/>
              <a:ahLst/>
              <a:cxnLst/>
              <a:rect l="l" t="t" r="r" b="b"/>
              <a:pathLst>
                <a:path w="592058" h="183933">
                  <a:moveTo>
                    <a:pt x="91967" y="0"/>
                  </a:moveTo>
                  <a:lnTo>
                    <a:pt x="500091" y="0"/>
                  </a:lnTo>
                  <a:cubicBezTo>
                    <a:pt x="524483" y="0"/>
                    <a:pt x="547875" y="9689"/>
                    <a:pt x="565122" y="26936"/>
                  </a:cubicBezTo>
                  <a:cubicBezTo>
                    <a:pt x="582369" y="44184"/>
                    <a:pt x="592058" y="67576"/>
                    <a:pt x="592058" y="91967"/>
                  </a:cubicBezTo>
                  <a:lnTo>
                    <a:pt x="592058" y="91967"/>
                  </a:lnTo>
                  <a:cubicBezTo>
                    <a:pt x="592058" y="116358"/>
                    <a:pt x="582369" y="139750"/>
                    <a:pt x="565122" y="156997"/>
                  </a:cubicBezTo>
                  <a:cubicBezTo>
                    <a:pt x="547875" y="174244"/>
                    <a:pt x="524483" y="183933"/>
                    <a:pt x="50009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67319" y="-204872"/>
              <a:ext cx="471642" cy="160552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499"/>
                </a:lnSpc>
                <a:spcBef>
                  <a:spcPct val="0"/>
                </a:spcBef>
                <a:defRPr/>
              </a:pPr>
              <a:r>
                <a:rPr lang="ko-KR" altLang="en-US" sz="2200" b="1">
                  <a:solidFill>
                    <a:srgbClr val="FEFBEE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움직이는 카메라</a:t>
              </a:r>
              <a:r>
                <a:rPr lang="en-US" altLang="ko-KR" sz="2200" b="1">
                  <a:solidFill>
                    <a:srgbClr val="FEFBEE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&amp;</a:t>
              </a:r>
              <a:r>
                <a:rPr lang="ko-KR" altLang="en-US" sz="2200" b="1">
                  <a:solidFill>
                    <a:srgbClr val="FEFBEE"/>
                  </a:solidFill>
                  <a:latin typeface="Source Han Sans KR Bold"/>
                  <a:ea typeface="Source Han Sans KR Bold"/>
                  <a:cs typeface="Source Han Sans KR Bold"/>
                  <a:sym typeface="Source Han Sans KR Bold"/>
                </a:rPr>
                <a:t>조명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962400" y="5981700"/>
            <a:ext cx="2133600" cy="609600"/>
            <a:chOff x="0" y="0"/>
            <a:chExt cx="592058" cy="18393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92058" cy="183933"/>
            </a:xfrm>
            <a:custGeom>
              <a:avLst/>
              <a:gdLst/>
              <a:ahLst/>
              <a:cxnLst/>
              <a:rect l="l" t="t" r="r" b="b"/>
              <a:pathLst>
                <a:path w="592058" h="183933">
                  <a:moveTo>
                    <a:pt x="91967" y="0"/>
                  </a:moveTo>
                  <a:lnTo>
                    <a:pt x="500091" y="0"/>
                  </a:lnTo>
                  <a:cubicBezTo>
                    <a:pt x="524483" y="0"/>
                    <a:pt x="547875" y="9689"/>
                    <a:pt x="565122" y="26936"/>
                  </a:cubicBezTo>
                  <a:cubicBezTo>
                    <a:pt x="582369" y="44184"/>
                    <a:pt x="592058" y="67576"/>
                    <a:pt x="592058" y="91967"/>
                  </a:cubicBezTo>
                  <a:lnTo>
                    <a:pt x="592058" y="91967"/>
                  </a:lnTo>
                  <a:cubicBezTo>
                    <a:pt x="592058" y="116358"/>
                    <a:pt x="582369" y="139750"/>
                    <a:pt x="565122" y="156997"/>
                  </a:cubicBezTo>
                  <a:cubicBezTo>
                    <a:pt x="547875" y="174244"/>
                    <a:pt x="524483" y="183933"/>
                    <a:pt x="50009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592058" cy="222033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3079"/>
                </a:lnSpc>
                <a:defRPr/>
              </a:pPr>
              <a:endParaRPr lang="ko-KR" altLang="en-US"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4131564" y="6077468"/>
            <a:ext cx="1701701" cy="418063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ko-KR" altLang="en-US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크리에이터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923832" y="765070"/>
            <a:ext cx="1819368" cy="4446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02 </a:t>
            </a:r>
            <a:r>
              <a:rPr lang="ko-KR" alt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시나리오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752600" y="6717573"/>
            <a:ext cx="6197667" cy="26620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457200" lvl="0" indent="-457200" algn="l">
              <a:lnSpc>
                <a:spcPts val="3000"/>
              </a:lnSpc>
              <a:buAutoNum type="arabicPeriod"/>
              <a:defRPr/>
            </a:pPr>
            <a:r>
              <a:rPr lang="ko-KR" altLang="en-US" sz="2000" dirty="0" err="1"/>
              <a:t>뷰티크리에이터</a:t>
            </a:r>
            <a:r>
              <a:rPr lang="ko-KR" altLang="en-US" sz="2000" dirty="0"/>
              <a:t> </a:t>
            </a:r>
            <a:r>
              <a:rPr lang="en-US" altLang="ko-KR" sz="2000" dirty="0"/>
              <a:t>A</a:t>
            </a:r>
            <a:r>
              <a:rPr lang="ko-KR" altLang="en-US" sz="2000" dirty="0"/>
              <a:t>씨는 </a:t>
            </a:r>
            <a:r>
              <a:rPr lang="ko-KR" altLang="en-US" sz="2000" b="1" dirty="0"/>
              <a:t>음성으로 조명 </a:t>
            </a:r>
            <a:r>
              <a:rPr lang="ko-KR" altLang="en-US" sz="2000" b="1" dirty="0" err="1"/>
              <a:t>프리셋을</a:t>
            </a:r>
            <a:r>
              <a:rPr lang="ko-KR" altLang="en-US" sz="2000" b="1" dirty="0"/>
              <a:t> 변경</a:t>
            </a:r>
            <a:r>
              <a:rPr lang="ko-KR" altLang="en-US" sz="2000" dirty="0"/>
              <a:t>해 다양한 컨셉을 손쉽게 촬영하며 </a:t>
            </a:r>
            <a:r>
              <a:rPr lang="ko-KR" altLang="en-US" sz="2000" b="1" dirty="0"/>
              <a:t>편집 없이도 </a:t>
            </a:r>
            <a:r>
              <a:rPr lang="ko-KR" altLang="en-US" sz="2000" b="1" dirty="0" err="1"/>
              <a:t>고퀄리티</a:t>
            </a:r>
            <a:r>
              <a:rPr lang="ko-KR" altLang="en-US" sz="2000" b="1" dirty="0"/>
              <a:t> 이미지</a:t>
            </a:r>
            <a:r>
              <a:rPr lang="ko-KR" altLang="en-US" sz="2000" dirty="0"/>
              <a:t>를 얻고 있습니다</a:t>
            </a:r>
            <a:r>
              <a:rPr lang="en-US" altLang="ko-KR" sz="2000" dirty="0"/>
              <a:t>.</a:t>
            </a:r>
          </a:p>
          <a:p>
            <a:pPr marL="457200" lvl="0" indent="-457200" algn="l">
              <a:lnSpc>
                <a:spcPts val="3000"/>
              </a:lnSpc>
              <a:buAutoNum type="arabicPeriod"/>
              <a:defRPr/>
            </a:pPr>
            <a:endParaRPr lang="en-US" altLang="ko-KR" sz="2000" dirty="0"/>
          </a:p>
          <a:p>
            <a:pPr marL="457200" lvl="0" indent="-457200" algn="l">
              <a:lnSpc>
                <a:spcPts val="3000"/>
              </a:lnSpc>
              <a:buAutoNum type="arabicPeriod"/>
              <a:defRPr/>
            </a:pPr>
            <a:r>
              <a:rPr lang="ko-KR" altLang="en-US" sz="2000"/>
              <a:t>크리에이터 </a:t>
            </a:r>
            <a:r>
              <a:rPr lang="en-US" altLang="ko-KR" sz="2000" dirty="0"/>
              <a:t>A</a:t>
            </a:r>
            <a:r>
              <a:rPr lang="ko-KR" altLang="en-US" sz="2000" dirty="0"/>
              <a:t>씨는 손을 쓰지 않고도 음성 명령으로 촬영을 시작하거나 연속 촬영을 진행해 </a:t>
            </a:r>
            <a:r>
              <a:rPr lang="ko-KR" altLang="en-US" sz="2000" b="1" dirty="0"/>
              <a:t>다양한 컷을 자연스럽게 </a:t>
            </a:r>
            <a:r>
              <a:rPr lang="ko-KR" altLang="en-US" sz="2000" dirty="0"/>
              <a:t>얻을 수 있습니다</a:t>
            </a:r>
            <a:r>
              <a:rPr lang="en-US" altLang="ko-KR" sz="2000" dirty="0"/>
              <a:t>.</a:t>
            </a:r>
            <a:endParaRPr lang="ko-KR" altLang="en-US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9851232" y="8047159"/>
            <a:ext cx="6197667" cy="1123193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l">
              <a:lnSpc>
                <a:spcPts val="3000"/>
              </a:lnSpc>
              <a:defRPr/>
            </a:pPr>
            <a:r>
              <a:rPr 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3.</a:t>
            </a: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 </a:t>
            </a:r>
            <a:r>
              <a:rPr lang="ko-KR" altLang="en-US" sz="2000" dirty="0" err="1"/>
              <a:t>뷰티크리에이터</a:t>
            </a:r>
            <a:r>
              <a:rPr lang="ko-KR" altLang="en-US" sz="2000" dirty="0"/>
              <a:t> </a:t>
            </a:r>
            <a:r>
              <a:rPr lang="en-US" altLang="ko-KR" sz="2000" dirty="0"/>
              <a:t>A</a:t>
            </a:r>
            <a:r>
              <a:rPr lang="ko-KR" altLang="en-US" sz="2000" dirty="0"/>
              <a:t>씨는 움직이더라도 얼굴을 자동으로 따라오는 카메라와 조명 덕분에 </a:t>
            </a:r>
            <a:r>
              <a:rPr lang="ko-KR" altLang="en-US" sz="2000" b="1" dirty="0"/>
              <a:t>항상 최적의 분위기를 유지하며 </a:t>
            </a:r>
            <a:r>
              <a:rPr lang="ko-KR" altLang="en-US" sz="2000" dirty="0"/>
              <a:t>촬영할 수 있습니다</a:t>
            </a:r>
            <a:r>
              <a:rPr lang="en-US" altLang="ko-KR" sz="2000" dirty="0"/>
              <a:t>.</a:t>
            </a:r>
            <a:endParaRPr lang="en-US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752600" y="2247900"/>
            <a:ext cx="3352800" cy="3352800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 rot="5412625">
            <a:off x="5093889" y="2343776"/>
            <a:ext cx="3496819" cy="3613380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851232" y="2400300"/>
            <a:ext cx="1959769" cy="4458016"/>
          </a:xfrm>
          <a:prstGeom prst="rect">
            <a:avLst/>
          </a:prstGeom>
        </p:spPr>
      </p:pic>
      <p:pic>
        <p:nvPicPr>
          <p:cNvPr id="29" name="그림 28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2268200" y="2408673"/>
            <a:ext cx="4267200" cy="38778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B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860320" y="1333500"/>
            <a:ext cx="2949680" cy="13566"/>
          </a:xfrm>
          <a:prstGeom prst="line">
            <a:avLst/>
          </a:prstGeom>
          <a:ln w="38100" cap="flat">
            <a:solidFill>
              <a:srgbClr val="090807"/>
            </a:solidFill>
            <a:prstDash val="solid"/>
            <a:headEnd w="sm" len="sm"/>
            <a:tailEnd w="sm" len="sm"/>
          </a:ln>
        </p:spPr>
      </p:sp>
      <p:grpSp>
        <p:nvGrpSpPr>
          <p:cNvPr id="3" name="Group 3"/>
          <p:cNvGrpSpPr/>
          <p:nvPr/>
        </p:nvGrpSpPr>
        <p:grpSpPr>
          <a:xfrm>
            <a:off x="683902" y="2223291"/>
            <a:ext cx="16920196" cy="7082634"/>
            <a:chOff x="0" y="0"/>
            <a:chExt cx="4456348" cy="186538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56348" cy="1865385"/>
            </a:xfrm>
            <a:custGeom>
              <a:avLst/>
              <a:gdLst/>
              <a:ahLst/>
              <a:cxnLst/>
              <a:rect l="l" t="t" r="r" b="b"/>
              <a:pathLst>
                <a:path w="4456348" h="1865385">
                  <a:moveTo>
                    <a:pt x="0" y="0"/>
                  </a:moveTo>
                  <a:lnTo>
                    <a:pt x="4456348" y="0"/>
                  </a:lnTo>
                  <a:lnTo>
                    <a:pt x="4456348" y="1865385"/>
                  </a:lnTo>
                  <a:lnTo>
                    <a:pt x="0" y="186538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90807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56348" cy="19034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14164" y="5492464"/>
            <a:ext cx="2813665" cy="698372"/>
            <a:chOff x="0" y="0"/>
            <a:chExt cx="741047" cy="1839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41047" cy="183933"/>
            </a:xfrm>
            <a:custGeom>
              <a:avLst/>
              <a:gdLst/>
              <a:ahLst/>
              <a:cxnLst/>
              <a:rect l="l" t="t" r="r" b="b"/>
              <a:pathLst>
                <a:path w="741047" h="183933">
                  <a:moveTo>
                    <a:pt x="91967" y="0"/>
                  </a:moveTo>
                  <a:lnTo>
                    <a:pt x="649081" y="0"/>
                  </a:lnTo>
                  <a:cubicBezTo>
                    <a:pt x="673472" y="0"/>
                    <a:pt x="696864" y="9689"/>
                    <a:pt x="714111" y="26936"/>
                  </a:cubicBezTo>
                  <a:cubicBezTo>
                    <a:pt x="731358" y="44184"/>
                    <a:pt x="741047" y="67576"/>
                    <a:pt x="741047" y="91967"/>
                  </a:cubicBezTo>
                  <a:lnTo>
                    <a:pt x="741047" y="91967"/>
                  </a:lnTo>
                  <a:cubicBezTo>
                    <a:pt x="741047" y="116358"/>
                    <a:pt x="731358" y="139750"/>
                    <a:pt x="714111" y="156997"/>
                  </a:cubicBezTo>
                  <a:cubicBezTo>
                    <a:pt x="696864" y="174244"/>
                    <a:pt x="673472" y="183933"/>
                    <a:pt x="64908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</p:sp>
        <p:sp>
          <p:nvSpPr>
            <p:cNvPr id="11" name="TextBox 11"/>
            <p:cNvSpPr txBox="1"/>
            <p:nvPr/>
          </p:nvSpPr>
          <p:spPr>
            <a:xfrm>
              <a:off x="0" y="-38100"/>
              <a:ext cx="741047" cy="222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177720" y="5492464"/>
            <a:ext cx="2509060" cy="698372"/>
            <a:chOff x="0" y="0"/>
            <a:chExt cx="660822" cy="1839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0822" cy="183933"/>
            </a:xfrm>
            <a:custGeom>
              <a:avLst/>
              <a:gdLst/>
              <a:ahLst/>
              <a:cxnLst/>
              <a:rect l="l" t="t" r="r" b="b"/>
              <a:pathLst>
                <a:path w="660822" h="183933">
                  <a:moveTo>
                    <a:pt x="91967" y="0"/>
                  </a:moveTo>
                  <a:lnTo>
                    <a:pt x="568856" y="0"/>
                  </a:lnTo>
                  <a:cubicBezTo>
                    <a:pt x="593247" y="0"/>
                    <a:pt x="616639" y="9689"/>
                    <a:pt x="633886" y="26936"/>
                  </a:cubicBezTo>
                  <a:cubicBezTo>
                    <a:pt x="651133" y="44184"/>
                    <a:pt x="660822" y="67576"/>
                    <a:pt x="660822" y="91967"/>
                  </a:cubicBezTo>
                  <a:lnTo>
                    <a:pt x="660822" y="91967"/>
                  </a:lnTo>
                  <a:cubicBezTo>
                    <a:pt x="660822" y="116358"/>
                    <a:pt x="651133" y="139750"/>
                    <a:pt x="633886" y="156997"/>
                  </a:cubicBezTo>
                  <a:cubicBezTo>
                    <a:pt x="616639" y="174244"/>
                    <a:pt x="593247" y="183933"/>
                    <a:pt x="568856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38100"/>
              <a:ext cx="660822" cy="222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404880" y="5492464"/>
            <a:ext cx="3292329" cy="698372"/>
            <a:chOff x="0" y="0"/>
            <a:chExt cx="867115" cy="18393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867115" cy="183933"/>
            </a:xfrm>
            <a:custGeom>
              <a:avLst/>
              <a:gdLst/>
              <a:ahLst/>
              <a:cxnLst/>
              <a:rect l="l" t="t" r="r" b="b"/>
              <a:pathLst>
                <a:path w="867115" h="183933">
                  <a:moveTo>
                    <a:pt x="91967" y="0"/>
                  </a:moveTo>
                  <a:lnTo>
                    <a:pt x="775149" y="0"/>
                  </a:lnTo>
                  <a:cubicBezTo>
                    <a:pt x="799540" y="0"/>
                    <a:pt x="822932" y="9689"/>
                    <a:pt x="840179" y="26936"/>
                  </a:cubicBezTo>
                  <a:cubicBezTo>
                    <a:pt x="857426" y="44184"/>
                    <a:pt x="867115" y="67576"/>
                    <a:pt x="867115" y="91967"/>
                  </a:cubicBezTo>
                  <a:lnTo>
                    <a:pt x="867115" y="91967"/>
                  </a:lnTo>
                  <a:cubicBezTo>
                    <a:pt x="867115" y="116358"/>
                    <a:pt x="857426" y="139750"/>
                    <a:pt x="840179" y="156997"/>
                  </a:cubicBezTo>
                  <a:cubicBezTo>
                    <a:pt x="822932" y="174244"/>
                    <a:pt x="799540" y="183933"/>
                    <a:pt x="775149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</p:sp>
        <p:sp>
          <p:nvSpPr>
            <p:cNvPr id="17" name="TextBox 17"/>
            <p:cNvSpPr txBox="1"/>
            <p:nvPr/>
          </p:nvSpPr>
          <p:spPr>
            <a:xfrm>
              <a:off x="0" y="-38100"/>
              <a:ext cx="867115" cy="222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4311391" y="5492464"/>
            <a:ext cx="2311226" cy="698372"/>
            <a:chOff x="0" y="0"/>
            <a:chExt cx="608718" cy="183933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608718" cy="183933"/>
            </a:xfrm>
            <a:custGeom>
              <a:avLst/>
              <a:gdLst/>
              <a:ahLst/>
              <a:cxnLst/>
              <a:rect l="l" t="t" r="r" b="b"/>
              <a:pathLst>
                <a:path w="608718" h="183933">
                  <a:moveTo>
                    <a:pt x="91967" y="0"/>
                  </a:moveTo>
                  <a:lnTo>
                    <a:pt x="516751" y="0"/>
                  </a:lnTo>
                  <a:cubicBezTo>
                    <a:pt x="541143" y="0"/>
                    <a:pt x="564535" y="9689"/>
                    <a:pt x="581782" y="26936"/>
                  </a:cubicBezTo>
                  <a:cubicBezTo>
                    <a:pt x="599029" y="44184"/>
                    <a:pt x="608718" y="67576"/>
                    <a:pt x="608718" y="91967"/>
                  </a:cubicBezTo>
                  <a:lnTo>
                    <a:pt x="608718" y="91967"/>
                  </a:lnTo>
                  <a:cubicBezTo>
                    <a:pt x="608718" y="116358"/>
                    <a:pt x="599029" y="139750"/>
                    <a:pt x="581782" y="156997"/>
                  </a:cubicBezTo>
                  <a:cubicBezTo>
                    <a:pt x="564535" y="174244"/>
                    <a:pt x="541143" y="183933"/>
                    <a:pt x="516751" y="183933"/>
                  </a:cubicBezTo>
                  <a:lnTo>
                    <a:pt x="91967" y="183933"/>
                  </a:lnTo>
                  <a:cubicBezTo>
                    <a:pt x="67576" y="183933"/>
                    <a:pt x="44184" y="174244"/>
                    <a:pt x="26936" y="156997"/>
                  </a:cubicBezTo>
                  <a:cubicBezTo>
                    <a:pt x="9689" y="139750"/>
                    <a:pt x="0" y="116358"/>
                    <a:pt x="0" y="91967"/>
                  </a:cubicBezTo>
                  <a:lnTo>
                    <a:pt x="0" y="91967"/>
                  </a:lnTo>
                  <a:cubicBezTo>
                    <a:pt x="0" y="67576"/>
                    <a:pt x="9689" y="44184"/>
                    <a:pt x="26936" y="26936"/>
                  </a:cubicBezTo>
                  <a:cubicBezTo>
                    <a:pt x="44184" y="9689"/>
                    <a:pt x="67576" y="0"/>
                    <a:pt x="91967" y="0"/>
                  </a:cubicBezTo>
                  <a:close/>
                </a:path>
              </a:pathLst>
            </a:custGeom>
            <a:solidFill>
              <a:srgbClr val="090807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608718" cy="2220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79"/>
                </a:lnSpc>
              </a:pPr>
              <a:endParaRPr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855883" y="5606700"/>
            <a:ext cx="1930226" cy="441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ko-KR" altLang="en-US" sz="2499" b="1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음성 명령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17660" y="5606700"/>
            <a:ext cx="2029180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카메라 조정</a:t>
            </a:r>
            <a:endParaRPr lang="en-US" sz="2499" b="1" dirty="0">
              <a:solidFill>
                <a:srgbClr val="FEFBEE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5895432" y="5606700"/>
            <a:ext cx="2311226" cy="441675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lvl="0" algn="ctr">
              <a:lnSpc>
                <a:spcPts val="3499"/>
              </a:lnSpc>
              <a:spcBef>
                <a:spcPct val="0"/>
              </a:spcBef>
              <a:defRPr/>
            </a:pPr>
            <a:r>
              <a:rPr lang="ko-KR" altLang="en-US" sz="2499" b="1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조명 밝기 조절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4634444" y="5630312"/>
            <a:ext cx="1784226" cy="4180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ko-KR" altLang="en-US" sz="2499" b="1" dirty="0" err="1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로봇팔</a:t>
            </a:r>
            <a:r>
              <a:rPr lang="ko-KR" altLang="en-US" sz="2499" b="1" dirty="0">
                <a:solidFill>
                  <a:srgbClr val="FEFBEE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 제작</a:t>
            </a:r>
            <a:endParaRPr lang="en-US" sz="2499" b="1" dirty="0">
              <a:solidFill>
                <a:srgbClr val="FEFBEE"/>
              </a:solidFill>
              <a:latin typeface="Source Han Sans KR Bold"/>
              <a:ea typeface="Source Han Sans KR Bold"/>
              <a:cs typeface="Source Han Sans KR Bold"/>
              <a:sym typeface="Source Han Sans KR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923832" y="765070"/>
            <a:ext cx="3038568" cy="444605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lvl="0" algn="l">
              <a:lnSpc>
                <a:spcPts val="3499"/>
              </a:lnSpc>
              <a:spcBef>
                <a:spcPct val="0"/>
              </a:spcBef>
              <a:defRPr/>
            </a:pPr>
            <a:r>
              <a:rPr 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03 </a:t>
            </a:r>
            <a:r>
              <a:rPr lang="en-US" altLang="ko-KR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1</a:t>
            </a:r>
            <a:r>
              <a:rPr lang="ko-KR" altLang="en-US" sz="2499" b="1">
                <a:solidFill>
                  <a:srgbClr val="090807"/>
                </a:solidFill>
                <a:latin typeface="Source Han Sans KR Bold"/>
                <a:ea typeface="Source Han Sans KR Bold"/>
                <a:cs typeface="Source Han Sans KR Bold"/>
                <a:sym typeface="Source Han Sans KR Bold"/>
              </a:rPr>
              <a:t>학기 개발 계획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06630" y="6639053"/>
            <a:ext cx="3628731" cy="1895134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342900" lvl="0" indent="-342900">
              <a:lnSpc>
                <a:spcPts val="3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음성 명령을 통한 촬영 제어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lvl="0" indent="-342900">
              <a:lnSpc>
                <a:spcPts val="3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타이머를 통한 촬영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lvl="0" indent="-342900">
              <a:lnSpc>
                <a:spcPts val="3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N</a:t>
            </a: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장 연속 촬영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457200" lvl="0" indent="-457200">
              <a:lnSpc>
                <a:spcPts val="3000"/>
              </a:lnSpc>
              <a:buFont typeface="Arial" panose="020B0604020202020204" pitchFamily="34" charset="0"/>
              <a:buChar char="•"/>
              <a:defRPr/>
            </a:pP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lvl="0" indent="-342900">
              <a:lnSpc>
                <a:spcPts val="3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5236680" y="6639053"/>
            <a:ext cx="3628730" cy="353751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/>
          <a:p>
            <a:pPr marL="342900" lvl="0" indent="-342900" algn="ctr">
              <a:lnSpc>
                <a:spcPts val="3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단계별 조명 밝기 제어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29" name="TextBox 29"/>
          <p:cNvSpPr txBox="1"/>
          <p:nvPr/>
        </p:nvSpPr>
        <p:spPr>
          <a:xfrm>
            <a:off x="10023908" y="6677951"/>
            <a:ext cx="3628731" cy="74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얼굴 화면 중앙 유지</a:t>
            </a:r>
            <a:endParaRPr lang="en-US" altLang="ko-KR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endParaRPr lang="en-US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sp>
        <p:nvSpPr>
          <p:cNvPr id="30" name="TextBox 30"/>
          <p:cNvSpPr txBox="1"/>
          <p:nvPr/>
        </p:nvSpPr>
        <p:spPr>
          <a:xfrm>
            <a:off x="13652639" y="6639053"/>
            <a:ext cx="3628731" cy="7409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>
              <a:lnSpc>
                <a:spcPts val="3000"/>
              </a:lnSpc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rgbClr val="090807"/>
                </a:solidFill>
                <a:latin typeface="Source Han Sans KR"/>
                <a:ea typeface="Source Han Sans KR"/>
                <a:cs typeface="Source Han Sans KR"/>
                <a:sym typeface="Source Han Sans KR"/>
              </a:rPr>
              <a:t>사용자의 움직임에 맞게 회전 및 이동</a:t>
            </a:r>
            <a:endParaRPr lang="en-US" sz="2000" dirty="0">
              <a:solidFill>
                <a:srgbClr val="090807"/>
              </a:solidFill>
              <a:latin typeface="Source Han Sans KR"/>
              <a:ea typeface="Source Han Sans KR"/>
              <a:cs typeface="Source Han Sans KR"/>
              <a:sym typeface="Source Han Sans KR"/>
            </a:endParaRPr>
          </a:p>
        </p:txBody>
      </p:sp>
      <p:pic>
        <p:nvPicPr>
          <p:cNvPr id="34" name="그림 33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89A485E-C54B-4B13-9AC5-F4DFC7465B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7864" y="3011446"/>
            <a:ext cx="2160000" cy="2160000"/>
          </a:xfrm>
          <a:prstGeom prst="rect">
            <a:avLst/>
          </a:prstGeom>
        </p:spPr>
      </p:pic>
      <p:pic>
        <p:nvPicPr>
          <p:cNvPr id="36" name="그림 35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A0346279-41BF-4820-89C0-84FA77C4C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5883" y="3080918"/>
            <a:ext cx="2160000" cy="2160000"/>
          </a:xfrm>
          <a:prstGeom prst="rect">
            <a:avLst/>
          </a:prstGeom>
        </p:spPr>
      </p:pic>
      <p:pic>
        <p:nvPicPr>
          <p:cNvPr id="38" name="그림 37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0A49638D-138A-4742-9D7F-F06E94C679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17660" y="3007585"/>
            <a:ext cx="2160000" cy="2160000"/>
          </a:xfrm>
          <a:prstGeom prst="rect">
            <a:avLst/>
          </a:prstGeom>
        </p:spPr>
      </p:pic>
      <p:pic>
        <p:nvPicPr>
          <p:cNvPr id="40" name="그림 39" descr="블랙, 어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83FF5E10-6138-4588-A696-8B24A59B0A7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7004" y="3035835"/>
            <a:ext cx="2160000" cy="216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180</Words>
  <Application>Microsoft Office PowerPoint</Application>
  <PresentationFormat>사용자 지정</PresentationFormat>
  <Paragraphs>40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Source Han Sans KR</vt:lpstr>
      <vt:lpstr>Source Han Sans KR Bold</vt:lpstr>
      <vt:lpstr>Arial</vt:lpstr>
      <vt:lpstr>Calibri</vt:lpstr>
      <vt:lpstr>Raleway</vt:lpstr>
      <vt:lpstr>Raleway 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옐로우 블랙 깔끔한 보고서 프레젠테이션</dc:title>
  <dc:creator>UserK</dc:creator>
  <cp:lastModifiedBy>김종원/임베디드시스템공학과</cp:lastModifiedBy>
  <cp:revision>16</cp:revision>
  <dcterms:created xsi:type="dcterms:W3CDTF">2006-08-16T00:00:00Z</dcterms:created>
  <dcterms:modified xsi:type="dcterms:W3CDTF">2025-04-10T07:32:18Z</dcterms:modified>
  <cp:version/>
</cp:coreProperties>
</file>