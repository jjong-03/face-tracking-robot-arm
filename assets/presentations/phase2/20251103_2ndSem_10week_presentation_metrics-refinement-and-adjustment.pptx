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notesMasterIdLst>
    <p:notesMasterId r:id="rId14"/>
  </p:notesMasterIdLst>
  <p:sldIdLst>
    <p:sldId id="303" r:id="rId2"/>
    <p:sldId id="302" r:id="rId3"/>
    <p:sldId id="305" r:id="rId4"/>
    <p:sldId id="306" r:id="rId5"/>
    <p:sldId id="304" r:id="rId6"/>
    <p:sldId id="299" r:id="rId7"/>
    <p:sldId id="301" r:id="rId8"/>
    <p:sldId id="300" r:id="rId9"/>
    <p:sldId id="310" r:id="rId10"/>
    <p:sldId id="307" r:id="rId11"/>
    <p:sldId id="308" r:id="rId12"/>
    <p:sldId id="309" r:id="rId13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전경구/임베디드시스템공학과" initials="전" lastIdx="11" clrIdx="0">
    <p:extLst>
      <p:ext uri="{19B8F6BF-5375-455C-9EA6-DF929625EA0E}">
        <p15:presenceInfo xmlns:p15="http://schemas.microsoft.com/office/powerpoint/2012/main" userId="S-1-5-21-3191000935-2019719711-3779060370-1001" providerId="AD"/>
      </p:ext>
    </p:extLst>
  </p:cmAuthor>
  <p:cmAuthor id="2" name="김종원/임베디드시스템공학과" initials="김" lastIdx="11" clrIdx="1">
    <p:extLst>
      <p:ext uri="{19B8F6BF-5375-455C-9EA6-DF929625EA0E}">
        <p15:presenceInfo xmlns:p15="http://schemas.microsoft.com/office/powerpoint/2012/main" userId="S::202201652@inu.ac.kr::a0d8948f-e4a4-41ed-b2c8-ad9479fb3a9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E940F2-8E35-4D34-A494-3883C5CD49E8}" v="35" dt="2025-10-28T07:49:07.821"/>
  </p1510:revLst>
</p1510:revInfo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376" autoAdjust="0"/>
    <p:restoredTop sz="94622" autoAdjust="0"/>
  </p:normalViewPr>
  <p:slideViewPr>
    <p:cSldViewPr>
      <p:cViewPr varScale="1">
        <p:scale>
          <a:sx n="37" d="100"/>
          <a:sy n="37" d="100"/>
        </p:scale>
        <p:origin x="48" y="1292"/>
      </p:cViewPr>
      <p:guideLst>
        <p:guide orient="horz" pos="2158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김종원/임베디드시스템공학과" userId="a0d8948f-e4a4-41ed-b2c8-ad9479fb3a95" providerId="ADAL" clId="{D2E940F2-8E35-4D34-A494-3883C5CD49E8}"/>
    <pc:docChg chg="undo custSel delSld modSld">
      <pc:chgData name="김종원/임베디드시스템공학과" userId="a0d8948f-e4a4-41ed-b2c8-ad9479fb3a95" providerId="ADAL" clId="{D2E940F2-8E35-4D34-A494-3883C5CD49E8}" dt="2025-10-28T07:49:28.624" v="551" actId="20577"/>
      <pc:docMkLst>
        <pc:docMk/>
      </pc:docMkLst>
      <pc:sldChg chg="modSp mod">
        <pc:chgData name="김종원/임베디드시스템공학과" userId="a0d8948f-e4a4-41ed-b2c8-ad9479fb3a95" providerId="ADAL" clId="{D2E940F2-8E35-4D34-A494-3883C5CD49E8}" dt="2025-10-28T07:42:44.892" v="441"/>
        <pc:sldMkLst>
          <pc:docMk/>
          <pc:sldMk cId="1788179163" sldId="299"/>
        </pc:sldMkLst>
        <pc:graphicFrameChg chg="mod modGraphic">
          <ac:chgData name="김종원/임베디드시스템공학과" userId="a0d8948f-e4a4-41ed-b2c8-ad9479fb3a95" providerId="ADAL" clId="{D2E940F2-8E35-4D34-A494-3883C5CD49E8}" dt="2025-10-28T07:42:44.892" v="441"/>
          <ac:graphicFrameMkLst>
            <pc:docMk/>
            <pc:sldMk cId="1788179163" sldId="299"/>
            <ac:graphicFrameMk id="31" creationId="{00000000-0000-0000-0000-000000000000}"/>
          </ac:graphicFrameMkLst>
        </pc:graphicFrameChg>
      </pc:sldChg>
      <pc:sldChg chg="addSp delSp modSp mod">
        <pc:chgData name="김종원/임베디드시스템공학과" userId="a0d8948f-e4a4-41ed-b2c8-ad9479fb3a95" providerId="ADAL" clId="{D2E940F2-8E35-4D34-A494-3883C5CD49E8}" dt="2025-10-28T07:37:15.779" v="174" actId="20577"/>
        <pc:sldMkLst>
          <pc:docMk/>
          <pc:sldMk cId="131347382" sldId="300"/>
        </pc:sldMkLst>
        <pc:graphicFrameChg chg="add del">
          <ac:chgData name="김종원/임베디드시스템공학과" userId="a0d8948f-e4a4-41ed-b2c8-ad9479fb3a95" providerId="ADAL" clId="{D2E940F2-8E35-4D34-A494-3883C5CD49E8}" dt="2025-10-28T07:15:31.278" v="2"/>
          <ac:graphicFrameMkLst>
            <pc:docMk/>
            <pc:sldMk cId="131347382" sldId="300"/>
            <ac:graphicFrameMk id="2" creationId="{B762B614-6330-46CC-942A-CD825D048380}"/>
          </ac:graphicFrameMkLst>
        </pc:graphicFrameChg>
        <pc:graphicFrameChg chg="mod modGraphic">
          <ac:chgData name="김종원/임베디드시스템공학과" userId="a0d8948f-e4a4-41ed-b2c8-ad9479fb3a95" providerId="ADAL" clId="{D2E940F2-8E35-4D34-A494-3883C5CD49E8}" dt="2025-10-28T07:37:15.779" v="174" actId="20577"/>
          <ac:graphicFrameMkLst>
            <pc:docMk/>
            <pc:sldMk cId="131347382" sldId="300"/>
            <ac:graphicFrameMk id="31" creationId="{00000000-0000-0000-0000-000000000000}"/>
          </ac:graphicFrameMkLst>
        </pc:graphicFrameChg>
      </pc:sldChg>
      <pc:sldChg chg="modSp mod">
        <pc:chgData name="김종원/임베디드시스템공학과" userId="a0d8948f-e4a4-41ed-b2c8-ad9479fb3a95" providerId="ADAL" clId="{D2E940F2-8E35-4D34-A494-3883C5CD49E8}" dt="2025-10-28T07:49:11.718" v="545" actId="207"/>
        <pc:sldMkLst>
          <pc:docMk/>
          <pc:sldMk cId="482584137" sldId="301"/>
        </pc:sldMkLst>
        <pc:graphicFrameChg chg="mod modGraphic">
          <ac:chgData name="김종원/임베디드시스템공학과" userId="a0d8948f-e4a4-41ed-b2c8-ad9479fb3a95" providerId="ADAL" clId="{D2E940F2-8E35-4D34-A494-3883C5CD49E8}" dt="2025-10-28T07:49:11.718" v="545" actId="207"/>
          <ac:graphicFrameMkLst>
            <pc:docMk/>
            <pc:sldMk cId="482584137" sldId="301"/>
            <ac:graphicFrameMk id="7" creationId="{D3E2BEFD-07CF-4E75-917E-044D0B0F73D5}"/>
          </ac:graphicFrameMkLst>
        </pc:graphicFrameChg>
      </pc:sldChg>
      <pc:sldChg chg="modSp mod">
        <pc:chgData name="김종원/임베디드시스템공학과" userId="a0d8948f-e4a4-41ed-b2c8-ad9479fb3a95" providerId="ADAL" clId="{D2E940F2-8E35-4D34-A494-3883C5CD49E8}" dt="2025-10-28T07:49:28.624" v="551" actId="20577"/>
        <pc:sldMkLst>
          <pc:docMk/>
          <pc:sldMk cId="3548469524" sldId="303"/>
        </pc:sldMkLst>
        <pc:spChg chg="mod">
          <ac:chgData name="김종원/임베디드시스템공학과" userId="a0d8948f-e4a4-41ed-b2c8-ad9479fb3a95" providerId="ADAL" clId="{D2E940F2-8E35-4D34-A494-3883C5CD49E8}" dt="2025-10-28T07:49:28.624" v="551" actId="20577"/>
          <ac:spMkLst>
            <pc:docMk/>
            <pc:sldMk cId="3548469524" sldId="303"/>
            <ac:spMk id="12" creationId="{C3469391-86FA-49E9-9A3C-79EE99A7CD2D}"/>
          </ac:spMkLst>
        </pc:spChg>
      </pc:sldChg>
      <pc:sldChg chg="modSp mod">
        <pc:chgData name="김종원/임베디드시스템공학과" userId="a0d8948f-e4a4-41ed-b2c8-ad9479fb3a95" providerId="ADAL" clId="{D2E940F2-8E35-4D34-A494-3883C5CD49E8}" dt="2025-10-28T07:45:27.022" v="510" actId="207"/>
        <pc:sldMkLst>
          <pc:docMk/>
          <pc:sldMk cId="2277008571" sldId="306"/>
        </pc:sldMkLst>
        <pc:graphicFrameChg chg="mod modGraphic">
          <ac:chgData name="김종원/임베디드시스템공학과" userId="a0d8948f-e4a4-41ed-b2c8-ad9479fb3a95" providerId="ADAL" clId="{D2E940F2-8E35-4D34-A494-3883C5CD49E8}" dt="2025-10-28T07:45:27.022" v="510" actId="207"/>
          <ac:graphicFrameMkLst>
            <pc:docMk/>
            <pc:sldMk cId="2277008571" sldId="306"/>
            <ac:graphicFrameMk id="5" creationId="{6A815559-1372-1F9B-D110-C02E8721FDDD}"/>
          </ac:graphicFrameMkLst>
        </pc:graphicFrameChg>
      </pc:sldChg>
      <pc:sldChg chg="modSp mod">
        <pc:chgData name="김종원/임베디드시스템공학과" userId="a0d8948f-e4a4-41ed-b2c8-ad9479fb3a95" providerId="ADAL" clId="{D2E940F2-8E35-4D34-A494-3883C5CD49E8}" dt="2025-10-28T07:47:41.719" v="539" actId="113"/>
        <pc:sldMkLst>
          <pc:docMk/>
          <pc:sldMk cId="4168048163" sldId="307"/>
        </pc:sldMkLst>
        <pc:graphicFrameChg chg="mod modGraphic">
          <ac:chgData name="김종원/임베디드시스템공학과" userId="a0d8948f-e4a4-41ed-b2c8-ad9479fb3a95" providerId="ADAL" clId="{D2E940F2-8E35-4D34-A494-3883C5CD49E8}" dt="2025-10-28T07:47:41.719" v="539" actId="113"/>
          <ac:graphicFrameMkLst>
            <pc:docMk/>
            <pc:sldMk cId="4168048163" sldId="307"/>
            <ac:graphicFrameMk id="31" creationId="{00000000-0000-0000-0000-000000000000}"/>
          </ac:graphicFrameMkLst>
        </pc:graphicFrameChg>
      </pc:sldChg>
      <pc:sldChg chg="modSp mod">
        <pc:chgData name="김종원/임베디드시스템공학과" userId="a0d8948f-e4a4-41ed-b2c8-ad9479fb3a95" providerId="ADAL" clId="{D2E940F2-8E35-4D34-A494-3883C5CD49E8}" dt="2025-10-28T07:47:48.785" v="541" actId="5793"/>
        <pc:sldMkLst>
          <pc:docMk/>
          <pc:sldMk cId="2270804016" sldId="308"/>
        </pc:sldMkLst>
        <pc:graphicFrameChg chg="mod modGraphic">
          <ac:chgData name="김종원/임베디드시스템공학과" userId="a0d8948f-e4a4-41ed-b2c8-ad9479fb3a95" providerId="ADAL" clId="{D2E940F2-8E35-4D34-A494-3883C5CD49E8}" dt="2025-10-28T07:47:48.785" v="541" actId="5793"/>
          <ac:graphicFrameMkLst>
            <pc:docMk/>
            <pc:sldMk cId="2270804016" sldId="308"/>
            <ac:graphicFrameMk id="7" creationId="{D3E2BEFD-07CF-4E75-917E-044D0B0F73D5}"/>
          </ac:graphicFrameMkLst>
        </pc:graphicFrameChg>
      </pc:sldChg>
      <pc:sldChg chg="del">
        <pc:chgData name="김종원/임베디드시스템공학과" userId="a0d8948f-e4a4-41ed-b2c8-ad9479fb3a95" providerId="ADAL" clId="{D2E940F2-8E35-4D34-A494-3883C5CD49E8}" dt="2025-10-28T07:15:49.051" v="5"/>
        <pc:sldMkLst>
          <pc:docMk/>
          <pc:sldMk cId="3556917784" sldId="308"/>
        </pc:sldMkLst>
      </pc:sldChg>
      <pc:sldChg chg="del">
        <pc:chgData name="김종원/임베디드시스템공학과" userId="a0d8948f-e4a4-41ed-b2c8-ad9479fb3a95" providerId="ADAL" clId="{D2E940F2-8E35-4D34-A494-3883C5CD49E8}" dt="2025-10-28T07:15:48.553" v="4"/>
        <pc:sldMkLst>
          <pc:docMk/>
          <pc:sldMk cId="881758183" sldId="309"/>
        </pc:sldMkLst>
      </pc:sldChg>
      <pc:sldChg chg="modSp mod">
        <pc:chgData name="김종원/임베디드시스템공학과" userId="a0d8948f-e4a4-41ed-b2c8-ad9479fb3a95" providerId="ADAL" clId="{D2E940F2-8E35-4D34-A494-3883C5CD49E8}" dt="2025-10-28T07:47:52.430" v="543" actId="5793"/>
        <pc:sldMkLst>
          <pc:docMk/>
          <pc:sldMk cId="3171421578" sldId="309"/>
        </pc:sldMkLst>
        <pc:graphicFrameChg chg="mod modGraphic">
          <ac:chgData name="김종원/임베디드시스템공학과" userId="a0d8948f-e4a4-41ed-b2c8-ad9479fb3a95" providerId="ADAL" clId="{D2E940F2-8E35-4D34-A494-3883C5CD49E8}" dt="2025-10-28T07:47:52.430" v="543" actId="5793"/>
          <ac:graphicFrameMkLst>
            <pc:docMk/>
            <pc:sldMk cId="3171421578" sldId="309"/>
            <ac:graphicFrameMk id="31" creationId="{00000000-0000-0000-0000-000000000000}"/>
          </ac:graphicFrameMkLst>
        </pc:graphicFrameChg>
      </pc:sldChg>
      <pc:sldChg chg="modSp mod">
        <pc:chgData name="김종원/임베디드시스템공학과" userId="a0d8948f-e4a4-41ed-b2c8-ad9479fb3a95" providerId="ADAL" clId="{D2E940F2-8E35-4D34-A494-3883C5CD49E8}" dt="2025-10-28T07:19:20.050" v="87" actId="20577"/>
        <pc:sldMkLst>
          <pc:docMk/>
          <pc:sldMk cId="3918563748" sldId="310"/>
        </pc:sldMkLst>
        <pc:spChg chg="mod">
          <ac:chgData name="김종원/임베디드시스템공학과" userId="a0d8948f-e4a4-41ed-b2c8-ad9479fb3a95" providerId="ADAL" clId="{D2E940F2-8E35-4D34-A494-3883C5CD49E8}" dt="2025-10-28T07:19:20.050" v="87" actId="20577"/>
          <ac:spMkLst>
            <pc:docMk/>
            <pc:sldMk cId="3918563748" sldId="310"/>
            <ac:spMk id="10" creationId="{1A127902-3336-C1F2-1C07-F2E5BABB5CD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A4577D78-677B-4388-9014-A7D00F856CBB}" type="datetime1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454243C2-348B-4BA0-9C72-769A9D1F5A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880925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50FC5-42AB-EB76-4D46-225DC5C2D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9797D98-8511-D0FE-3771-10179B8C3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E1CA90D-FA11-D6E6-E325-64C1B49B0C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A3C883-12E3-7CB2-97C2-4994286342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0923A6-3A5F-4108-B2BE-257B2CED64A5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62212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50FC5-42AB-EB76-4D46-225DC5C2D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9797D98-8511-D0FE-3771-10179B8C3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E1CA90D-FA11-D6E6-E325-64C1B49B0C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A3C883-12E3-7CB2-97C2-4994286342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0923A6-3A5F-4108-B2BE-257B2CED64A5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98370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69E80-0A14-BA2E-A10E-B0AA9ECD9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26174A2-B70F-4ED9-9BCA-F49444BCB0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45A0C14-A521-42E8-8524-6E2598CFCD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3F5BFF-F29C-13F0-6BDF-E08AD46822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0923A6-3A5F-4108-B2BE-257B2CED64A5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3244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8BA19-EE38-FC1B-642A-C388EA8D0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AA12CAB-087A-F515-486D-658EF50DC7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727A7CD-7ACB-68C1-BD0E-AF0A7109E0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8851C1-0320-AE48-D354-39E987A298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0923A6-3A5F-4108-B2BE-257B2CED64A5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7522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3D71C-22A2-DDC3-8B4F-61408C2A4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FFA940C-45B8-9C73-1916-23DDF7F2F8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49712A3-C9FF-9D6A-4B72-767386BAFB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325D12-2579-1F48-6C88-DE04D16E16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0923A6-3A5F-4108-B2BE-257B2CED64A5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22534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50FC5-42AB-EB76-4D46-225DC5C2D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9797D98-8511-D0FE-3771-10179B8C3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E1CA90D-FA11-D6E6-E325-64C1B49B0C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A3C883-12E3-7CB2-97C2-4994286342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0923A6-3A5F-4108-B2BE-257B2CED64A5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93191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50FC5-42AB-EB76-4D46-225DC5C2D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9797D98-8511-D0FE-3771-10179B8C3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E1CA90D-FA11-D6E6-E325-64C1B49B0C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A3C883-12E3-7CB2-97C2-4994286342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0923A6-3A5F-4108-B2BE-257B2CED64A5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06638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50FC5-42AB-EB76-4D46-225DC5C2D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9797D98-8511-D0FE-3771-10179B8C3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E1CA90D-FA11-D6E6-E325-64C1B49B0C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A3C883-12E3-7CB2-97C2-4994286342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0923A6-3A5F-4108-B2BE-257B2CED64A5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8038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3D71C-22A2-DDC3-8B4F-61408C2A4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FFA940C-45B8-9C73-1916-23DDF7F2F8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49712A3-C9FF-9D6A-4B72-767386BAFB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325D12-2579-1F48-6C88-DE04D16E16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0923A6-3A5F-4108-B2BE-257B2CED64A5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31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50FC5-42AB-EB76-4D46-225DC5C2D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9797D98-8511-D0FE-3771-10179B8C3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E1CA90D-FA11-D6E6-E325-64C1B49B0C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A3C883-12E3-7CB2-97C2-4994286342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0923A6-3A5F-4108-B2BE-257B2CED64A5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09846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50FC5-42AB-EB76-4D46-225DC5C2D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9797D98-8511-D0FE-3771-10179B8C3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E1CA90D-FA11-D6E6-E325-64C1B49B0C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A3C883-12E3-7CB2-97C2-4994286342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0923A6-3A5F-4108-B2BE-257B2CED64A5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03654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50FC5-42AB-EB76-4D46-225DC5C2D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9797D98-8511-D0FE-3771-10179B8C3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E1CA90D-FA11-D6E6-E325-64C1B49B0C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A3C883-12E3-7CB2-97C2-4994286342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0923A6-3A5F-4108-B2BE-257B2CED64A5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76381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914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239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370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641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177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425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445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079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5150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861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701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261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B52855-3E95-6177-6486-02A7560B2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14">
            <a:extLst>
              <a:ext uri="{FF2B5EF4-FFF2-40B4-BE49-F238E27FC236}">
                <a16:creationId xmlns:a16="http://schemas.microsoft.com/office/drawing/2014/main" id="{E914257E-1E2A-4AC7-89EC-1FB65C9C0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Freeform: Shape 16">
            <a:extLst>
              <a:ext uri="{FF2B5EF4-FFF2-40B4-BE49-F238E27FC236}">
                <a16:creationId xmlns:a16="http://schemas.microsoft.com/office/drawing/2014/main" id="{03E1C8F1-97F5-489C-8308-958F09657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"/>
            <a:ext cx="16904004" cy="3012958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Freeform: Shape 18">
            <a:extLst>
              <a:ext uri="{FF2B5EF4-FFF2-40B4-BE49-F238E27FC236}">
                <a16:creationId xmlns:a16="http://schemas.microsoft.com/office/drawing/2014/main" id="{DEB62645-D4DA-4E99-8344-B1536F63D1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0632" y="9416956"/>
            <a:ext cx="10327368" cy="870045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4E1866C3-4C7A-4E86-A819-D63D0272D4AE}"/>
              </a:ext>
            </a:extLst>
          </p:cNvPr>
          <p:cNvSpPr txBox="1"/>
          <p:nvPr/>
        </p:nvSpPr>
        <p:spPr>
          <a:xfrm>
            <a:off x="3842478" y="4503386"/>
            <a:ext cx="10603044" cy="120609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ctr">
              <a:lnSpc>
                <a:spcPts val="10076"/>
              </a:lnSpc>
              <a:spcBef>
                <a:spcPct val="0"/>
              </a:spcBef>
              <a:defRPr/>
            </a:pPr>
            <a:r>
              <a:rPr lang="ko-KR" altLang="en-US" sz="7197" b="1" dirty="0">
                <a:solidFill>
                  <a:srgbClr val="090807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이상한 나라의 개발자들</a:t>
            </a: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490B0D0F-3979-4172-B461-261938ADC421}"/>
              </a:ext>
            </a:extLst>
          </p:cNvPr>
          <p:cNvSpPr txBox="1"/>
          <p:nvPr/>
        </p:nvSpPr>
        <p:spPr>
          <a:xfrm>
            <a:off x="8118909" y="3803743"/>
            <a:ext cx="2050182" cy="711107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ctr">
              <a:lnSpc>
                <a:spcPts val="5599"/>
              </a:lnSpc>
              <a:spcBef>
                <a:spcPct val="0"/>
              </a:spcBef>
              <a:defRPr/>
            </a:pPr>
            <a:r>
              <a:rPr lang="en-US" altLang="ko-KR" sz="3999">
                <a:solidFill>
                  <a:srgbClr val="090807"/>
                </a:solidFill>
                <a:latin typeface="Raleway"/>
                <a:ea typeface="Raleway"/>
                <a:cs typeface="Raleway"/>
                <a:sym typeface="Raleway"/>
              </a:rPr>
              <a:t>Team.</a:t>
            </a:r>
          </a:p>
        </p:txBody>
      </p:sp>
      <p:sp>
        <p:nvSpPr>
          <p:cNvPr id="12" name="TextBox 4">
            <a:extLst>
              <a:ext uri="{FF2B5EF4-FFF2-40B4-BE49-F238E27FC236}">
                <a16:creationId xmlns:a16="http://schemas.microsoft.com/office/drawing/2014/main" id="{C3469391-86FA-49E9-9A3C-79EE99A7CD2D}"/>
              </a:ext>
            </a:extLst>
          </p:cNvPr>
          <p:cNvSpPr txBox="1"/>
          <p:nvPr/>
        </p:nvSpPr>
        <p:spPr>
          <a:xfrm>
            <a:off x="1028700" y="8463794"/>
            <a:ext cx="1252686" cy="34683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2800"/>
              </a:lnSpc>
              <a:spcBef>
                <a:spcPct val="0"/>
              </a:spcBef>
              <a:defRPr/>
            </a:pPr>
            <a:r>
              <a:rPr lang="en-US" sz="2000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20</a:t>
            </a:r>
            <a:r>
              <a:rPr lang="en-US" altLang="ko-KR" sz="2000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25.10.28</a:t>
            </a:r>
          </a:p>
        </p:txBody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id="{10ABF680-B060-428E-B53E-80C8377FF81F}"/>
              </a:ext>
            </a:extLst>
          </p:cNvPr>
          <p:cNvSpPr txBox="1"/>
          <p:nvPr/>
        </p:nvSpPr>
        <p:spPr>
          <a:xfrm>
            <a:off x="883965" y="8924925"/>
            <a:ext cx="1859235" cy="69358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2800"/>
              </a:lnSpc>
              <a:spcBef>
                <a:spcPct val="0"/>
              </a:spcBef>
              <a:defRPr/>
            </a:pPr>
            <a:r>
              <a:rPr lang="ko-KR" altLang="en-US" sz="2000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김종원 김동현      </a:t>
            </a:r>
            <a:r>
              <a:rPr lang="ko-KR" altLang="en-US" sz="2000" dirty="0" err="1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손홍준</a:t>
            </a:r>
            <a:r>
              <a:rPr lang="ko-KR" altLang="en-US" sz="2000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최민주</a:t>
            </a:r>
            <a:endParaRPr lang="en-US" altLang="ko-KR" sz="2000" dirty="0">
              <a:solidFill>
                <a:srgbClr val="090807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  <p:sp>
        <p:nvSpPr>
          <p:cNvPr id="14" name="AutoShape 6">
            <a:extLst>
              <a:ext uri="{FF2B5EF4-FFF2-40B4-BE49-F238E27FC236}">
                <a16:creationId xmlns:a16="http://schemas.microsoft.com/office/drawing/2014/main" id="{838EECC3-2370-4448-812B-E1A7AD978FF9}"/>
              </a:ext>
            </a:extLst>
          </p:cNvPr>
          <p:cNvSpPr/>
          <p:nvPr/>
        </p:nvSpPr>
        <p:spPr>
          <a:xfrm>
            <a:off x="3121212" y="9117013"/>
            <a:ext cx="15166788" cy="0"/>
          </a:xfrm>
          <a:prstGeom prst="line">
            <a:avLst/>
          </a:prstGeom>
          <a:ln w="9525" cap="flat">
            <a:solidFill>
              <a:srgbClr val="090807"/>
            </a:solidFill>
            <a:prstDash val="solid"/>
            <a:headEnd w="sm" len="sm"/>
            <a:tailEnd w="sm" len="sm"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8469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B52855-3E95-6177-6486-02A7560B2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14">
            <a:extLst>
              <a:ext uri="{FF2B5EF4-FFF2-40B4-BE49-F238E27FC236}">
                <a16:creationId xmlns:a16="http://schemas.microsoft.com/office/drawing/2014/main" id="{E914257E-1E2A-4AC7-89EC-1FB65C9C0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Freeform: Shape 16">
            <a:extLst>
              <a:ext uri="{FF2B5EF4-FFF2-40B4-BE49-F238E27FC236}">
                <a16:creationId xmlns:a16="http://schemas.microsoft.com/office/drawing/2014/main" id="{03E1C8F1-97F5-489C-8308-958F09657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"/>
            <a:ext cx="16904004" cy="3012958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Freeform: Shape 18">
            <a:extLst>
              <a:ext uri="{FF2B5EF4-FFF2-40B4-BE49-F238E27FC236}">
                <a16:creationId xmlns:a16="http://schemas.microsoft.com/office/drawing/2014/main" id="{DEB62645-D4DA-4E99-8344-B1536F63D1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0632" y="9416956"/>
            <a:ext cx="10327368" cy="870045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 0">
            <a:extLst>
              <a:ext uri="{FF2B5EF4-FFF2-40B4-BE49-F238E27FC236}">
                <a16:creationId xmlns:a16="http://schemas.microsoft.com/office/drawing/2014/main" id="{B030719A-BE80-45FF-8F5E-7AA28AE32086}"/>
              </a:ext>
            </a:extLst>
          </p:cNvPr>
          <p:cNvSpPr txBox="1">
            <a:spLocks/>
          </p:cNvSpPr>
          <p:nvPr/>
        </p:nvSpPr>
        <p:spPr>
          <a:xfrm>
            <a:off x="860425" y="2933700"/>
            <a:ext cx="13616152" cy="3147657"/>
          </a:xfrm>
          <a:prstGeom prst="rect">
            <a:avLst/>
          </a:prstGeom>
        </p:spPr>
        <p:txBody>
          <a:bodyPr vert="horz" wrap="square" lIns="0" tIns="0" rIns="0" bIns="0" numCol="1" anchor="t">
            <a:spAutoFit/>
          </a:bodyPr>
          <a:lstStyle/>
          <a:p>
            <a:pPr marL="514350" lvl="0" indent="-514350">
              <a:lnSpc>
                <a:spcPct val="200000"/>
              </a:lnSpc>
              <a:spcBef>
                <a:spcPct val="0"/>
              </a:spcBef>
              <a:buFontTx/>
              <a:buAutoNum type="arabicPeriod"/>
              <a:defRPr/>
            </a:pPr>
            <a:r>
              <a:rPr lang="ko-KR" altLang="en-US" sz="3600" b="1" dirty="0">
                <a:solidFill>
                  <a:srgbClr val="090807"/>
                </a:solidFill>
                <a:latin typeface="맑은 고딕" panose="020B0503020000020004" pitchFamily="50" charset="-127"/>
                <a:cs typeface="Raleway Bold" charset="0"/>
              </a:rPr>
              <a:t>움직이는 대상 빠르게 쫓아가기</a:t>
            </a:r>
            <a:endParaRPr lang="en-US" altLang="ko-KR" sz="3600" b="1" dirty="0">
              <a:solidFill>
                <a:srgbClr val="090807"/>
              </a:solidFill>
              <a:latin typeface="맑은 고딕" panose="020B0503020000020004" pitchFamily="50" charset="-127"/>
              <a:cs typeface="Raleway Bold" charset="0"/>
            </a:endParaRPr>
          </a:p>
          <a:p>
            <a:pPr marL="514350" lvl="0" indent="-514350">
              <a:lnSpc>
                <a:spcPct val="200000"/>
              </a:lnSpc>
              <a:spcBef>
                <a:spcPct val="0"/>
              </a:spcBef>
              <a:buFontTx/>
              <a:buAutoNum type="arabicPeriod"/>
              <a:defRPr/>
            </a:pPr>
            <a:r>
              <a:rPr lang="ko-KR" altLang="en-US" sz="3600" b="1" dirty="0" err="1">
                <a:solidFill>
                  <a:srgbClr val="090807"/>
                </a:solidFill>
                <a:latin typeface="맑은 고딕" panose="020B0503020000020004" pitchFamily="50" charset="-127"/>
                <a:cs typeface="Raleway Bold" charset="0"/>
              </a:rPr>
              <a:t>로봇팔</a:t>
            </a:r>
            <a:r>
              <a:rPr lang="ko-KR" altLang="en-US" sz="3600" b="1" dirty="0">
                <a:solidFill>
                  <a:srgbClr val="090807"/>
                </a:solidFill>
                <a:latin typeface="맑은 고딕" panose="020B0503020000020004" pitchFamily="50" charset="-127"/>
                <a:cs typeface="Raleway Bold" charset="0"/>
              </a:rPr>
              <a:t> </a:t>
            </a:r>
            <a:r>
              <a:rPr lang="ko-KR" altLang="en-US" sz="3600" b="1" dirty="0" err="1">
                <a:solidFill>
                  <a:srgbClr val="090807"/>
                </a:solidFill>
                <a:latin typeface="맑은 고딕" panose="020B0503020000020004" pitchFamily="50" charset="-127"/>
                <a:cs typeface="Raleway Bold" charset="0"/>
              </a:rPr>
              <a:t>이동간에</a:t>
            </a:r>
            <a:r>
              <a:rPr lang="ko-KR" altLang="en-US" sz="3600" b="1" dirty="0">
                <a:solidFill>
                  <a:srgbClr val="090807"/>
                </a:solidFill>
                <a:latin typeface="맑은 고딕" panose="020B0503020000020004" pitchFamily="50" charset="-127"/>
                <a:cs typeface="Raleway Bold" charset="0"/>
              </a:rPr>
              <a:t> 흔들림 방지 </a:t>
            </a:r>
            <a:endParaRPr lang="en-US" altLang="ko-KR" sz="3600" b="1" dirty="0">
              <a:solidFill>
                <a:srgbClr val="090807"/>
              </a:solidFill>
              <a:latin typeface="맑은 고딕" panose="020B0503020000020004" pitchFamily="50" charset="-127"/>
              <a:cs typeface="Raleway Bold" charset="0"/>
            </a:endParaRPr>
          </a:p>
          <a:p>
            <a:pPr lvl="0">
              <a:lnSpc>
                <a:spcPct val="200000"/>
              </a:lnSpc>
              <a:spcBef>
                <a:spcPct val="0"/>
              </a:spcBef>
              <a:defRPr/>
            </a:pPr>
            <a:r>
              <a:rPr lang="en-US" altLang="ko-KR" sz="3600" b="1" dirty="0">
                <a:solidFill>
                  <a:srgbClr val="09080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Raleway Bold" charset="0"/>
              </a:rPr>
              <a:t>3. </a:t>
            </a:r>
            <a:r>
              <a:rPr lang="ko-KR" altLang="en-US" sz="3600" b="1" dirty="0">
                <a:solidFill>
                  <a:srgbClr val="090807"/>
                </a:solidFill>
                <a:latin typeface="맑은 고딕" panose="020B0503020000020004" pitchFamily="50" charset="-127"/>
                <a:cs typeface="Raleway Bold" charset="0"/>
              </a:rPr>
              <a:t>사용자 정지 시 떨림 보정</a:t>
            </a:r>
            <a:endParaRPr lang="en-US" altLang="ko-KR" sz="3600" b="1" dirty="0">
              <a:solidFill>
                <a:srgbClr val="09080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Raleway Bold" charset="0"/>
            </a:endParaRPr>
          </a:p>
        </p:txBody>
      </p:sp>
      <p:cxnSp>
        <p:nvCxnSpPr>
          <p:cNvPr id="8" name="Rect 0">
            <a:extLst>
              <a:ext uri="{FF2B5EF4-FFF2-40B4-BE49-F238E27FC236}">
                <a16:creationId xmlns:a16="http://schemas.microsoft.com/office/drawing/2014/main" id="{4F3F4549-CC6B-4E02-A2EC-988A06E634DB}"/>
              </a:ext>
            </a:extLst>
          </p:cNvPr>
          <p:cNvCxnSpPr>
            <a:cxnSpLocks/>
          </p:cNvCxnSpPr>
          <p:nvPr/>
        </p:nvCxnSpPr>
        <p:spPr>
          <a:xfrm>
            <a:off x="860425" y="1595540"/>
            <a:ext cx="1730375" cy="0"/>
          </a:xfrm>
          <a:prstGeom prst="line">
            <a:avLst/>
          </a:prstGeom>
          <a:ln w="38100" cap="flat" cmpd="sng">
            <a:solidFill>
              <a:srgbClr val="090807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 0">
            <a:extLst>
              <a:ext uri="{FF2B5EF4-FFF2-40B4-BE49-F238E27FC236}">
                <a16:creationId xmlns:a16="http://schemas.microsoft.com/office/drawing/2014/main" id="{8EC21D4C-5356-4A85-95A7-C3FF97FFD91D}"/>
              </a:ext>
            </a:extLst>
          </p:cNvPr>
          <p:cNvSpPr txBox="1">
            <a:spLocks/>
          </p:cNvSpPr>
          <p:nvPr/>
        </p:nvSpPr>
        <p:spPr>
          <a:xfrm>
            <a:off x="860425" y="1051994"/>
            <a:ext cx="3267710" cy="414857"/>
          </a:xfrm>
          <a:prstGeom prst="rect">
            <a:avLst/>
          </a:prstGeom>
        </p:spPr>
        <p:txBody>
          <a:bodyPr vert="horz" wrap="square" lIns="0" tIns="0" rIns="0" bIns="0" numCol="1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49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90807"/>
                </a:solidFill>
                <a:effectLst/>
                <a:uLnTx/>
                <a:uFillTx/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정량지표 설정</a:t>
            </a:r>
          </a:p>
        </p:txBody>
      </p:sp>
    </p:spTree>
    <p:extLst>
      <p:ext uri="{BB962C8B-B14F-4D97-AF65-F5344CB8AC3E}">
        <p14:creationId xmlns:p14="http://schemas.microsoft.com/office/powerpoint/2010/main" val="4128659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F7792-9AB9-B8B0-7514-90CA52E27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2">
            <a:extLst>
              <a:ext uri="{FF2B5EF4-FFF2-40B4-BE49-F238E27FC236}">
                <a16:creationId xmlns:a16="http://schemas.microsoft.com/office/drawing/2014/main" id="{E82EA02B-36F9-B353-7D77-21D56BA92C47}"/>
              </a:ext>
            </a:extLst>
          </p:cNvPr>
          <p:cNvSpPr txBox="1"/>
          <p:nvPr/>
        </p:nvSpPr>
        <p:spPr>
          <a:xfrm>
            <a:off x="3842478" y="4503386"/>
            <a:ext cx="10603044" cy="120609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ctr">
              <a:lnSpc>
                <a:spcPts val="10076"/>
              </a:lnSpc>
              <a:spcBef>
                <a:spcPct val="0"/>
              </a:spcBef>
              <a:defRPr/>
            </a:pPr>
            <a:r>
              <a:rPr lang="ko-KR" altLang="en-US" sz="7197" b="1" dirty="0">
                <a:solidFill>
                  <a:srgbClr val="090807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비교표 정리</a:t>
            </a:r>
          </a:p>
        </p:txBody>
      </p:sp>
      <p:sp>
        <p:nvSpPr>
          <p:cNvPr id="14" name="AutoShape 6">
            <a:extLst>
              <a:ext uri="{FF2B5EF4-FFF2-40B4-BE49-F238E27FC236}">
                <a16:creationId xmlns:a16="http://schemas.microsoft.com/office/drawing/2014/main" id="{51A744EC-551D-5992-AF35-493909D0686A}"/>
              </a:ext>
            </a:extLst>
          </p:cNvPr>
          <p:cNvSpPr/>
          <p:nvPr/>
        </p:nvSpPr>
        <p:spPr>
          <a:xfrm>
            <a:off x="0" y="9105900"/>
            <a:ext cx="18288000" cy="11113"/>
          </a:xfrm>
          <a:prstGeom prst="line">
            <a:avLst/>
          </a:prstGeom>
          <a:ln w="9525" cap="flat">
            <a:solidFill>
              <a:srgbClr val="090807"/>
            </a:solidFill>
            <a:prstDash val="solid"/>
            <a:headEnd w="sm" len="sm"/>
            <a:tailEnd w="sm" len="sm"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0123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FE589C-3114-1FBA-E21E-513790226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14">
            <a:extLst>
              <a:ext uri="{FF2B5EF4-FFF2-40B4-BE49-F238E27FC236}">
                <a16:creationId xmlns:a16="http://schemas.microsoft.com/office/drawing/2014/main" id="{E7685130-1DDF-CD11-DE42-59B32102E0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Freeform: Shape 16">
            <a:extLst>
              <a:ext uri="{FF2B5EF4-FFF2-40B4-BE49-F238E27FC236}">
                <a16:creationId xmlns:a16="http://schemas.microsoft.com/office/drawing/2014/main" id="{BDF58CB0-57AA-3385-F5C4-CAB22F484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"/>
            <a:ext cx="16904004" cy="3012958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 0">
            <a:extLst>
              <a:ext uri="{FF2B5EF4-FFF2-40B4-BE49-F238E27FC236}">
                <a16:creationId xmlns:a16="http://schemas.microsoft.com/office/drawing/2014/main" id="{CD15CB74-864F-8E0F-AABA-2614902A5865}"/>
              </a:ext>
            </a:extLst>
          </p:cNvPr>
          <p:cNvSpPr txBox="1">
            <a:spLocks/>
          </p:cNvSpPr>
          <p:nvPr/>
        </p:nvSpPr>
        <p:spPr>
          <a:xfrm>
            <a:off x="914400" y="558797"/>
            <a:ext cx="11473859" cy="1114427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5400" b="1" dirty="0">
                <a:solidFill>
                  <a:prstClr val="black"/>
                </a:solidFill>
                <a:latin typeface="Calibri"/>
                <a:ea typeface="맑은 고딕" panose="020B0503020000020004" pitchFamily="50" charset="-127"/>
                <a:sym typeface="Source Han Sans KR Bold"/>
              </a:rPr>
              <a:t>비교표 정리</a:t>
            </a:r>
            <a:endParaRPr kumimoji="0" lang="ko-KR" altLang="en-US" sz="5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  <a:sym typeface="Source Han Sans KR Bold"/>
            </a:endParaRPr>
          </a:p>
        </p:txBody>
      </p:sp>
      <p:sp>
        <p:nvSpPr>
          <p:cNvPr id="29" name="Freeform: Shape 18">
            <a:extLst>
              <a:ext uri="{FF2B5EF4-FFF2-40B4-BE49-F238E27FC236}">
                <a16:creationId xmlns:a16="http://schemas.microsoft.com/office/drawing/2014/main" id="{F17A3D63-8CDC-FEC4-6AE5-DBD3265B5C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0632" y="9416956"/>
            <a:ext cx="10327368" cy="870045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A815559-1372-1F9B-D110-C02E8721FD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6020805"/>
              </p:ext>
            </p:extLst>
          </p:nvPr>
        </p:nvGraphicFramePr>
        <p:xfrm>
          <a:off x="1790700" y="2045090"/>
          <a:ext cx="15113304" cy="7457050"/>
        </p:xfrm>
        <a:graphic>
          <a:graphicData uri="http://schemas.openxmlformats.org/drawingml/2006/table">
            <a:tbl>
              <a:tblPr/>
              <a:tblGrid>
                <a:gridCol w="3778326">
                  <a:extLst>
                    <a:ext uri="{9D8B030D-6E8A-4147-A177-3AD203B41FA5}">
                      <a16:colId xmlns:a16="http://schemas.microsoft.com/office/drawing/2014/main" val="942542037"/>
                    </a:ext>
                  </a:extLst>
                </a:gridCol>
                <a:gridCol w="3582558">
                  <a:extLst>
                    <a:ext uri="{9D8B030D-6E8A-4147-A177-3AD203B41FA5}">
                      <a16:colId xmlns:a16="http://schemas.microsoft.com/office/drawing/2014/main" val="3988260128"/>
                    </a:ext>
                  </a:extLst>
                </a:gridCol>
                <a:gridCol w="3974094">
                  <a:extLst>
                    <a:ext uri="{9D8B030D-6E8A-4147-A177-3AD203B41FA5}">
                      <a16:colId xmlns:a16="http://schemas.microsoft.com/office/drawing/2014/main" val="2813169095"/>
                    </a:ext>
                  </a:extLst>
                </a:gridCol>
                <a:gridCol w="3778326">
                  <a:extLst>
                    <a:ext uri="{9D8B030D-6E8A-4147-A177-3AD203B41FA5}">
                      <a16:colId xmlns:a16="http://schemas.microsoft.com/office/drawing/2014/main" val="3041396976"/>
                    </a:ext>
                  </a:extLst>
                </a:gridCol>
              </a:tblGrid>
              <a:tr h="7678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구분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수정 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수정 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주요 변경 이유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1688884"/>
                  </a:ext>
                </a:extLst>
              </a:tr>
              <a:tr h="18734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평가지표 </a:t>
                      </a:r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 </a:t>
                      </a:r>
                      <a:r>
                        <a:rPr lang="en-US" altLang="ko-KR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  <a:sym typeface="Source Han Sans KR Bold"/>
                        </a:rPr>
                        <a:t>(</a:t>
                      </a:r>
                      <a:r>
                        <a:rPr lang="ko-KR" altLang="en-US" sz="1800" dirty="0">
                          <a:solidFill>
                            <a:schemeClr val="bg1"/>
                          </a:solidFill>
                        </a:rPr>
                        <a:t>✅</a:t>
                      </a:r>
                      <a:r>
                        <a:rPr lang="ko-KR" altLang="en-US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  <a:sym typeface="Source Han Sans KR Bold"/>
                        </a:rPr>
                        <a:t>통과</a:t>
                      </a:r>
                      <a:r>
                        <a:rPr lang="en-US" altLang="ko-KR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  <a:sym typeface="Source Han Sans KR Bold"/>
                        </a:rPr>
                        <a:t>)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altLang="ko-KR" sz="1600" dirty="0"/>
                        <a:t>1. </a:t>
                      </a:r>
                      <a:r>
                        <a:rPr lang="ko-KR" altLang="en-US" sz="1600" dirty="0"/>
                        <a:t>이동 속도</a:t>
                      </a:r>
                      <a:r>
                        <a:rPr lang="en-US" altLang="ko-KR" sz="1600" dirty="0"/>
                        <a:t>: </a:t>
                      </a:r>
                      <a:r>
                        <a:rPr lang="ko-KR" altLang="en-US" sz="1600" b="1" dirty="0"/>
                        <a:t>등속 이동 </a:t>
                      </a:r>
                      <a:r>
                        <a:rPr lang="en-US" altLang="ko-KR" sz="1600" b="1" dirty="0"/>
                        <a:t>(0.5 m/s)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Tx/>
                        <a:buAutoNum type="arabicPeriod"/>
                      </a:pPr>
                      <a:r>
                        <a:rPr lang="ko-KR" altLang="en-US" sz="1600" dirty="0"/>
                        <a:t>이동 시간</a:t>
                      </a:r>
                      <a:r>
                        <a:rPr lang="en-US" altLang="ko-KR" sz="1600" dirty="0"/>
                        <a:t>: </a:t>
                      </a:r>
                      <a:r>
                        <a:rPr lang="en-US" altLang="ko-KR" sz="1600" b="1" dirty="0"/>
                        <a:t>2</a:t>
                      </a:r>
                      <a:r>
                        <a:rPr lang="ko-KR" altLang="en-US" sz="1600" b="1" dirty="0"/>
                        <a:t>초 이내 이동</a:t>
                      </a:r>
                      <a:r>
                        <a:rPr lang="ko-KR" altLang="en-US" sz="1600" dirty="0"/>
                        <a:t>으로 표기 변경</a:t>
                      </a:r>
                      <a:endParaRPr lang="en-US" altLang="ko-KR" sz="1600" dirty="0"/>
                    </a:p>
                    <a:p>
                      <a:pPr marL="342900" indent="-342900">
                        <a:buFontTx/>
                        <a:buAutoNum type="arabicPeriod"/>
                      </a:pPr>
                      <a:r>
                        <a:rPr lang="ko-KR" altLang="en-US" sz="1600" dirty="0"/>
                        <a:t>측정 상세 동작 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Tx/>
                        <a:buAutoNum type="arabicPeriod"/>
                      </a:pPr>
                      <a:r>
                        <a:rPr lang="ko-KR" altLang="en-US" sz="1600" dirty="0"/>
                        <a:t>등속 운동 표기 오류 삭제</a:t>
                      </a:r>
                      <a:endParaRPr lang="en-US" altLang="ko-KR" sz="1600" dirty="0"/>
                    </a:p>
                    <a:p>
                      <a:pPr marL="342900" indent="-342900">
                        <a:buFontTx/>
                        <a:buAutoNum type="arabicPeriod"/>
                      </a:pPr>
                      <a:r>
                        <a:rPr lang="ko-KR" altLang="en-US" sz="1600" b="1" dirty="0" err="1"/>
                        <a:t>측정자</a:t>
                      </a:r>
                      <a:r>
                        <a:rPr lang="ko-KR" altLang="en-US" sz="1600" b="1" dirty="0"/>
                        <a:t> 간 오차 최소화</a:t>
                      </a:r>
                      <a:r>
                        <a:rPr lang="ko-KR" altLang="en-US" sz="1600" dirty="0"/>
                        <a:t>를 위한 동작 기준 통일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309040"/>
                  </a:ext>
                </a:extLst>
              </a:tr>
              <a:tr h="20851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평가지표 </a:t>
                      </a:r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2 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Tx/>
                        <a:buAutoNum type="arabicPeriod"/>
                      </a:pPr>
                      <a:r>
                        <a:rPr lang="ko-KR" altLang="en-US" sz="1600" dirty="0">
                          <a:solidFill>
                            <a:srgbClr val="FF0000"/>
                          </a:solidFill>
                        </a:rPr>
                        <a:t>벡터 ≤ </a:t>
                      </a:r>
                      <a:r>
                        <a:rPr lang="en-US" altLang="ko-KR" sz="1600" b="1" dirty="0">
                          <a:solidFill>
                            <a:srgbClr val="FF0000"/>
                          </a:solidFill>
                        </a:rPr>
                        <a:t>10 px</a:t>
                      </a:r>
                      <a:r>
                        <a:rPr lang="ko-KR" altLang="en-US" sz="1600" dirty="0">
                          <a:solidFill>
                            <a:srgbClr val="FF0000"/>
                          </a:solidFill>
                        </a:rPr>
                        <a:t> 비율 ≥ </a:t>
                      </a:r>
                      <a:r>
                        <a:rPr lang="en-US" altLang="ko-KR" sz="1600" dirty="0">
                          <a:solidFill>
                            <a:srgbClr val="FF0000"/>
                          </a:solidFill>
                        </a:rPr>
                        <a:t>85%</a:t>
                      </a:r>
                    </a:p>
                    <a:p>
                      <a:pPr marL="342900" indent="-342900">
                        <a:buFontTx/>
                        <a:buAutoNum type="arabicPeriod"/>
                      </a:pPr>
                      <a:r>
                        <a:rPr lang="en-US" altLang="ko-KR" sz="1600" dirty="0">
                          <a:solidFill>
                            <a:sysClr val="windowText" lastClr="000000"/>
                          </a:solidFill>
                        </a:rPr>
                        <a:t>30cm</a:t>
                      </a:r>
                      <a:r>
                        <a:rPr lang="ko-KR" altLang="en-US" sz="1600" dirty="0">
                          <a:solidFill>
                            <a:sysClr val="windowText" lastClr="000000"/>
                          </a:solidFill>
                        </a:rPr>
                        <a:t>를 </a:t>
                      </a:r>
                      <a:r>
                        <a:rPr lang="en-US" altLang="ko-KR" sz="1600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r>
                        <a:rPr lang="ko-KR" altLang="en-US" sz="1600" dirty="0">
                          <a:solidFill>
                            <a:sysClr val="windowText" lastClr="000000"/>
                          </a:solidFill>
                        </a:rPr>
                        <a:t>초 동안</a:t>
                      </a:r>
                      <a:r>
                        <a:rPr lang="en-US" altLang="ko-KR" sz="1600" dirty="0">
                          <a:solidFill>
                            <a:sysClr val="windowText" lastClr="000000"/>
                          </a:solidFill>
                        </a:rPr>
                        <a:t>(</a:t>
                      </a:r>
                      <a:r>
                        <a:rPr lang="ko-KR" altLang="en-US" sz="1600" dirty="0">
                          <a:solidFill>
                            <a:sysClr val="windowText" lastClr="000000"/>
                          </a:solidFill>
                        </a:rPr>
                        <a:t>속도 </a:t>
                      </a:r>
                      <a:r>
                        <a:rPr lang="en-US" altLang="ko-KR" sz="1600" dirty="0">
                          <a:solidFill>
                            <a:sysClr val="windowText" lastClr="000000"/>
                          </a:solidFill>
                        </a:rPr>
                        <a:t>10cm/s) </a:t>
                      </a:r>
                      <a:r>
                        <a:rPr lang="ko-KR" altLang="en-US" sz="1600" dirty="0">
                          <a:solidFill>
                            <a:sysClr val="windowText" lastClr="000000"/>
                          </a:solidFill>
                        </a:rPr>
                        <a:t>상</a:t>
                      </a:r>
                      <a:r>
                        <a:rPr lang="en-US" altLang="ko-KR" sz="1600" dirty="0">
                          <a:solidFill>
                            <a:sysClr val="windowText" lastClr="000000"/>
                          </a:solidFill>
                        </a:rPr>
                        <a:t>/</a:t>
                      </a:r>
                      <a:r>
                        <a:rPr lang="ko-KR" altLang="en-US" sz="1600" dirty="0">
                          <a:solidFill>
                            <a:sysClr val="windowText" lastClr="000000"/>
                          </a:solidFill>
                        </a:rPr>
                        <a:t>하</a:t>
                      </a:r>
                      <a:r>
                        <a:rPr lang="en-US" altLang="ko-KR" sz="1600" dirty="0">
                          <a:solidFill>
                            <a:sysClr val="windowText" lastClr="000000"/>
                          </a:solidFill>
                        </a:rPr>
                        <a:t>/</a:t>
                      </a:r>
                      <a:r>
                        <a:rPr lang="ko-KR" altLang="en-US" sz="1600" dirty="0">
                          <a:solidFill>
                            <a:sysClr val="windowText" lastClr="000000"/>
                          </a:solidFill>
                        </a:rPr>
                        <a:t>좌</a:t>
                      </a:r>
                      <a:r>
                        <a:rPr lang="en-US" altLang="ko-KR" sz="1600" dirty="0">
                          <a:solidFill>
                            <a:sysClr val="windowText" lastClr="000000"/>
                          </a:solidFill>
                        </a:rPr>
                        <a:t>/</a:t>
                      </a:r>
                      <a:r>
                        <a:rPr lang="ko-KR" altLang="en-US" sz="1600" dirty="0">
                          <a:solidFill>
                            <a:sysClr val="windowText" lastClr="000000"/>
                          </a:solidFill>
                        </a:rPr>
                        <a:t>우 한 방향으로 이동한다</a:t>
                      </a:r>
                      <a:r>
                        <a:rPr lang="en-US" altLang="ko-KR" sz="1600" dirty="0">
                          <a:solidFill>
                            <a:srgbClr val="FF0000"/>
                          </a:solidFill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Tx/>
                        <a:buAutoNum type="arabicPeriod"/>
                      </a:pPr>
                      <a:r>
                        <a:rPr lang="ko-KR" altLang="en-US" sz="1600" b="1" dirty="0">
                          <a:solidFill>
                            <a:srgbClr val="FF0000"/>
                          </a:solidFill>
                        </a:rPr>
                        <a:t>기준 완화</a:t>
                      </a:r>
                      <a:r>
                        <a:rPr lang="en-US" altLang="ko-KR" sz="1600" b="1" dirty="0">
                          <a:solidFill>
                            <a:srgbClr val="FF0000"/>
                          </a:solidFill>
                        </a:rPr>
                        <a:t>: </a:t>
                      </a:r>
                      <a:r>
                        <a:rPr lang="ko-KR" altLang="en-US" sz="1600" b="1" dirty="0">
                          <a:solidFill>
                            <a:srgbClr val="FF0000"/>
                          </a:solidFill>
                        </a:rPr>
                        <a:t>≤ </a:t>
                      </a:r>
                      <a:r>
                        <a:rPr lang="en-US" altLang="ko-KR" sz="1600" b="1" dirty="0">
                          <a:solidFill>
                            <a:srgbClr val="FF0000"/>
                          </a:solidFill>
                        </a:rPr>
                        <a:t>20 px </a:t>
                      </a:r>
                      <a:r>
                        <a:rPr lang="ko-KR" altLang="en-US" sz="1600" b="1" dirty="0">
                          <a:solidFill>
                            <a:srgbClr val="FF0000"/>
                          </a:solidFill>
                        </a:rPr>
                        <a:t>비율 ≥ </a:t>
                      </a:r>
                      <a:r>
                        <a:rPr lang="en-US" altLang="ko-KR" sz="1600" b="1" dirty="0">
                          <a:solidFill>
                            <a:srgbClr val="FF0000"/>
                          </a:solidFill>
                        </a:rPr>
                        <a:t>80%</a:t>
                      </a:r>
                    </a:p>
                    <a:p>
                      <a:pPr marL="0" indent="0">
                        <a:buFontTx/>
                        <a:buNone/>
                      </a:pPr>
                      <a:endParaRPr lang="en-US" altLang="ko-KR" sz="1600" b="1" dirty="0">
                        <a:solidFill>
                          <a:srgbClr val="FF0000"/>
                        </a:solidFill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ko-KR" sz="1600" dirty="0"/>
                        <a:t>2. </a:t>
                      </a:r>
                      <a:r>
                        <a:rPr lang="ko-KR" altLang="en-US" sz="1600" b="1" dirty="0"/>
                        <a:t>이동 방향</a:t>
                      </a:r>
                      <a:r>
                        <a:rPr lang="en-US" altLang="ko-KR" sz="1600" dirty="0"/>
                        <a:t>: </a:t>
                      </a:r>
                      <a:r>
                        <a:rPr lang="ko-KR" altLang="en-US" sz="1600" dirty="0"/>
                        <a:t>아래 중 </a:t>
                      </a:r>
                      <a:r>
                        <a:rPr lang="en-US" altLang="ko-KR" sz="1600" dirty="0"/>
                        <a:t>1</a:t>
                      </a:r>
                      <a:r>
                        <a:rPr lang="ko-KR" altLang="en-US" sz="1600" dirty="0"/>
                        <a:t>개 선택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/>
                        <a:t>수평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좌</a:t>
                      </a:r>
                      <a:r>
                        <a:rPr lang="en-US" altLang="ko-KR" sz="1600" dirty="0"/>
                        <a:t>/</a:t>
                      </a:r>
                      <a:r>
                        <a:rPr lang="ko-KR" altLang="en-US" sz="1600" dirty="0"/>
                        <a:t>우</a:t>
                      </a:r>
                      <a:r>
                        <a:rPr lang="en-US" altLang="ko-KR" sz="1600" dirty="0"/>
                        <a:t>): ±30cm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/>
                        <a:t>수직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상</a:t>
                      </a:r>
                      <a:r>
                        <a:rPr lang="en-US" altLang="ko-KR" sz="1600" dirty="0"/>
                        <a:t>/</a:t>
                      </a:r>
                      <a:r>
                        <a:rPr lang="ko-KR" altLang="en-US" sz="1600" dirty="0"/>
                        <a:t>하</a:t>
                      </a:r>
                      <a:r>
                        <a:rPr lang="en-US" altLang="ko-KR" sz="1600" dirty="0"/>
                        <a:t>): ±30cm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600" dirty="0"/>
                        <a:t>3</a:t>
                      </a:r>
                      <a:r>
                        <a:rPr lang="ko-KR" altLang="en-US" sz="1600" dirty="0"/>
                        <a:t>초 이내로 선택한 한 방향으로 사용자가 움직임 </a:t>
                      </a:r>
                      <a:endParaRPr lang="en-US" altLang="ko-KR" sz="1600" dirty="0"/>
                    </a:p>
                    <a:p>
                      <a:pPr marL="342900" indent="-342900">
                        <a:buFontTx/>
                        <a:buAutoNum type="arabicPeriod"/>
                      </a:pPr>
                      <a:endParaRPr lang="en-US" altLang="ko-KR" sz="1600" dirty="0"/>
                    </a:p>
                    <a:p>
                      <a:pPr marL="0" indent="0">
                        <a:buFontTx/>
                        <a:buNone/>
                      </a:pPr>
                      <a:r>
                        <a:rPr lang="en-US" altLang="ko-KR" sz="1600" dirty="0"/>
                        <a:t>3. </a:t>
                      </a:r>
                      <a:r>
                        <a:rPr lang="ko-KR" altLang="en-US" sz="1600" dirty="0"/>
                        <a:t>측정 상세 동작 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Tx/>
                        <a:buAutoNum type="arabicPeriod"/>
                      </a:pPr>
                      <a:r>
                        <a:rPr lang="ko-KR" altLang="en-US" sz="1600" dirty="0">
                          <a:solidFill>
                            <a:srgbClr val="FF0000"/>
                          </a:solidFill>
                        </a:rPr>
                        <a:t>실제 실험 환경</a:t>
                      </a:r>
                      <a:r>
                        <a:rPr lang="en-US" altLang="ko-KR" sz="160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600" dirty="0">
                          <a:solidFill>
                            <a:srgbClr val="FF0000"/>
                          </a:solidFill>
                        </a:rPr>
                        <a:t>조명</a:t>
                      </a:r>
                      <a:r>
                        <a:rPr lang="en-US" altLang="ko-KR" sz="1600" dirty="0">
                          <a:solidFill>
                            <a:srgbClr val="FF0000"/>
                          </a:solidFill>
                        </a:rPr>
                        <a:t>·</a:t>
                      </a:r>
                      <a:r>
                        <a:rPr lang="ko-KR" altLang="en-US" sz="1600" dirty="0">
                          <a:solidFill>
                            <a:srgbClr val="FF0000"/>
                          </a:solidFill>
                        </a:rPr>
                        <a:t>속도</a:t>
                      </a:r>
                      <a:r>
                        <a:rPr lang="en-US" altLang="ko-KR" sz="1600" dirty="0">
                          <a:solidFill>
                            <a:srgbClr val="FF0000"/>
                          </a:solidFill>
                        </a:rPr>
                        <a:t>·</a:t>
                      </a:r>
                      <a:r>
                        <a:rPr lang="ko-KR" altLang="en-US" sz="1600" dirty="0">
                          <a:solidFill>
                            <a:srgbClr val="FF0000"/>
                          </a:solidFill>
                        </a:rPr>
                        <a:t>노이즈</a:t>
                      </a:r>
                      <a:r>
                        <a:rPr lang="en-US" altLang="ko-KR" sz="1600" dirty="0">
                          <a:solidFill>
                            <a:srgbClr val="FF0000"/>
                          </a:solidFill>
                        </a:rPr>
                        <a:t>)</a:t>
                      </a:r>
                      <a:r>
                        <a:rPr lang="ko-KR" altLang="en-US" sz="1600" dirty="0">
                          <a:solidFill>
                            <a:srgbClr val="FF0000"/>
                          </a:solidFill>
                        </a:rPr>
                        <a:t>에 맞게 </a:t>
                      </a:r>
                      <a:r>
                        <a:rPr lang="ko-KR" altLang="en-US" sz="1600" b="1" dirty="0">
                          <a:solidFill>
                            <a:srgbClr val="FF0000"/>
                          </a:solidFill>
                        </a:rPr>
                        <a:t>현실적 기준으로 조정</a:t>
                      </a:r>
                      <a:endParaRPr lang="en-US" altLang="ko-KR" sz="1600" b="1" dirty="0">
                        <a:solidFill>
                          <a:srgbClr val="FF0000"/>
                        </a:solidFill>
                      </a:endParaRPr>
                    </a:p>
                    <a:p>
                      <a:pPr marL="342900" indent="-342900">
                        <a:buFontTx/>
                        <a:buAutoNum type="arabicPeriod"/>
                      </a:pPr>
                      <a:r>
                        <a:rPr lang="ko-KR" altLang="en-US" sz="1600" dirty="0"/>
                        <a:t>실험 조건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이동 거리</a:t>
                      </a:r>
                      <a:r>
                        <a:rPr lang="en-US" altLang="ko-KR" sz="1600" dirty="0"/>
                        <a:t>·</a:t>
                      </a:r>
                      <a:r>
                        <a:rPr lang="ko-KR" altLang="en-US" sz="1600" dirty="0"/>
                        <a:t>방향</a:t>
                      </a:r>
                      <a:r>
                        <a:rPr lang="en-US" altLang="ko-KR" sz="1600" dirty="0"/>
                        <a:t>·</a:t>
                      </a:r>
                      <a:r>
                        <a:rPr lang="ko-KR" altLang="en-US" sz="1600" dirty="0"/>
                        <a:t>시간</a:t>
                      </a:r>
                      <a:r>
                        <a:rPr lang="en-US" altLang="ko-KR" sz="1600" dirty="0"/>
                        <a:t>)</a:t>
                      </a:r>
                      <a:r>
                        <a:rPr lang="ko-KR" altLang="en-US" sz="1600" dirty="0"/>
                        <a:t>을 명확히 정의하여 </a:t>
                      </a:r>
                      <a:r>
                        <a:rPr lang="ko-KR" altLang="en-US" sz="1600" b="1" dirty="0"/>
                        <a:t>재현성 및 일관성 강화</a:t>
                      </a:r>
                      <a:endParaRPr lang="en-US" altLang="ko-KR" sz="1600" b="1" dirty="0"/>
                    </a:p>
                    <a:p>
                      <a:pPr marL="342900" indent="-342900">
                        <a:buFontTx/>
                        <a:buAutoNum type="arabicPeriod"/>
                      </a:pPr>
                      <a:r>
                        <a:rPr lang="ko-KR" altLang="en-US" sz="1600" b="1" dirty="0" err="1"/>
                        <a:t>측정자</a:t>
                      </a:r>
                      <a:r>
                        <a:rPr lang="ko-KR" altLang="en-US" sz="1600" b="1" dirty="0"/>
                        <a:t> 간 오차 최소화</a:t>
                      </a:r>
                      <a:r>
                        <a:rPr lang="ko-KR" altLang="en-US" sz="1600" dirty="0"/>
                        <a:t>를 위한 동작 기준 통일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5721796"/>
                  </a:ext>
                </a:extLst>
              </a:tr>
              <a:tr h="16490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평가지표 </a:t>
                      </a:r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3 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Tx/>
                        <a:buAutoNum type="arabicPeriod"/>
                      </a:pPr>
                      <a:r>
                        <a:rPr lang="ko-KR" altLang="en-US" sz="1600" b="0" dirty="0"/>
                        <a:t>사용자가 정지 상태에 들어가기 전</a:t>
                      </a:r>
                      <a:r>
                        <a:rPr lang="en-US" altLang="ko-KR" sz="1600" b="0" dirty="0"/>
                        <a:t>, </a:t>
                      </a:r>
                      <a:r>
                        <a:rPr lang="ko-KR" altLang="en-US" sz="1600" b="0" dirty="0"/>
                        <a:t>좌우 또는 상하 방향으로 초당 </a:t>
                      </a:r>
                      <a:r>
                        <a:rPr lang="en-US" altLang="ko-KR" sz="1600" b="0" dirty="0"/>
                        <a:t>10cm </a:t>
                      </a:r>
                      <a:r>
                        <a:rPr lang="ko-KR" altLang="en-US" sz="1600" b="0" dirty="0"/>
                        <a:t>속도로 약 </a:t>
                      </a:r>
                      <a:r>
                        <a:rPr lang="en-US" altLang="ko-KR" sz="1600" b="0" dirty="0"/>
                        <a:t>30cm</a:t>
                      </a:r>
                      <a:r>
                        <a:rPr lang="ko-KR" altLang="en-US" sz="1600" b="0" dirty="0"/>
                        <a:t>를 이동한다</a:t>
                      </a:r>
                      <a:r>
                        <a:rPr lang="en-US" altLang="ko-KR" sz="1600" b="0" dirty="0"/>
                        <a:t>. </a:t>
                      </a:r>
                    </a:p>
                    <a:p>
                      <a:pPr marL="342900" indent="-342900">
                        <a:buFontTx/>
                        <a:buAutoNum type="arabicPeriod"/>
                      </a:pPr>
                      <a:r>
                        <a:rPr lang="ko-KR" altLang="en-US" sz="1600" b="1" dirty="0"/>
                        <a:t>얼굴 중심 좌표를 </a:t>
                      </a:r>
                      <a:r>
                        <a:rPr lang="ko-KR" altLang="en-US" sz="1600" b="0" dirty="0"/>
                        <a:t>기준으로 원을 그린다</a:t>
                      </a:r>
                      <a:r>
                        <a:rPr lang="en-US" altLang="ko-KR" sz="1600" b="0" dirty="0"/>
                        <a:t>.</a:t>
                      </a:r>
                      <a:endParaRPr lang="ko-KR" altLang="en-US" sz="16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altLang="ko-KR" sz="1600" b="1" dirty="0"/>
                    </a:p>
                    <a:p>
                      <a:pPr marL="0" indent="0">
                        <a:buFontTx/>
                        <a:buNone/>
                      </a:pPr>
                      <a:r>
                        <a:rPr lang="en-US" altLang="ko-KR" sz="1600" b="1" dirty="0"/>
                        <a:t>1. </a:t>
                      </a:r>
                      <a:r>
                        <a:rPr lang="ko-KR" altLang="en-US" sz="1600" b="1" dirty="0"/>
                        <a:t>이동 방향</a:t>
                      </a:r>
                      <a:r>
                        <a:rPr lang="en-US" altLang="ko-KR" sz="1600" b="1" dirty="0"/>
                        <a:t>: </a:t>
                      </a:r>
                      <a:r>
                        <a:rPr lang="ko-KR" altLang="en-US" sz="1600" b="0" dirty="0"/>
                        <a:t>아래 중 </a:t>
                      </a:r>
                      <a:r>
                        <a:rPr lang="en-US" altLang="ko-KR" sz="1600" b="0" dirty="0"/>
                        <a:t>1</a:t>
                      </a:r>
                      <a:r>
                        <a:rPr lang="ko-KR" altLang="en-US" sz="1600" b="0" dirty="0"/>
                        <a:t>개 선택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b="0" dirty="0"/>
                        <a:t>수평</a:t>
                      </a:r>
                      <a:r>
                        <a:rPr lang="en-US" altLang="ko-KR" sz="1600" b="0" dirty="0"/>
                        <a:t>(</a:t>
                      </a:r>
                      <a:r>
                        <a:rPr lang="ko-KR" altLang="en-US" sz="1600" b="0" dirty="0"/>
                        <a:t>좌</a:t>
                      </a:r>
                      <a:r>
                        <a:rPr lang="en-US" altLang="ko-KR" sz="1600" b="0" dirty="0"/>
                        <a:t>/</a:t>
                      </a:r>
                      <a:r>
                        <a:rPr lang="ko-KR" altLang="en-US" sz="1600" b="0" dirty="0"/>
                        <a:t>우</a:t>
                      </a:r>
                      <a:r>
                        <a:rPr lang="en-US" altLang="ko-KR" sz="1600" b="0" dirty="0"/>
                        <a:t>): ±30cm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b="0" dirty="0"/>
                        <a:t>수직</a:t>
                      </a:r>
                      <a:r>
                        <a:rPr lang="en-US" altLang="ko-KR" sz="1600" b="0" dirty="0"/>
                        <a:t>(</a:t>
                      </a:r>
                      <a:r>
                        <a:rPr lang="ko-KR" altLang="en-US" sz="1600" b="0" dirty="0"/>
                        <a:t>상</a:t>
                      </a:r>
                      <a:r>
                        <a:rPr lang="en-US" altLang="ko-KR" sz="1600" b="0" dirty="0"/>
                        <a:t>/</a:t>
                      </a:r>
                      <a:r>
                        <a:rPr lang="ko-KR" altLang="en-US" sz="1600" b="0" dirty="0"/>
                        <a:t>하</a:t>
                      </a:r>
                      <a:r>
                        <a:rPr lang="en-US" altLang="ko-KR" sz="1600" b="0" dirty="0"/>
                        <a:t>): ±30cm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600" b="0" dirty="0"/>
                        <a:t>3</a:t>
                      </a:r>
                      <a:r>
                        <a:rPr lang="ko-KR" altLang="en-US" sz="1600" b="0" dirty="0"/>
                        <a:t>초 이내로 선택한 한 방향으로 사용자가 움직임</a:t>
                      </a:r>
                      <a:endParaRPr lang="en-US" altLang="ko-KR" sz="1600" b="0" dirty="0"/>
                    </a:p>
                    <a:p>
                      <a:pPr marL="342900" indent="-342900">
                        <a:buFontTx/>
                        <a:buAutoNum type="arabicPeriod"/>
                      </a:pPr>
                      <a:endParaRPr lang="en-US" altLang="ko-KR" sz="1600" b="1" dirty="0"/>
                    </a:p>
                    <a:p>
                      <a:pPr marL="0" indent="0">
                        <a:buFontTx/>
                        <a:buNone/>
                      </a:pPr>
                      <a:r>
                        <a:rPr lang="en-US" altLang="ko-KR" sz="1600" b="1" dirty="0"/>
                        <a:t>2. </a:t>
                      </a:r>
                      <a:r>
                        <a:rPr lang="ko-KR" altLang="en-US" sz="1600" b="1" dirty="0"/>
                        <a:t>카메라 중심좌표</a:t>
                      </a:r>
                      <a:r>
                        <a:rPr lang="ko-KR" altLang="en-US" sz="1600" b="0" dirty="0"/>
                        <a:t>를 기준으로 원을 그린다</a:t>
                      </a:r>
                      <a:r>
                        <a:rPr lang="en-US" altLang="ko-KR" sz="1600" b="0" dirty="0"/>
                        <a:t>.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US" altLang="ko-KR" sz="1600" b="0" dirty="0"/>
                        <a:t>3. </a:t>
                      </a:r>
                      <a:r>
                        <a:rPr lang="ko-KR" altLang="en-US" sz="1600" b="0" dirty="0"/>
                        <a:t>측정 상세 동작 추가</a:t>
                      </a:r>
                      <a:endParaRPr lang="en-US" altLang="ko-KR" sz="16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Tx/>
                        <a:buAutoNum type="arabicPeriod"/>
                      </a:pPr>
                      <a:r>
                        <a:rPr lang="ko-KR" altLang="en-US" sz="1600" dirty="0"/>
                        <a:t>실험 조건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이동 거리</a:t>
                      </a:r>
                      <a:r>
                        <a:rPr lang="en-US" altLang="ko-KR" sz="1600" dirty="0"/>
                        <a:t>·</a:t>
                      </a:r>
                      <a:r>
                        <a:rPr lang="ko-KR" altLang="en-US" sz="1600" dirty="0"/>
                        <a:t>방향</a:t>
                      </a:r>
                      <a:r>
                        <a:rPr lang="en-US" altLang="ko-KR" sz="1600" dirty="0"/>
                        <a:t>·</a:t>
                      </a:r>
                      <a:r>
                        <a:rPr lang="ko-KR" altLang="en-US" sz="1600" dirty="0"/>
                        <a:t>시간</a:t>
                      </a:r>
                      <a:r>
                        <a:rPr lang="en-US" altLang="ko-KR" sz="1600" dirty="0"/>
                        <a:t>)</a:t>
                      </a:r>
                      <a:r>
                        <a:rPr lang="ko-KR" altLang="en-US" sz="1600" dirty="0"/>
                        <a:t>을 명확히 정의하여</a:t>
                      </a:r>
                      <a:r>
                        <a:rPr lang="ko-KR" altLang="en-US" sz="1600" b="1" dirty="0"/>
                        <a:t> 재현성 및 일관성 강화</a:t>
                      </a:r>
                      <a:endParaRPr lang="en-US" altLang="ko-KR" sz="1600" b="1" dirty="0"/>
                    </a:p>
                    <a:p>
                      <a:pPr marL="342900" indent="-342900">
                        <a:buFontTx/>
                        <a:buAutoNum type="arabicPeriod"/>
                      </a:pPr>
                      <a:r>
                        <a:rPr lang="ko-KR" altLang="en-US" sz="1600" dirty="0"/>
                        <a:t>원의 기준 재정의</a:t>
                      </a:r>
                      <a:endParaRPr lang="en-US" altLang="ko-KR" sz="1600" dirty="0"/>
                    </a:p>
                    <a:p>
                      <a:pPr marL="342900" indent="-342900">
                        <a:buFontTx/>
                        <a:buAutoNum type="arabicPeriod"/>
                      </a:pPr>
                      <a:r>
                        <a:rPr lang="ko-KR" altLang="en-US" sz="1600" b="1" dirty="0" err="1"/>
                        <a:t>측정자</a:t>
                      </a:r>
                      <a:r>
                        <a:rPr lang="ko-KR" altLang="en-US" sz="1600" b="1" dirty="0"/>
                        <a:t> 간 오차 최소화</a:t>
                      </a:r>
                      <a:r>
                        <a:rPr lang="ko-KR" altLang="en-US" sz="1600" dirty="0"/>
                        <a:t>를 위한 동작 기준 통일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05464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7008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CB69D-C6A6-402F-4D7B-9C63CCD12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2">
            <a:extLst>
              <a:ext uri="{FF2B5EF4-FFF2-40B4-BE49-F238E27FC236}">
                <a16:creationId xmlns:a16="http://schemas.microsoft.com/office/drawing/2014/main" id="{1A127902-3336-C1F2-1C07-F2E5BABB5CDF}"/>
              </a:ext>
            </a:extLst>
          </p:cNvPr>
          <p:cNvSpPr txBox="1"/>
          <p:nvPr/>
        </p:nvSpPr>
        <p:spPr>
          <a:xfrm>
            <a:off x="3842478" y="4503386"/>
            <a:ext cx="10603044" cy="120609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ctr">
              <a:lnSpc>
                <a:spcPts val="10076"/>
              </a:lnSpc>
              <a:spcBef>
                <a:spcPct val="0"/>
              </a:spcBef>
              <a:defRPr/>
            </a:pPr>
            <a:r>
              <a:rPr lang="ko-KR" altLang="en-US" sz="7197" b="1" dirty="0">
                <a:solidFill>
                  <a:srgbClr val="090807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변경 후 평가지표</a:t>
            </a:r>
          </a:p>
        </p:txBody>
      </p:sp>
      <p:sp>
        <p:nvSpPr>
          <p:cNvPr id="14" name="AutoShape 6">
            <a:extLst>
              <a:ext uri="{FF2B5EF4-FFF2-40B4-BE49-F238E27FC236}">
                <a16:creationId xmlns:a16="http://schemas.microsoft.com/office/drawing/2014/main" id="{3FC4783B-43D9-20F4-19B0-107DEA7286F2}"/>
              </a:ext>
            </a:extLst>
          </p:cNvPr>
          <p:cNvSpPr/>
          <p:nvPr/>
        </p:nvSpPr>
        <p:spPr>
          <a:xfrm>
            <a:off x="0" y="9105900"/>
            <a:ext cx="18288000" cy="11113"/>
          </a:xfrm>
          <a:prstGeom prst="line">
            <a:avLst/>
          </a:prstGeom>
          <a:ln w="9525" cap="flat">
            <a:solidFill>
              <a:srgbClr val="090807"/>
            </a:solidFill>
            <a:prstDash val="solid"/>
            <a:headEnd w="sm" len="sm"/>
            <a:tailEnd w="sm" len="sm"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697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14">
            <a:extLst>
              <a:ext uri="{FF2B5EF4-FFF2-40B4-BE49-F238E27FC236}">
                <a16:creationId xmlns:a16="http://schemas.microsoft.com/office/drawing/2014/main" id="{E914257E-1E2A-4AC7-89EC-1FB65C9C0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16">
            <a:extLst>
              <a:ext uri="{FF2B5EF4-FFF2-40B4-BE49-F238E27FC236}">
                <a16:creationId xmlns:a16="http://schemas.microsoft.com/office/drawing/2014/main" id="{03E1C8F1-97F5-489C-8308-958F09657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"/>
            <a:ext cx="16904004" cy="3012958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0" name="Rect 0">
            <a:extLst>
              <a:ext uri="{FF2B5EF4-FFF2-40B4-BE49-F238E27FC236}">
                <a16:creationId xmlns:a16="http://schemas.microsoft.com/office/drawing/2014/main" id="{55649B53-8356-4888-B93C-E40C59EB2420}"/>
              </a:ext>
            </a:extLst>
          </p:cNvPr>
          <p:cNvSpPr txBox="1">
            <a:spLocks/>
          </p:cNvSpPr>
          <p:nvPr/>
        </p:nvSpPr>
        <p:spPr>
          <a:xfrm>
            <a:off x="1085851" y="571500"/>
            <a:ext cx="11473859" cy="1114427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rmAutofit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ko-KR" altLang="en-US" sz="4400" b="1" dirty="0">
                <a:latin typeface="+mj-lt"/>
                <a:ea typeface="+mj-ea"/>
                <a:cs typeface="+mj-cs"/>
                <a:sym typeface="Source Han Sans KR Bold"/>
              </a:rPr>
              <a:t>얼굴 재인식 시간 </a:t>
            </a:r>
            <a:r>
              <a:rPr lang="en-US" altLang="ko-KR" sz="4400" b="1" dirty="0">
                <a:latin typeface="+mj-lt"/>
                <a:ea typeface="+mj-ea"/>
                <a:cs typeface="+mj-cs"/>
                <a:sym typeface="Source Han Sans KR Bold"/>
              </a:rPr>
              <a:t>(</a:t>
            </a:r>
            <a:r>
              <a:rPr lang="ko-KR" altLang="en-US" sz="4400" dirty="0"/>
              <a:t>✅</a:t>
            </a:r>
            <a:r>
              <a:rPr lang="ko-KR" altLang="en-US" sz="4400" b="1" dirty="0">
                <a:latin typeface="+mj-lt"/>
                <a:ea typeface="+mj-ea"/>
                <a:cs typeface="+mj-cs"/>
                <a:sym typeface="Source Han Sans KR Bold"/>
              </a:rPr>
              <a:t>통과</a:t>
            </a:r>
            <a:r>
              <a:rPr lang="en-US" altLang="ko-KR" sz="4400" b="1" dirty="0">
                <a:latin typeface="+mj-lt"/>
                <a:ea typeface="+mj-ea"/>
                <a:cs typeface="+mj-cs"/>
                <a:sym typeface="Source Han Sans KR Bold"/>
              </a:rPr>
              <a:t>)</a:t>
            </a:r>
            <a:endParaRPr kumimoji="0" lang="ko-KR" altLang="en-US" sz="4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  <a:sym typeface="Source Han Sans KR Bold"/>
            </a:endParaRPr>
          </a:p>
        </p:txBody>
      </p:sp>
      <p:sp>
        <p:nvSpPr>
          <p:cNvPr id="29" name="Freeform: Shape 18">
            <a:extLst>
              <a:ext uri="{FF2B5EF4-FFF2-40B4-BE49-F238E27FC236}">
                <a16:creationId xmlns:a16="http://schemas.microsoft.com/office/drawing/2014/main" id="{DEB62645-D4DA-4E99-8344-B1536F63D1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0632" y="9416956"/>
            <a:ext cx="10327368" cy="870045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1" name="표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0213815"/>
              </p:ext>
            </p:extLst>
          </p:nvPr>
        </p:nvGraphicFramePr>
        <p:xfrm>
          <a:off x="2286000" y="2939262"/>
          <a:ext cx="14425685" cy="4784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2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529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5218"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ore-KR" altLang="en-US" sz="1600" b="0" i="0" dirty="0">
                          <a:solidFill>
                            <a:schemeClr val="bg1"/>
                          </a:solidFill>
                          <a:latin typeface="Gmarket Sans Medium"/>
                          <a:ea typeface="Gmarket Sans Medium"/>
                        </a:rPr>
                        <a:t>지표</a:t>
                      </a:r>
                      <a:r>
                        <a:rPr lang="ko-KR" altLang="en-US" sz="1600" b="0" i="0">
                          <a:solidFill>
                            <a:schemeClr val="bg1"/>
                          </a:solidFill>
                          <a:latin typeface="Gmarket Sans Medium"/>
                          <a:ea typeface="Gmarket Sans Medium"/>
                        </a:rPr>
                        <a:t> 정의</a:t>
                      </a:r>
                      <a:endParaRPr lang="ko-Kore-KR" altLang="en-US" sz="1600" b="0" i="0" dirty="0">
                        <a:solidFill>
                          <a:schemeClr val="bg1"/>
                        </a:solidFill>
                        <a:latin typeface="Gmarket Sans Medium"/>
                        <a:ea typeface="Gmarket Sans Medium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600" b="0" i="0" dirty="0">
                          <a:solidFill>
                            <a:srgbClr val="000000"/>
                          </a:solidFill>
                          <a:latin typeface="Gmarket Sans Medium"/>
                          <a:ea typeface="Gmarket Sans Medium"/>
                        </a:rPr>
                        <a:t>움직이는</a:t>
                      </a:r>
                      <a:r>
                        <a:rPr lang="en-US" altLang="ko-KR" sz="1600" b="0" i="0" dirty="0">
                          <a:solidFill>
                            <a:srgbClr val="000000"/>
                          </a:solidFill>
                          <a:latin typeface="Gmarket Sans Medium"/>
                          <a:ea typeface="Gmarket Sans Medium"/>
                        </a:rPr>
                        <a:t> </a:t>
                      </a:r>
                      <a:r>
                        <a:rPr lang="ko-KR" altLang="en-US" sz="1600" b="0" i="0" dirty="0">
                          <a:solidFill>
                            <a:srgbClr val="000000"/>
                          </a:solidFill>
                          <a:latin typeface="Gmarket Sans Medium"/>
                          <a:ea typeface="Gmarket Sans Medium"/>
                        </a:rPr>
                        <a:t>사용자의 얼굴을 </a:t>
                      </a:r>
                      <a:r>
                        <a:rPr lang="ko-KR" altLang="en-US" sz="1600" b="0" i="0" dirty="0" err="1">
                          <a:solidFill>
                            <a:srgbClr val="000000"/>
                          </a:solidFill>
                          <a:latin typeface="Gmarket Sans Medium"/>
                          <a:ea typeface="Gmarket Sans Medium"/>
                        </a:rPr>
                        <a:t>로봇팔이</a:t>
                      </a:r>
                      <a:r>
                        <a:rPr lang="ko-KR" altLang="en-US" sz="1600" b="0" i="0" dirty="0">
                          <a:solidFill>
                            <a:srgbClr val="000000"/>
                          </a:solidFill>
                          <a:latin typeface="Gmarket Sans Medium"/>
                          <a:ea typeface="Gmarket Sans Medium"/>
                        </a:rPr>
                        <a:t> 빠르게 추적하여 다시 얼굴이 인식되기까지 걸리는 시간</a:t>
                      </a:r>
                      <a:endParaRPr lang="ko-Kore-KR" altLang="en-US" sz="1600" b="0" i="0" dirty="0">
                        <a:latin typeface="Gmarket Sans Medium"/>
                        <a:ea typeface="Gmarket Sans Medium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57798"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ore-KR" altLang="en-US" sz="1600" b="0" i="0" dirty="0">
                          <a:solidFill>
                            <a:schemeClr val="bg1"/>
                          </a:solidFill>
                          <a:latin typeface="Gmarket Sans Medium"/>
                          <a:ea typeface="Gmarket Sans Medium"/>
                        </a:rPr>
                        <a:t>측정</a:t>
                      </a:r>
                      <a:r>
                        <a:rPr lang="ko-KR" altLang="en-US" sz="1600" b="0" i="0">
                          <a:solidFill>
                            <a:schemeClr val="bg1"/>
                          </a:solidFill>
                          <a:latin typeface="Gmarket Sans Medium"/>
                          <a:ea typeface="Gmarket Sans Medium"/>
                        </a:rPr>
                        <a:t> 방법</a:t>
                      </a:r>
                      <a:endParaRPr lang="ko-Kore-KR" altLang="en-US" sz="1600" b="0" i="0" dirty="0">
                        <a:solidFill>
                          <a:schemeClr val="bg1"/>
                        </a:solidFill>
                        <a:latin typeface="Gmarket Sans Medium"/>
                        <a:ea typeface="Gmarket Sans Medium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en-US" sz="1600" b="1" dirty="0">
                          <a:effectLst/>
                        </a:rPr>
                        <a:t>이동 방향</a:t>
                      </a:r>
                      <a:r>
                        <a:rPr lang="en-US" altLang="ko-KR" sz="1600" dirty="0"/>
                        <a:t>: </a:t>
                      </a:r>
                      <a:r>
                        <a:rPr lang="ko-KR" altLang="en-US" sz="1600" dirty="0"/>
                        <a:t>아래 중 </a:t>
                      </a:r>
                      <a:r>
                        <a:rPr lang="en-US" altLang="ko-KR" sz="1600" dirty="0"/>
                        <a:t>1</a:t>
                      </a:r>
                      <a:r>
                        <a:rPr lang="ko-KR" altLang="en-US" sz="1600" dirty="0"/>
                        <a:t>개 선택 </a:t>
                      </a:r>
                      <a:br>
                        <a:rPr lang="en-US" altLang="ko-KR" sz="1600" dirty="0"/>
                      </a:br>
                      <a:endParaRPr lang="en-US" altLang="ko-KR" sz="1600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600" b="1" dirty="0">
                          <a:effectLst/>
                        </a:rPr>
                        <a:t>수평</a:t>
                      </a:r>
                      <a:r>
                        <a:rPr lang="en-US" altLang="ko-KR" sz="1600" b="1" dirty="0">
                          <a:effectLst/>
                        </a:rPr>
                        <a:t>(</a:t>
                      </a:r>
                      <a:r>
                        <a:rPr lang="ko-KR" altLang="en-US" sz="1600" b="1" dirty="0">
                          <a:effectLst/>
                        </a:rPr>
                        <a:t>좌</a:t>
                      </a:r>
                      <a:r>
                        <a:rPr lang="en-US" altLang="ko-KR" sz="1600" b="1" dirty="0">
                          <a:effectLst/>
                        </a:rPr>
                        <a:t>/</a:t>
                      </a:r>
                      <a:r>
                        <a:rPr lang="ko-KR" altLang="en-US" sz="1600" b="1" dirty="0">
                          <a:effectLst/>
                        </a:rPr>
                        <a:t>우</a:t>
                      </a:r>
                      <a:r>
                        <a:rPr lang="en-US" altLang="ko-KR" sz="1600" b="1" dirty="0">
                          <a:effectLst/>
                        </a:rPr>
                        <a:t>)</a:t>
                      </a:r>
                      <a:r>
                        <a:rPr lang="en-US" altLang="ko-KR" sz="1600" dirty="0"/>
                        <a:t>: ±1.0 m 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600" b="1" dirty="0">
                          <a:effectLst/>
                        </a:rPr>
                        <a:t>수직</a:t>
                      </a:r>
                      <a:r>
                        <a:rPr lang="en-US" altLang="ko-KR" sz="1600" b="1" dirty="0">
                          <a:effectLst/>
                        </a:rPr>
                        <a:t>(</a:t>
                      </a:r>
                      <a:r>
                        <a:rPr lang="ko-KR" altLang="en-US" sz="1600" b="1" dirty="0">
                          <a:effectLst/>
                        </a:rPr>
                        <a:t>상</a:t>
                      </a:r>
                      <a:r>
                        <a:rPr lang="en-US" altLang="ko-KR" sz="1600" b="1" dirty="0">
                          <a:effectLst/>
                        </a:rPr>
                        <a:t>/</a:t>
                      </a:r>
                      <a:r>
                        <a:rPr lang="ko-KR" altLang="en-US" sz="1600" b="1" dirty="0">
                          <a:effectLst/>
                        </a:rPr>
                        <a:t>하</a:t>
                      </a:r>
                      <a:r>
                        <a:rPr lang="en-US" altLang="ko-KR" sz="1600" b="1" dirty="0">
                          <a:effectLst/>
                        </a:rPr>
                        <a:t>)</a:t>
                      </a:r>
                      <a:r>
                        <a:rPr lang="en-US" altLang="ko-KR" sz="1600" dirty="0"/>
                        <a:t>: ±0.50 m 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600" b="1" dirty="0">
                          <a:effectLst/>
                        </a:rPr>
                        <a:t>대각선</a:t>
                      </a:r>
                      <a:r>
                        <a:rPr lang="en-US" altLang="ko-KR" sz="1600" b="1" dirty="0">
                          <a:effectLst/>
                        </a:rPr>
                        <a:t>(</a:t>
                      </a:r>
                      <a:r>
                        <a:rPr lang="ko-KR" altLang="en-US" sz="16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↖↘</a:t>
                      </a:r>
                      <a:r>
                        <a:rPr lang="en-US" altLang="ko-KR" sz="1600" b="1" dirty="0">
                          <a:effectLst/>
                        </a:rPr>
                        <a:t>, </a:t>
                      </a:r>
                      <a:r>
                        <a:rPr lang="ko-KR" altLang="en-US" sz="16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↗↙</a:t>
                      </a:r>
                      <a:r>
                        <a:rPr lang="en-US" altLang="ko-KR" sz="1600" b="1" dirty="0">
                          <a:effectLst/>
                        </a:rPr>
                        <a:t>)</a:t>
                      </a:r>
                      <a:r>
                        <a:rPr lang="en-US" altLang="ko-KR" sz="1600" dirty="0"/>
                        <a:t>: </a:t>
                      </a:r>
                      <a:r>
                        <a:rPr lang="ko-KR" altLang="en-US" sz="1600" dirty="0"/>
                        <a:t>경로 길이 기준 </a:t>
                      </a:r>
                      <a:r>
                        <a:rPr lang="en-US" altLang="ko-KR" sz="1600" dirty="0"/>
                        <a:t>±0.70 m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600" b="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600" b="1" dirty="0">
                          <a:effectLst/>
                        </a:rPr>
                        <a:t>2. </a:t>
                      </a:r>
                      <a:r>
                        <a:rPr lang="ko-KR" altLang="en-US" sz="1600" b="1" dirty="0">
                          <a:effectLst/>
                        </a:rPr>
                        <a:t>이동속도</a:t>
                      </a:r>
                      <a:r>
                        <a:rPr lang="en-US" altLang="ko-KR" sz="1600" dirty="0"/>
                        <a:t>: </a:t>
                      </a:r>
                      <a:r>
                        <a:rPr lang="ko-KR" altLang="en-US" sz="1600" dirty="0"/>
                        <a:t>선택하는 이동방향 중 한 방향으로 모두 </a:t>
                      </a:r>
                      <a:r>
                        <a:rPr lang="en-US" altLang="ko-KR" sz="1600" b="1" dirty="0">
                          <a:effectLst/>
                        </a:rPr>
                        <a:t>2</a:t>
                      </a:r>
                      <a:r>
                        <a:rPr lang="ko-KR" altLang="en-US" sz="1600" b="1" dirty="0">
                          <a:effectLst/>
                        </a:rPr>
                        <a:t>초 이내로</a:t>
                      </a:r>
                      <a:r>
                        <a:rPr lang="ko-KR" altLang="en-US" sz="1600" dirty="0"/>
                        <a:t> 이동 </a:t>
                      </a:r>
                      <a:br>
                        <a:rPr lang="en-US" altLang="ko-KR" sz="1600" dirty="0"/>
                      </a:br>
                      <a:r>
                        <a:rPr lang="en-US" altLang="ko-KR" sz="1600" b="1" dirty="0">
                          <a:effectLst/>
                        </a:rPr>
                        <a:t>3. </a:t>
                      </a:r>
                      <a:r>
                        <a:rPr lang="ko-KR" altLang="en-US" sz="1600" dirty="0" err="1"/>
                        <a:t>로봇팔이</a:t>
                      </a:r>
                      <a:r>
                        <a:rPr lang="ko-KR" altLang="en-US" sz="1600" dirty="0"/>
                        <a:t> 사용자의 움직임을 추종 </a:t>
                      </a:r>
                      <a:br>
                        <a:rPr lang="en-US" altLang="ko-KR" sz="1600" dirty="0"/>
                      </a:br>
                      <a:r>
                        <a:rPr lang="en-US" altLang="ko-KR" sz="1600" b="1" dirty="0">
                          <a:effectLst/>
                        </a:rPr>
                        <a:t>4. </a:t>
                      </a:r>
                      <a:r>
                        <a:rPr lang="ko-KR" altLang="en-US" sz="1600" b="1" dirty="0">
                          <a:effectLst/>
                        </a:rPr>
                        <a:t>계측 구간</a:t>
                      </a:r>
                      <a:r>
                        <a:rPr lang="en-US" altLang="ko-KR" sz="1600" b="1" dirty="0">
                          <a:effectLst/>
                        </a:rPr>
                        <a:t>: </a:t>
                      </a:r>
                      <a:r>
                        <a:rPr lang="ko-KR" altLang="en-US" sz="1600" b="0" dirty="0">
                          <a:effectLst/>
                        </a:rPr>
                        <a:t>이동 시작</a:t>
                      </a:r>
                      <a:r>
                        <a:rPr lang="en-US" altLang="ko-KR" sz="1600" b="0" dirty="0">
                          <a:effectLst/>
                        </a:rPr>
                        <a:t>(</a:t>
                      </a:r>
                      <a:r>
                        <a:rPr lang="ko-KR" altLang="en-US" sz="1600" b="0" dirty="0">
                          <a:effectLst/>
                        </a:rPr>
                        <a:t>또는 최초 검출 끊김</a:t>
                      </a:r>
                      <a:r>
                        <a:rPr lang="en-US" altLang="ko-KR" sz="1600" b="0" dirty="0">
                          <a:effectLst/>
                        </a:rPr>
                        <a:t>) → </a:t>
                      </a:r>
                      <a:r>
                        <a:rPr lang="ko-KR" altLang="en-US" sz="1600" b="0" dirty="0">
                          <a:effectLst/>
                        </a:rPr>
                        <a:t>얼굴이 다시 인식되는 첫 프레임까지의 시간</a:t>
                      </a:r>
                      <a:endParaRPr lang="ko-KR" altLang="en-US" sz="16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6216"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ore-KR" altLang="en-US" sz="1600" b="0" i="0" dirty="0">
                          <a:solidFill>
                            <a:schemeClr val="bg1"/>
                          </a:solidFill>
                          <a:latin typeface="Gmarket Sans Medium"/>
                          <a:ea typeface="Gmarket Sans Medium"/>
                        </a:rPr>
                        <a:t>목표</a:t>
                      </a:r>
                      <a:r>
                        <a:rPr lang="en-US" altLang="en-US" sz="1600" b="0" i="0" dirty="0">
                          <a:solidFill>
                            <a:schemeClr val="bg1"/>
                          </a:solidFill>
                          <a:latin typeface="Gmarket Sans Medium"/>
                          <a:ea typeface="Gmarket Sans Medium"/>
                        </a:rPr>
                        <a:t> </a:t>
                      </a:r>
                      <a:r>
                        <a:rPr lang="ko-KR" altLang="en-US" sz="1600" b="0" i="0" dirty="0">
                          <a:solidFill>
                            <a:schemeClr val="bg1"/>
                          </a:solidFill>
                          <a:latin typeface="Gmarket Sans Medium"/>
                          <a:ea typeface="Gmarket Sans Medium"/>
                        </a:rPr>
                        <a:t>수치</a:t>
                      </a:r>
                      <a:endParaRPr lang="ko-Kore-KR" altLang="en-US" sz="1600" b="0" i="0" dirty="0">
                        <a:solidFill>
                          <a:schemeClr val="bg1"/>
                        </a:solidFill>
                        <a:latin typeface="Gmarket Sans Medium"/>
                        <a:ea typeface="Gmarket Sans Medium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600" dirty="0"/>
                        <a:t>얼굴 재인식 시간 ≤ </a:t>
                      </a:r>
                      <a:r>
                        <a:rPr lang="en-US" altLang="ko-KR" sz="1600" dirty="0"/>
                        <a:t>2</a:t>
                      </a:r>
                      <a:r>
                        <a:rPr lang="ko-KR" altLang="en-US" sz="1600" dirty="0"/>
                        <a:t>초</a:t>
                      </a:r>
                      <a:endParaRPr lang="en-US" altLang="ko-KR" sz="1600" b="0" i="0" dirty="0">
                        <a:solidFill>
                          <a:srgbClr val="000000"/>
                        </a:solidFill>
                        <a:latin typeface="Gmarket Sans Medium"/>
                        <a:ea typeface="Gmarket Sans Medium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8179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14">
            <a:extLst>
              <a:ext uri="{FF2B5EF4-FFF2-40B4-BE49-F238E27FC236}">
                <a16:creationId xmlns:a16="http://schemas.microsoft.com/office/drawing/2014/main" id="{E914257E-1E2A-4AC7-89EC-1FB65C9C0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Freeform: Shape 16">
            <a:extLst>
              <a:ext uri="{FF2B5EF4-FFF2-40B4-BE49-F238E27FC236}">
                <a16:creationId xmlns:a16="http://schemas.microsoft.com/office/drawing/2014/main" id="{03E1C8F1-97F5-489C-8308-958F09657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"/>
            <a:ext cx="16904004" cy="3012958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 0">
            <a:extLst>
              <a:ext uri="{FF2B5EF4-FFF2-40B4-BE49-F238E27FC236}">
                <a16:creationId xmlns:a16="http://schemas.microsoft.com/office/drawing/2014/main" id="{55649B53-8356-4888-B93C-E40C59EB2420}"/>
              </a:ext>
            </a:extLst>
          </p:cNvPr>
          <p:cNvSpPr txBox="1">
            <a:spLocks/>
          </p:cNvSpPr>
          <p:nvPr/>
        </p:nvSpPr>
        <p:spPr>
          <a:xfrm>
            <a:off x="1085851" y="612345"/>
            <a:ext cx="8667749" cy="1114427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4400" b="1" dirty="0" err="1">
                <a:solidFill>
                  <a:prstClr val="black"/>
                </a:solidFill>
                <a:latin typeface="Calibri"/>
                <a:ea typeface="맑은 고딕" panose="020B0503020000020004" pitchFamily="50" charset="-127"/>
                <a:sym typeface="Source Han Sans KR Bold"/>
              </a:rPr>
              <a:t>로봇팔</a:t>
            </a:r>
            <a:r>
              <a:rPr lang="ko-KR" altLang="en-US" sz="4400" b="1" dirty="0">
                <a:solidFill>
                  <a:prstClr val="black"/>
                </a:solidFill>
                <a:latin typeface="Calibri"/>
                <a:ea typeface="맑은 고딕" panose="020B0503020000020004" pitchFamily="50" charset="-127"/>
                <a:sym typeface="Source Han Sans KR Bold"/>
              </a:rPr>
              <a:t> 추적 안정성 측정</a:t>
            </a:r>
            <a:endParaRPr kumimoji="0" lang="ko-KR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  <a:sym typeface="Source Han Sans KR Bold"/>
            </a:endParaRPr>
          </a:p>
        </p:txBody>
      </p:sp>
      <p:sp>
        <p:nvSpPr>
          <p:cNvPr id="29" name="Freeform: Shape 18">
            <a:extLst>
              <a:ext uri="{FF2B5EF4-FFF2-40B4-BE49-F238E27FC236}">
                <a16:creationId xmlns:a16="http://schemas.microsoft.com/office/drawing/2014/main" id="{DEB62645-D4DA-4E99-8344-B1536F63D1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0632" y="9416956"/>
            <a:ext cx="10327368" cy="870045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D3E2BEFD-07CF-4E75-917E-044D0B0F73D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99178375"/>
                  </p:ext>
                </p:extLst>
              </p:nvPr>
            </p:nvGraphicFramePr>
            <p:xfrm>
              <a:off x="2209800" y="3467100"/>
              <a:ext cx="14400000" cy="45014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966585">
                      <a:extLst>
                        <a:ext uri="{9D8B030D-6E8A-4147-A177-3AD203B41FA5}">
                          <a16:colId xmlns:a16="http://schemas.microsoft.com/office/drawing/2014/main" val="2575403687"/>
                        </a:ext>
                      </a:extLst>
                    </a:gridCol>
                    <a:gridCol w="11433415">
                      <a:extLst>
                        <a:ext uri="{9D8B030D-6E8A-4147-A177-3AD203B41FA5}">
                          <a16:colId xmlns:a16="http://schemas.microsoft.com/office/drawing/2014/main" val="2123895445"/>
                        </a:ext>
                      </a:extLst>
                    </a:gridCol>
                  </a:tblGrid>
                  <a:tr h="3797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o-Kore-KR" altLang="en-US" sz="1600" b="0" i="0" dirty="0">
                              <a:solidFill>
                                <a:schemeClr val="bg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지표</a:t>
                          </a:r>
                          <a:r>
                            <a:rPr lang="ko-KR" altLang="en-US" sz="1600" b="0" i="0" dirty="0">
                              <a:solidFill>
                                <a:schemeClr val="bg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 정의</a:t>
                          </a:r>
                          <a:endParaRPr lang="ko-Kore-KR" altLang="en-US" sz="1600" b="0" i="0" dirty="0">
                            <a:solidFill>
                              <a:schemeClr val="bg1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o-KR" altLang="en-US" sz="1600" b="0" i="0" dirty="0">
                              <a:solidFill>
                                <a:srgbClr val="000000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이동 사용자를 추적하는 </a:t>
                          </a:r>
                          <a:r>
                            <a:rPr lang="ko-KR" altLang="en-US" sz="1600" b="0" i="0" dirty="0" err="1">
                              <a:solidFill>
                                <a:srgbClr val="000000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로봇팔</a:t>
                          </a:r>
                          <a:r>
                            <a:rPr lang="ko-KR" altLang="en-US" sz="1600" b="0" i="0" dirty="0">
                              <a:solidFill>
                                <a:srgbClr val="000000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 흔들림 정도 측정</a:t>
                          </a:r>
                          <a:endParaRPr lang="ko-Kore-KR" altLang="en-US" sz="1600" b="0" i="0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39426847"/>
                      </a:ext>
                    </a:extLst>
                  </a:tr>
                  <a:tr h="2403582">
                    <a:tc>
                      <a:txBody>
                        <a:bodyPr/>
                        <a:lstStyle/>
                        <a:p>
                          <a:pPr marL="0" indent="0" algn="ctr">
                            <a:buFont typeface="+mj-lt"/>
                            <a:buNone/>
                          </a:pPr>
                          <a:r>
                            <a:rPr lang="ko-Kore-KR" altLang="en-US" sz="1600" b="0" i="0" dirty="0">
                              <a:solidFill>
                                <a:schemeClr val="bg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측정</a:t>
                          </a:r>
                          <a:r>
                            <a:rPr lang="ko-KR" altLang="en-US" sz="1600" b="0" i="0" dirty="0">
                              <a:solidFill>
                                <a:schemeClr val="bg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 방법</a:t>
                          </a:r>
                          <a:endParaRPr lang="ko-Kore-KR" altLang="en-US" sz="1600" b="0" i="0" dirty="0">
                            <a:solidFill>
                              <a:schemeClr val="bg1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42900" indent="-342900" algn="l">
                            <a:lnSpc>
                              <a:spcPct val="150000"/>
                            </a:lnSpc>
                            <a:buFont typeface="+mj-lt"/>
                            <a:buAutoNum type="arabicPeriod"/>
                          </a:pPr>
                          <a:r>
                            <a:rPr lang="ko-KR" altLang="en-US" sz="1600" b="1" dirty="0">
                              <a:effectLst/>
                            </a:rPr>
                            <a:t>이동 방향</a:t>
                          </a:r>
                          <a:r>
                            <a:rPr lang="en-US" altLang="ko-KR" sz="1600" dirty="0">
                              <a:effectLst/>
                            </a:rPr>
                            <a:t>: </a:t>
                          </a:r>
                          <a:r>
                            <a:rPr lang="ko-KR" altLang="en-US" sz="1600" dirty="0">
                              <a:effectLst/>
                            </a:rPr>
                            <a:t>아래 중 </a:t>
                          </a:r>
                          <a:r>
                            <a:rPr lang="en-US" altLang="ko-KR" sz="1600" dirty="0">
                              <a:effectLst/>
                            </a:rPr>
                            <a:t>1</a:t>
                          </a:r>
                          <a:r>
                            <a:rPr lang="ko-KR" altLang="en-US" sz="1600" dirty="0">
                              <a:effectLst/>
                            </a:rPr>
                            <a:t>개 선택 </a:t>
                          </a:r>
                          <a:endParaRPr lang="en-US" altLang="ko-KR" sz="1600" dirty="0">
                            <a:effectLst/>
                          </a:endParaRPr>
                        </a:p>
                        <a:p>
                          <a:pPr marL="0" indent="0" algn="l">
                            <a:lnSpc>
                              <a:spcPct val="150000"/>
                            </a:lnSpc>
                            <a:buFont typeface="+mj-lt"/>
                            <a:buNone/>
                          </a:pPr>
                          <a:endParaRPr lang="en-US" altLang="ko-KR" sz="1600" dirty="0">
                            <a:effectLst/>
                          </a:endParaRPr>
                        </a:p>
                        <a:p>
                          <a:pPr marL="285750" indent="-285750" algn="l">
                            <a:lnSpc>
                              <a:spcPct val="150000"/>
                            </a:lnSpc>
                            <a:buFont typeface="Arial" panose="020B0604020202020204" pitchFamily="34" charset="0"/>
                            <a:buChar char="•"/>
                          </a:pPr>
                          <a:r>
                            <a:rPr lang="ko-KR" altLang="en-US" sz="1600" b="1" dirty="0">
                              <a:effectLst/>
                            </a:rPr>
                            <a:t>수평</a:t>
                          </a:r>
                          <a:r>
                            <a:rPr lang="en-US" altLang="ko-KR" sz="1600" b="1" dirty="0">
                              <a:effectLst/>
                            </a:rPr>
                            <a:t>(</a:t>
                          </a:r>
                          <a:r>
                            <a:rPr lang="ko-KR" altLang="en-US" sz="1600" b="1" dirty="0">
                              <a:effectLst/>
                            </a:rPr>
                            <a:t>좌</a:t>
                          </a:r>
                          <a:r>
                            <a:rPr lang="en-US" altLang="ko-KR" sz="1600" b="1" dirty="0">
                              <a:effectLst/>
                            </a:rPr>
                            <a:t>/</a:t>
                          </a:r>
                          <a:r>
                            <a:rPr lang="ko-KR" altLang="en-US" sz="1600" b="1" dirty="0">
                              <a:effectLst/>
                            </a:rPr>
                            <a:t>우</a:t>
                          </a:r>
                          <a:r>
                            <a:rPr lang="en-US" altLang="ko-KR" sz="1600" b="1" dirty="0">
                              <a:effectLst/>
                            </a:rPr>
                            <a:t>)</a:t>
                          </a:r>
                          <a:r>
                            <a:rPr lang="en-US" altLang="ko-KR" sz="1600" dirty="0">
                              <a:effectLst/>
                            </a:rPr>
                            <a:t>: ±30cm </a:t>
                          </a:r>
                        </a:p>
                        <a:p>
                          <a:pPr marL="285750" indent="-285750" algn="l">
                            <a:lnSpc>
                              <a:spcPct val="150000"/>
                            </a:lnSpc>
                            <a:buFont typeface="Arial" panose="020B0604020202020204" pitchFamily="34" charset="0"/>
                            <a:buChar char="•"/>
                          </a:pPr>
                          <a:r>
                            <a:rPr lang="ko-KR" altLang="en-US" sz="1600" b="1" dirty="0">
                              <a:effectLst/>
                            </a:rPr>
                            <a:t>수직</a:t>
                          </a:r>
                          <a:r>
                            <a:rPr lang="en-US" altLang="ko-KR" sz="1600" b="1" dirty="0">
                              <a:effectLst/>
                            </a:rPr>
                            <a:t>(</a:t>
                          </a:r>
                          <a:r>
                            <a:rPr lang="ko-KR" altLang="en-US" sz="1600" b="1" dirty="0">
                              <a:effectLst/>
                            </a:rPr>
                            <a:t>상</a:t>
                          </a:r>
                          <a:r>
                            <a:rPr lang="en-US" altLang="ko-KR" sz="1600" b="1" dirty="0">
                              <a:effectLst/>
                            </a:rPr>
                            <a:t>/</a:t>
                          </a:r>
                          <a:r>
                            <a:rPr lang="ko-KR" altLang="en-US" sz="1600" b="1" dirty="0">
                              <a:effectLst/>
                            </a:rPr>
                            <a:t>하</a:t>
                          </a:r>
                          <a:r>
                            <a:rPr lang="en-US" altLang="ko-KR" sz="1600" b="1" dirty="0">
                              <a:effectLst/>
                            </a:rPr>
                            <a:t>)</a:t>
                          </a:r>
                          <a:r>
                            <a:rPr lang="en-US" altLang="ko-KR" sz="1600" dirty="0">
                              <a:effectLst/>
                            </a:rPr>
                            <a:t>: ±30cm </a:t>
                          </a:r>
                        </a:p>
                        <a:p>
                          <a:pPr marL="0" indent="0" algn="l">
                            <a:lnSpc>
                              <a:spcPct val="150000"/>
                            </a:lnSpc>
                            <a:buFont typeface="+mj-lt"/>
                            <a:buNone/>
                          </a:pPr>
                          <a:br>
                            <a:rPr lang="en-US" altLang="ko-KR" sz="1600" dirty="0">
                              <a:effectLst/>
                            </a:rPr>
                          </a:br>
                          <a:r>
                            <a:rPr lang="en-US" altLang="ko-KR" sz="1600" dirty="0">
                              <a:effectLst/>
                            </a:rPr>
                            <a:t>2. 3</a:t>
                          </a:r>
                          <a:r>
                            <a:rPr lang="ko-KR" altLang="en-US" sz="1600" dirty="0">
                              <a:effectLst/>
                            </a:rPr>
                            <a:t>초 이내로 선택한 한 방향으로 사용자가 움직</a:t>
                          </a:r>
                          <a:r>
                            <a:rPr lang="ko-KR" altLang="en-US" sz="1600" dirty="0"/>
                            <a:t>임 </a:t>
                          </a:r>
                          <a:br>
                            <a:rPr lang="en-US" altLang="ko-KR" sz="1600" dirty="0"/>
                          </a:br>
                          <a:r>
                            <a:rPr lang="en-US" altLang="ko-KR" sz="1600" dirty="0"/>
                            <a:t>3.</a:t>
                          </a:r>
                          <a:r>
                            <a:rPr lang="ko-KR" altLang="en-US" sz="1600" dirty="0"/>
                            <a:t>각 프레임 단위로 얼굴 중심 좌표를 획득한다</a:t>
                          </a:r>
                          <a:r>
                            <a:rPr lang="en-US" altLang="ko-KR" sz="1600" dirty="0"/>
                            <a:t>. </a:t>
                          </a:r>
                          <a:br>
                            <a:rPr lang="en-US" altLang="ko-KR" sz="1600" dirty="0"/>
                          </a:br>
                          <a:r>
                            <a:rPr lang="en-US" altLang="ko-KR" sz="1600" dirty="0"/>
                            <a:t>4.</a:t>
                          </a:r>
                          <a:r>
                            <a:rPr lang="ko-KR" altLang="en-US" sz="1600" dirty="0"/>
                            <a:t>연속된 두 프레임의 좌표 차이를 계산하여 이동 벡터 크기를 구한다 </a:t>
                          </a:r>
                          <a:br>
                            <a:rPr lang="en-US" altLang="ko-KR" sz="1600" dirty="0"/>
                          </a:b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 =  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altLang="ko-KR" sz="16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sSupPr>
                                        <m:ctrlPr>
                                          <a:rPr lang="en-US" altLang="ko-KR" sz="160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altLang="ko-KR" sz="1600" i="1" dirty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1600" i="0" dirty="0" err="1" smtClean="0">
                                                <a:latin typeface="Cambria Math" panose="02040503050406030204" pitchFamily="18" charset="0"/>
                                              </a:rPr>
                                              <m:t>Δ</m:t>
                                            </m:r>
                                            <m:r>
                                              <a:rPr lang="en-US" altLang="ko-KR" sz="1600" i="1" dirty="0" err="1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altLang="ko-KR" sz="1600" i="1" dirty="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altLang="ko-KR" sz="1600" i="1" dirty="0" smtClean="0">
                                        <a:latin typeface="Cambria Math" panose="02040503050406030204" pitchFamily="18" charset="0"/>
                                      </a:rPr>
                                      <m:t>+ </m:t>
                                    </m:r>
                                    <m:sSup>
                                      <m:sSupPr>
                                        <m:ctrlPr>
                                          <a:rPr lang="en-US" altLang="ko-KR" sz="160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altLang="ko-KR" sz="1600" i="1" dirty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1600" i="0" dirty="0" err="1" smtClean="0">
                                                <a:latin typeface="Cambria Math" panose="02040503050406030204" pitchFamily="18" charset="0"/>
                                              </a:rPr>
                                              <m:t>Δ</m:t>
                                            </m:r>
                                            <m:r>
                                              <a:rPr lang="en-US" altLang="ko-KR" sz="1600" i="1" dirty="0" err="1" smtClean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altLang="ko-KR" sz="1600" i="1" dirty="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</m:oMath>
                            </m:oMathPara>
                          </a14:m>
                          <a:br>
                            <a:rPr lang="en-US" altLang="ko-KR" sz="1600" dirty="0"/>
                          </a:br>
                          <a:r>
                            <a:rPr lang="en-US" altLang="ko-KR" sz="1600" dirty="0"/>
                            <a:t>5.  </a:t>
                          </a:r>
                          <a:r>
                            <a:rPr lang="ko-KR" altLang="en-US" sz="1600" dirty="0"/>
                            <a:t>벡터 크기가 </a:t>
                          </a:r>
                          <a:r>
                            <a:rPr lang="en-US" altLang="ko-KR" sz="1600" dirty="0">
                              <a:solidFill>
                                <a:srgbClr val="FF0000"/>
                              </a:solidFill>
                            </a:rPr>
                            <a:t>20px</a:t>
                          </a:r>
                          <a:r>
                            <a:rPr lang="en-US" altLang="ko-KR" sz="1600" dirty="0"/>
                            <a:t> </a:t>
                          </a:r>
                          <a:r>
                            <a:rPr lang="ko-KR" altLang="en-US" sz="1600" dirty="0"/>
                            <a:t>이하인 프레임을 구한 후 전체 프레임 수 대비 비율을 계산한다</a:t>
                          </a:r>
                          <a:r>
                            <a:rPr lang="en-US" altLang="ko-KR" sz="1600" dirty="0"/>
                            <a:t>.</a:t>
                          </a:r>
                          <a:endParaRPr lang="ko-Kore-KR" alt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46964466"/>
                      </a:ext>
                    </a:extLst>
                  </a:tr>
                  <a:tr h="32301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o-Kore-KR" altLang="en-US" sz="1600" b="0" i="0" dirty="0">
                              <a:solidFill>
                                <a:schemeClr val="bg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목표</a:t>
                          </a:r>
                          <a:r>
                            <a:rPr lang="en-US" altLang="en-US" sz="1600" b="0" i="0" dirty="0">
                              <a:solidFill>
                                <a:schemeClr val="bg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 </a:t>
                          </a:r>
                          <a:r>
                            <a:rPr lang="ko-KR" altLang="en-US" sz="1600" b="0" i="0" dirty="0">
                              <a:solidFill>
                                <a:schemeClr val="bg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수치</a:t>
                          </a:r>
                          <a:endParaRPr lang="ko-Kore-KR" altLang="en-US" sz="1600" b="0" i="0" dirty="0">
                            <a:solidFill>
                              <a:schemeClr val="bg1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600" dirty="0">
                              <a:solidFill>
                                <a:srgbClr val="FF0000"/>
                              </a:solidFill>
                              <a:effectLst/>
                            </a:rPr>
                            <a:t>벡터 크기 ≤ </a:t>
                          </a:r>
                          <a:r>
                            <a:rPr lang="en-US" altLang="ko-KR" sz="1600" dirty="0">
                              <a:solidFill>
                                <a:srgbClr val="FF0000"/>
                              </a:solidFill>
                              <a:effectLst/>
                            </a:rPr>
                            <a:t>20px</a:t>
                          </a:r>
                          <a:r>
                            <a:rPr lang="ko-KR" altLang="en-US" sz="1600" dirty="0">
                              <a:solidFill>
                                <a:srgbClr val="FF0000"/>
                              </a:solidFill>
                            </a:rPr>
                            <a:t> 이하 비율 </a:t>
                          </a:r>
                          <a:r>
                            <a:rPr lang="en-US" altLang="ko-KR" sz="1600" b="1" dirty="0">
                              <a:solidFill>
                                <a:srgbClr val="FF0000"/>
                              </a:solidFill>
                              <a:effectLst/>
                            </a:rPr>
                            <a:t>80% </a:t>
                          </a:r>
                          <a:r>
                            <a:rPr lang="ko-KR" altLang="en-US" sz="1600" b="1" dirty="0">
                              <a:solidFill>
                                <a:srgbClr val="FF0000"/>
                              </a:solidFill>
                              <a:effectLst/>
                            </a:rPr>
                            <a:t>이상</a:t>
                          </a:r>
                          <a:endParaRPr lang="en-US" altLang="ko-KR" sz="1600" b="0" i="0" dirty="0">
                            <a:solidFill>
                              <a:srgbClr val="FF0000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529715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D3E2BEFD-07CF-4E75-917E-044D0B0F73D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99178375"/>
                  </p:ext>
                </p:extLst>
              </p:nvPr>
            </p:nvGraphicFramePr>
            <p:xfrm>
              <a:off x="2209800" y="3467100"/>
              <a:ext cx="14400000" cy="45014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966585">
                      <a:extLst>
                        <a:ext uri="{9D8B030D-6E8A-4147-A177-3AD203B41FA5}">
                          <a16:colId xmlns:a16="http://schemas.microsoft.com/office/drawing/2014/main" val="2575403687"/>
                        </a:ext>
                      </a:extLst>
                    </a:gridCol>
                    <a:gridCol w="11433415">
                      <a:extLst>
                        <a:ext uri="{9D8B030D-6E8A-4147-A177-3AD203B41FA5}">
                          <a16:colId xmlns:a16="http://schemas.microsoft.com/office/drawing/2014/main" val="2123895445"/>
                        </a:ext>
                      </a:extLst>
                    </a:gridCol>
                  </a:tblGrid>
                  <a:tr h="3797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o-Kore-KR" altLang="en-US" sz="1600" b="0" i="0" dirty="0">
                              <a:solidFill>
                                <a:schemeClr val="bg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지표</a:t>
                          </a:r>
                          <a:r>
                            <a:rPr lang="ko-KR" altLang="en-US" sz="1600" b="0" i="0" dirty="0">
                              <a:solidFill>
                                <a:schemeClr val="bg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 정의</a:t>
                          </a:r>
                          <a:endParaRPr lang="ko-Kore-KR" altLang="en-US" sz="1600" b="0" i="0" dirty="0">
                            <a:solidFill>
                              <a:schemeClr val="bg1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o-KR" altLang="en-US" sz="1600" b="0" i="0" dirty="0">
                              <a:solidFill>
                                <a:srgbClr val="000000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이동 사용자를 추적하는 </a:t>
                          </a:r>
                          <a:r>
                            <a:rPr lang="ko-KR" altLang="en-US" sz="1600" b="0" i="0" dirty="0" err="1">
                              <a:solidFill>
                                <a:srgbClr val="000000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로봇팔</a:t>
                          </a:r>
                          <a:r>
                            <a:rPr lang="ko-KR" altLang="en-US" sz="1600" b="0" i="0" dirty="0">
                              <a:solidFill>
                                <a:srgbClr val="000000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 흔들림 정도 측정</a:t>
                          </a:r>
                          <a:endParaRPr lang="ko-Kore-KR" altLang="en-US" sz="1600" b="0" i="0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39426847"/>
                      </a:ext>
                    </a:extLst>
                  </a:tr>
                  <a:tr h="3786378">
                    <a:tc>
                      <a:txBody>
                        <a:bodyPr/>
                        <a:lstStyle/>
                        <a:p>
                          <a:pPr marL="0" indent="0" algn="ctr">
                            <a:buFont typeface="+mj-lt"/>
                            <a:buNone/>
                          </a:pPr>
                          <a:r>
                            <a:rPr lang="ko-Kore-KR" altLang="en-US" sz="1600" b="0" i="0" dirty="0">
                              <a:solidFill>
                                <a:schemeClr val="bg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측정</a:t>
                          </a:r>
                          <a:r>
                            <a:rPr lang="ko-KR" altLang="en-US" sz="1600" b="0" i="0" dirty="0">
                              <a:solidFill>
                                <a:schemeClr val="bg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 방법</a:t>
                          </a:r>
                          <a:endParaRPr lang="ko-Kore-KR" altLang="en-US" sz="1600" b="0" i="0" dirty="0">
                            <a:solidFill>
                              <a:schemeClr val="bg1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6013" t="-10112" r="-107" b="-10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46964466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o-Kore-KR" altLang="en-US" sz="1600" b="0" i="0" dirty="0">
                              <a:solidFill>
                                <a:schemeClr val="bg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목표</a:t>
                          </a:r>
                          <a:r>
                            <a:rPr lang="en-US" altLang="en-US" sz="1600" b="0" i="0" dirty="0">
                              <a:solidFill>
                                <a:schemeClr val="bg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 </a:t>
                          </a:r>
                          <a:r>
                            <a:rPr lang="ko-KR" altLang="en-US" sz="1600" b="0" i="0" dirty="0">
                              <a:solidFill>
                                <a:schemeClr val="bg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수치</a:t>
                          </a:r>
                          <a:endParaRPr lang="ko-Kore-KR" altLang="en-US" sz="1600" b="0" i="0" dirty="0">
                            <a:solidFill>
                              <a:schemeClr val="bg1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600" dirty="0">
                              <a:solidFill>
                                <a:srgbClr val="FF0000"/>
                              </a:solidFill>
                              <a:effectLst/>
                            </a:rPr>
                            <a:t>벡터 크기 ≤ </a:t>
                          </a:r>
                          <a:r>
                            <a:rPr lang="en-US" altLang="ko-KR" sz="1600" dirty="0">
                              <a:solidFill>
                                <a:srgbClr val="FF0000"/>
                              </a:solidFill>
                              <a:effectLst/>
                            </a:rPr>
                            <a:t>20px</a:t>
                          </a:r>
                          <a:r>
                            <a:rPr lang="ko-KR" altLang="en-US" sz="1600" dirty="0">
                              <a:solidFill>
                                <a:srgbClr val="FF0000"/>
                              </a:solidFill>
                            </a:rPr>
                            <a:t> 이하 비율 </a:t>
                          </a:r>
                          <a:r>
                            <a:rPr lang="en-US" altLang="ko-KR" sz="1600" b="1" dirty="0">
                              <a:solidFill>
                                <a:srgbClr val="FF0000"/>
                              </a:solidFill>
                              <a:effectLst/>
                            </a:rPr>
                            <a:t>80% </a:t>
                          </a:r>
                          <a:r>
                            <a:rPr lang="ko-KR" altLang="en-US" sz="1600" b="1" dirty="0">
                              <a:solidFill>
                                <a:srgbClr val="FF0000"/>
                              </a:solidFill>
                              <a:effectLst/>
                            </a:rPr>
                            <a:t>이상</a:t>
                          </a:r>
                          <a:endParaRPr lang="en-US" altLang="ko-KR" sz="1600" b="0" i="0" dirty="0">
                            <a:solidFill>
                              <a:srgbClr val="FF0000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529715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82584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14">
            <a:extLst>
              <a:ext uri="{FF2B5EF4-FFF2-40B4-BE49-F238E27FC236}">
                <a16:creationId xmlns:a16="http://schemas.microsoft.com/office/drawing/2014/main" id="{E914257E-1E2A-4AC7-89EC-1FB65C9C0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Freeform: Shape 16">
            <a:extLst>
              <a:ext uri="{FF2B5EF4-FFF2-40B4-BE49-F238E27FC236}">
                <a16:creationId xmlns:a16="http://schemas.microsoft.com/office/drawing/2014/main" id="{03E1C8F1-97F5-489C-8308-958F09657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"/>
            <a:ext cx="16904004" cy="3012958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 0">
            <a:extLst>
              <a:ext uri="{FF2B5EF4-FFF2-40B4-BE49-F238E27FC236}">
                <a16:creationId xmlns:a16="http://schemas.microsoft.com/office/drawing/2014/main" id="{55649B53-8356-4888-B93C-E40C59EB2420}"/>
              </a:ext>
            </a:extLst>
          </p:cNvPr>
          <p:cNvSpPr txBox="1">
            <a:spLocks/>
          </p:cNvSpPr>
          <p:nvPr/>
        </p:nvSpPr>
        <p:spPr>
          <a:xfrm>
            <a:off x="1085851" y="647019"/>
            <a:ext cx="11473859" cy="1114427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4400" b="1" dirty="0">
                <a:solidFill>
                  <a:prstClr val="black"/>
                </a:solidFill>
                <a:latin typeface="Calibri"/>
                <a:ea typeface="맑은 고딕" panose="020B0503020000020004" pitchFamily="50" charset="-127"/>
                <a:sym typeface="Source Han Sans KR Bold"/>
              </a:rPr>
              <a:t>추적 후 최대 진동 폭 안정성</a:t>
            </a:r>
            <a:endParaRPr kumimoji="0" lang="ko-KR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  <a:sym typeface="Source Han Sans KR Bold"/>
            </a:endParaRPr>
          </a:p>
        </p:txBody>
      </p:sp>
      <p:sp>
        <p:nvSpPr>
          <p:cNvPr id="29" name="Freeform: Shape 18">
            <a:extLst>
              <a:ext uri="{FF2B5EF4-FFF2-40B4-BE49-F238E27FC236}">
                <a16:creationId xmlns:a16="http://schemas.microsoft.com/office/drawing/2014/main" id="{DEB62645-D4DA-4E99-8344-B1536F63D1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0632" y="9416956"/>
            <a:ext cx="10327368" cy="870045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31" name="표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9468076"/>
              </p:ext>
            </p:extLst>
          </p:nvPr>
        </p:nvGraphicFramePr>
        <p:xfrm>
          <a:off x="2133600" y="3314700"/>
          <a:ext cx="14400000" cy="48464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73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26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6144"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ore-KR" altLang="en-US" sz="1600" b="0" i="0" dirty="0">
                          <a:solidFill>
                            <a:schemeClr val="bg1"/>
                          </a:solidFill>
                          <a:latin typeface="Gmarket Sans Medium"/>
                          <a:ea typeface="Gmarket Sans Medium"/>
                        </a:rPr>
                        <a:t>지표</a:t>
                      </a:r>
                      <a:r>
                        <a:rPr lang="ko-KR" altLang="en-US" sz="1600" b="0" i="0">
                          <a:solidFill>
                            <a:schemeClr val="bg1"/>
                          </a:solidFill>
                          <a:latin typeface="Gmarket Sans Medium"/>
                          <a:ea typeface="Gmarket Sans Medium"/>
                        </a:rPr>
                        <a:t> 정의</a:t>
                      </a:r>
                      <a:endParaRPr lang="ko-Kore-KR" altLang="en-US" sz="1600" b="0" i="0" dirty="0">
                        <a:solidFill>
                          <a:schemeClr val="bg1"/>
                        </a:solidFill>
                        <a:latin typeface="Gmarket Sans Medium"/>
                        <a:ea typeface="Gmarket Sans Medium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600" b="0" i="0" dirty="0">
                          <a:solidFill>
                            <a:srgbClr val="000000"/>
                          </a:solidFill>
                          <a:latin typeface="Gmarket Sans Medium"/>
                          <a:ea typeface="Gmarket Sans Medium"/>
                        </a:rPr>
                        <a:t>이동 후 정지된 사용자에 대해 </a:t>
                      </a:r>
                      <a:r>
                        <a:rPr lang="ko-KR" altLang="en-US" sz="1600" b="0" i="0" dirty="0" err="1">
                          <a:solidFill>
                            <a:srgbClr val="000000"/>
                          </a:solidFill>
                          <a:latin typeface="Gmarket Sans Medium"/>
                          <a:ea typeface="Gmarket Sans Medium"/>
                        </a:rPr>
                        <a:t>로봇팔이</a:t>
                      </a:r>
                      <a:r>
                        <a:rPr lang="ko-KR" altLang="en-US" sz="1600" b="0" i="0" dirty="0">
                          <a:solidFill>
                            <a:srgbClr val="000000"/>
                          </a:solidFill>
                          <a:latin typeface="Gmarket Sans Medium"/>
                          <a:ea typeface="Gmarket Sans Medium"/>
                        </a:rPr>
                        <a:t> 추적 후 최대 진동 폭 측정</a:t>
                      </a:r>
                      <a:endParaRPr lang="ko-Kore-KR" altLang="en-US" sz="1600" b="0" i="0" dirty="0">
                        <a:latin typeface="Gmarket Sans Medium"/>
                        <a:ea typeface="Gmarket Sans Medium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3935"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ore-KR" altLang="en-US" sz="1600" b="0" i="0">
                          <a:solidFill>
                            <a:schemeClr val="bg1"/>
                          </a:solidFill>
                          <a:latin typeface="Gmarket Sans Medium"/>
                          <a:ea typeface="Gmarket Sans Medium"/>
                        </a:rPr>
                        <a:t>측정</a:t>
                      </a:r>
                      <a:r>
                        <a:rPr lang="ko-KR" altLang="en-US" sz="1600" b="0" i="0">
                          <a:solidFill>
                            <a:schemeClr val="bg1"/>
                          </a:solidFill>
                          <a:latin typeface="Gmarket Sans Medium"/>
                          <a:ea typeface="Gmarket Sans Medium"/>
                        </a:rPr>
                        <a:t> 방법</a:t>
                      </a:r>
                      <a:endParaRPr lang="ko-Kore-KR" altLang="en-US" sz="1600" b="0" i="0">
                        <a:solidFill>
                          <a:schemeClr val="bg1"/>
                        </a:solidFill>
                        <a:latin typeface="Gmarket Sans Medium"/>
                        <a:ea typeface="Gmarket Sans Medium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lnSpc>
                          <a:spcPct val="150000"/>
                        </a:lnSpc>
                        <a:buAutoNum type="arabicPeriod"/>
                      </a:pPr>
                      <a:r>
                        <a:rPr lang="ko-KR" altLang="en-US" sz="1600" b="1" dirty="0">
                          <a:effectLst/>
                        </a:rPr>
                        <a:t>이동 방향</a:t>
                      </a:r>
                      <a:r>
                        <a:rPr lang="en-US" altLang="ko-KR" sz="1600" dirty="0">
                          <a:effectLst/>
                        </a:rPr>
                        <a:t>: </a:t>
                      </a:r>
                      <a:r>
                        <a:rPr lang="ko-KR" altLang="en-US" sz="1600" dirty="0">
                          <a:effectLst/>
                        </a:rPr>
                        <a:t>아래 중 </a:t>
                      </a:r>
                      <a:r>
                        <a:rPr lang="en-US" altLang="ko-KR" sz="1600" dirty="0">
                          <a:effectLst/>
                        </a:rPr>
                        <a:t>1</a:t>
                      </a:r>
                      <a:r>
                        <a:rPr lang="ko-KR" altLang="en-US" sz="1600" dirty="0">
                          <a:effectLst/>
                        </a:rPr>
                        <a:t>개 선택</a:t>
                      </a:r>
                      <a:endParaRPr lang="en-US" altLang="ko-KR" sz="1600" dirty="0">
                        <a:effectLst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endParaRPr lang="en-US" altLang="ko-KR" sz="1600" b="1" dirty="0">
                        <a:effectLst/>
                      </a:endParaRP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b="1" dirty="0">
                          <a:effectLst/>
                        </a:rPr>
                        <a:t>수평</a:t>
                      </a:r>
                      <a:r>
                        <a:rPr lang="en-US" altLang="ko-KR" sz="1600" b="1" dirty="0">
                          <a:effectLst/>
                        </a:rPr>
                        <a:t>(</a:t>
                      </a:r>
                      <a:r>
                        <a:rPr lang="ko-KR" altLang="en-US" sz="1600" b="1" dirty="0">
                          <a:effectLst/>
                        </a:rPr>
                        <a:t>좌</a:t>
                      </a:r>
                      <a:r>
                        <a:rPr lang="en-US" altLang="ko-KR" sz="1600" b="1" dirty="0">
                          <a:effectLst/>
                        </a:rPr>
                        <a:t>/</a:t>
                      </a:r>
                      <a:r>
                        <a:rPr lang="ko-KR" altLang="en-US" sz="1600" b="1" dirty="0">
                          <a:effectLst/>
                        </a:rPr>
                        <a:t>우</a:t>
                      </a:r>
                      <a:r>
                        <a:rPr lang="en-US" altLang="ko-KR" sz="1600" b="1" dirty="0">
                          <a:effectLst/>
                        </a:rPr>
                        <a:t>)</a:t>
                      </a:r>
                      <a:r>
                        <a:rPr lang="en-US" altLang="ko-KR" sz="1600" dirty="0">
                          <a:effectLst/>
                        </a:rPr>
                        <a:t>: ±30cm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b="1" dirty="0">
                          <a:effectLst/>
                        </a:rPr>
                        <a:t>수직</a:t>
                      </a:r>
                      <a:r>
                        <a:rPr lang="en-US" altLang="ko-KR" sz="1600" b="1" dirty="0">
                          <a:effectLst/>
                        </a:rPr>
                        <a:t>(</a:t>
                      </a:r>
                      <a:r>
                        <a:rPr lang="ko-KR" altLang="en-US" sz="1600" b="1" dirty="0">
                          <a:effectLst/>
                        </a:rPr>
                        <a:t>상</a:t>
                      </a:r>
                      <a:r>
                        <a:rPr lang="en-US" altLang="ko-KR" sz="1600" b="1" dirty="0">
                          <a:effectLst/>
                        </a:rPr>
                        <a:t>/</a:t>
                      </a:r>
                      <a:r>
                        <a:rPr lang="ko-KR" altLang="en-US" sz="1600" b="1" dirty="0">
                          <a:effectLst/>
                        </a:rPr>
                        <a:t>하</a:t>
                      </a:r>
                      <a:r>
                        <a:rPr lang="en-US" altLang="ko-KR" sz="1600" b="1" dirty="0">
                          <a:effectLst/>
                        </a:rPr>
                        <a:t>)</a:t>
                      </a:r>
                      <a:r>
                        <a:rPr lang="en-US" altLang="ko-KR" sz="1600" dirty="0">
                          <a:effectLst/>
                        </a:rPr>
                        <a:t>: ±30cm</a:t>
                      </a:r>
                    </a:p>
                    <a:p>
                      <a:pPr marL="228600" indent="-228600">
                        <a:lnSpc>
                          <a:spcPct val="150000"/>
                        </a:lnSpc>
                        <a:buAutoNum type="arabicPeriod"/>
                      </a:pPr>
                      <a:endParaRPr lang="en-US" altLang="ko-KR" sz="1600" dirty="0">
                        <a:effectLst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600" dirty="0">
                          <a:effectLst/>
                        </a:rPr>
                        <a:t>2. 3</a:t>
                      </a:r>
                      <a:r>
                        <a:rPr lang="ko-KR" altLang="en-US" sz="1600" dirty="0">
                          <a:effectLst/>
                        </a:rPr>
                        <a:t>초 이내로 선택한 한 방향으로 사용자가 움직임</a:t>
                      </a:r>
                      <a:endParaRPr lang="en-US" altLang="ko-KR" sz="1600" dirty="0">
                        <a:effectLst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600" dirty="0">
                          <a:effectLst/>
                        </a:rPr>
                        <a:t>3. </a:t>
                      </a:r>
                      <a:r>
                        <a:rPr lang="ko-KR" altLang="en-US" sz="1600" dirty="0">
                          <a:effectLst/>
                        </a:rPr>
                        <a:t>이후 </a:t>
                      </a:r>
                      <a:r>
                        <a:rPr lang="en-US" altLang="ko-KR" sz="1600" dirty="0">
                          <a:effectLst/>
                        </a:rPr>
                        <a:t>3</a:t>
                      </a:r>
                      <a:r>
                        <a:rPr lang="ko-KR" altLang="en-US" sz="1600" dirty="0">
                          <a:effectLst/>
                        </a:rPr>
                        <a:t>초 간 정지 상태를 유지한다</a:t>
                      </a:r>
                      <a:r>
                        <a:rPr lang="en-US" altLang="ko-KR" sz="1600" dirty="0">
                          <a:effectLst/>
                        </a:rPr>
                        <a:t>.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600" dirty="0">
                          <a:effectLst/>
                        </a:rPr>
                        <a:t>4. </a:t>
                      </a:r>
                      <a:r>
                        <a:rPr lang="ko-KR" altLang="en-US" sz="1600" dirty="0">
                          <a:effectLst/>
                        </a:rPr>
                        <a:t>정지한 </a:t>
                      </a:r>
                      <a:r>
                        <a:rPr lang="en-US" altLang="ko-KR" sz="1600" dirty="0">
                          <a:effectLst/>
                        </a:rPr>
                        <a:t>3</a:t>
                      </a:r>
                      <a:r>
                        <a:rPr lang="ko-KR" altLang="en-US" sz="1600" dirty="0">
                          <a:effectLst/>
                        </a:rPr>
                        <a:t>초 동안 매 프레임마다 얼굴 중심 좌표를 기록함</a:t>
                      </a:r>
                      <a:endParaRPr lang="en-US" altLang="ko-KR" sz="1600" dirty="0">
                        <a:effectLst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600" dirty="0">
                          <a:effectLst/>
                        </a:rPr>
                        <a:t>5. </a:t>
                      </a:r>
                      <a:r>
                        <a:rPr lang="ko-KR" altLang="en-US" sz="1600" dirty="0">
                          <a:effectLst/>
                        </a:rPr>
                        <a:t>화면 가로 해상도의 </a:t>
                      </a:r>
                      <a:r>
                        <a:rPr lang="en-US" altLang="ko-KR" sz="1600" dirty="0">
                          <a:effectLst/>
                        </a:rPr>
                        <a:t>n%</a:t>
                      </a:r>
                      <a:r>
                        <a:rPr lang="ko-KR" altLang="en-US" sz="1600" dirty="0">
                          <a:effectLst/>
                        </a:rPr>
                        <a:t>를 반지름으로 하는 원을 카메라 좌표 중심을 기준으로 그림 </a:t>
                      </a:r>
                      <a:r>
                        <a:rPr lang="en-US" altLang="ko-KR" sz="1600" dirty="0">
                          <a:effectLst/>
                        </a:rPr>
                        <a:t>(</a:t>
                      </a:r>
                      <a:r>
                        <a:rPr lang="ko-KR" altLang="en-US" sz="1600" dirty="0">
                          <a:effectLst/>
                        </a:rPr>
                        <a:t>예</a:t>
                      </a:r>
                      <a:r>
                        <a:rPr lang="en-US" altLang="ko-KR" sz="1600" dirty="0">
                          <a:effectLst/>
                        </a:rPr>
                        <a:t>: 1920×1080 → </a:t>
                      </a:r>
                      <a:r>
                        <a:rPr lang="ko-KR" altLang="en-US" sz="1600" dirty="0">
                          <a:effectLst/>
                        </a:rPr>
                        <a:t>반지름 약 </a:t>
                      </a:r>
                      <a:r>
                        <a:rPr lang="en-US" altLang="ko-KR" sz="1600" dirty="0" err="1">
                          <a:effectLst/>
                        </a:rPr>
                        <a:t>npx</a:t>
                      </a:r>
                      <a:r>
                        <a:rPr lang="en-US" altLang="ko-KR" sz="1600" dirty="0">
                          <a:effectLst/>
                        </a:rPr>
                        <a:t> (</a:t>
                      </a:r>
                      <a:r>
                        <a:rPr lang="ko-KR" altLang="en-US" sz="1600" dirty="0">
                          <a:effectLst/>
                        </a:rPr>
                        <a:t>지름 약 </a:t>
                      </a:r>
                      <a:r>
                        <a:rPr lang="en-US" altLang="ko-KR" sz="1600" dirty="0" err="1">
                          <a:effectLst/>
                        </a:rPr>
                        <a:t>npx</a:t>
                      </a:r>
                      <a:r>
                        <a:rPr lang="en-US" altLang="ko-KR" sz="1600" dirty="0">
                          <a:effectLst/>
                        </a:rPr>
                        <a:t>))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600" dirty="0">
                          <a:effectLst/>
                        </a:rPr>
                        <a:t>6. </a:t>
                      </a:r>
                      <a:r>
                        <a:rPr lang="ko-KR" altLang="en-US" sz="1600" dirty="0">
                          <a:effectLst/>
                        </a:rPr>
                        <a:t>이후 모든 프레임의 좌표가 이 원 안에 들어가는 비율을 계산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102"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ore-KR" altLang="en-US" sz="1600" b="0" i="0">
                          <a:solidFill>
                            <a:schemeClr val="bg1"/>
                          </a:solidFill>
                          <a:latin typeface="Gmarket Sans Medium"/>
                          <a:ea typeface="Gmarket Sans Medium"/>
                        </a:rPr>
                        <a:t>목표</a:t>
                      </a:r>
                      <a:r>
                        <a:rPr lang="en-US" altLang="en-US" sz="1600" b="0" i="0">
                          <a:solidFill>
                            <a:schemeClr val="bg1"/>
                          </a:solidFill>
                          <a:latin typeface="Gmarket Sans Medium"/>
                          <a:ea typeface="Gmarket Sans Medium"/>
                        </a:rPr>
                        <a:t> </a:t>
                      </a:r>
                      <a:r>
                        <a:rPr lang="ko-KR" altLang="en-US" sz="1600" b="0" i="0">
                          <a:solidFill>
                            <a:schemeClr val="bg1"/>
                          </a:solidFill>
                          <a:latin typeface="Gmarket Sans Medium"/>
                          <a:ea typeface="Gmarket Sans Medium"/>
                        </a:rPr>
                        <a:t>수치</a:t>
                      </a:r>
                      <a:endParaRPr lang="ko-Kore-KR" altLang="en-US" sz="1600" b="0" i="0">
                        <a:solidFill>
                          <a:schemeClr val="bg1"/>
                        </a:solidFill>
                        <a:latin typeface="Gmarket Sans Medium"/>
                        <a:ea typeface="Gmarket Sans Medium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600" dirty="0"/>
                        <a:t>원 내부 비율 ≥ </a:t>
                      </a:r>
                      <a:r>
                        <a:rPr lang="en-US" altLang="ko-KR" sz="1600" b="1" dirty="0"/>
                        <a:t>80%</a:t>
                      </a:r>
                      <a:endParaRPr lang="en-US" altLang="ko-KR" sz="1600" b="0" i="0" dirty="0">
                        <a:solidFill>
                          <a:srgbClr val="000000"/>
                        </a:solidFill>
                        <a:latin typeface="Gmarket Sans Medium"/>
                        <a:ea typeface="Gmarket Sans Medium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347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CB69D-C6A6-402F-4D7B-9C63CCD12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2">
            <a:extLst>
              <a:ext uri="{FF2B5EF4-FFF2-40B4-BE49-F238E27FC236}">
                <a16:creationId xmlns:a16="http://schemas.microsoft.com/office/drawing/2014/main" id="{1A127902-3336-C1F2-1C07-F2E5BABB5CDF}"/>
              </a:ext>
            </a:extLst>
          </p:cNvPr>
          <p:cNvSpPr txBox="1"/>
          <p:nvPr/>
        </p:nvSpPr>
        <p:spPr>
          <a:xfrm>
            <a:off x="3842478" y="4503386"/>
            <a:ext cx="10603044" cy="120609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0076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197" b="1" dirty="0">
                <a:solidFill>
                  <a:srgbClr val="090807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평가지표 상세 동작 관련</a:t>
            </a:r>
            <a:endParaRPr kumimoji="0" lang="ko-KR" altLang="en-US" sz="7197" b="1" i="0" u="none" strike="noStrike" kern="1200" cap="none" spc="0" normalizeH="0" baseline="0" noProof="0" dirty="0">
              <a:ln>
                <a:noFill/>
              </a:ln>
              <a:solidFill>
                <a:srgbClr val="090807"/>
              </a:solidFill>
              <a:effectLst/>
              <a:uLnTx/>
              <a:uFillTx/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14" name="AutoShape 6">
            <a:extLst>
              <a:ext uri="{FF2B5EF4-FFF2-40B4-BE49-F238E27FC236}">
                <a16:creationId xmlns:a16="http://schemas.microsoft.com/office/drawing/2014/main" id="{3FC4783B-43D9-20F4-19B0-107DEA7286F2}"/>
              </a:ext>
            </a:extLst>
          </p:cNvPr>
          <p:cNvSpPr/>
          <p:nvPr/>
        </p:nvSpPr>
        <p:spPr>
          <a:xfrm>
            <a:off x="0" y="9105900"/>
            <a:ext cx="18288000" cy="11113"/>
          </a:xfrm>
          <a:prstGeom prst="line">
            <a:avLst/>
          </a:prstGeom>
          <a:ln w="9525" cap="flat">
            <a:solidFill>
              <a:srgbClr val="090807"/>
            </a:solidFill>
            <a:prstDash val="solid"/>
            <a:headEnd w="sm" len="sm"/>
            <a:tailEnd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85637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14">
            <a:extLst>
              <a:ext uri="{FF2B5EF4-FFF2-40B4-BE49-F238E27FC236}">
                <a16:creationId xmlns:a16="http://schemas.microsoft.com/office/drawing/2014/main" id="{E914257E-1E2A-4AC7-89EC-1FB65C9C0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Freeform: Shape 16">
            <a:extLst>
              <a:ext uri="{FF2B5EF4-FFF2-40B4-BE49-F238E27FC236}">
                <a16:creationId xmlns:a16="http://schemas.microsoft.com/office/drawing/2014/main" id="{03E1C8F1-97F5-489C-8308-958F09657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"/>
            <a:ext cx="16904004" cy="3012958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 0">
            <a:extLst>
              <a:ext uri="{FF2B5EF4-FFF2-40B4-BE49-F238E27FC236}">
                <a16:creationId xmlns:a16="http://schemas.microsoft.com/office/drawing/2014/main" id="{55649B53-8356-4888-B93C-E40C59EB2420}"/>
              </a:ext>
            </a:extLst>
          </p:cNvPr>
          <p:cNvSpPr txBox="1">
            <a:spLocks/>
          </p:cNvSpPr>
          <p:nvPr/>
        </p:nvSpPr>
        <p:spPr>
          <a:xfrm>
            <a:off x="1085851" y="571500"/>
            <a:ext cx="11473859" cy="1114427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  <a:sym typeface="Source Han Sans KR Bold"/>
              </a:rPr>
              <a:t>얼굴 재인식 시간 </a:t>
            </a:r>
            <a:r>
              <a:rPr kumimoji="0" lang="en-US" altLang="ko-KR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  <a:sym typeface="Source Han Sans KR Bold"/>
              </a:rPr>
              <a:t>(</a:t>
            </a:r>
            <a:r>
              <a:rPr kumimoji="0" lang="ko-KR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✅</a:t>
            </a:r>
            <a:r>
              <a:rPr kumimoji="0" lang="ko-KR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  <a:sym typeface="Source Han Sans KR Bold"/>
              </a:rPr>
              <a:t>통과</a:t>
            </a:r>
            <a:r>
              <a:rPr kumimoji="0" lang="en-US" altLang="ko-KR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  <a:sym typeface="Source Han Sans KR Bold"/>
              </a:rPr>
              <a:t>)</a:t>
            </a:r>
            <a:endParaRPr kumimoji="0" lang="ko-KR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  <a:sym typeface="Source Han Sans KR Bold"/>
            </a:endParaRPr>
          </a:p>
        </p:txBody>
      </p:sp>
      <p:sp>
        <p:nvSpPr>
          <p:cNvPr id="29" name="Freeform: Shape 18">
            <a:extLst>
              <a:ext uri="{FF2B5EF4-FFF2-40B4-BE49-F238E27FC236}">
                <a16:creationId xmlns:a16="http://schemas.microsoft.com/office/drawing/2014/main" id="{DEB62645-D4DA-4E99-8344-B1536F63D1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0632" y="9416956"/>
            <a:ext cx="10327368" cy="870045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31" name="표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2595868"/>
              </p:ext>
            </p:extLst>
          </p:nvPr>
        </p:nvGraphicFramePr>
        <p:xfrm>
          <a:off x="2133600" y="3153564"/>
          <a:ext cx="1440000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73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26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0000"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600" b="0" i="0" dirty="0">
                          <a:solidFill>
                            <a:schemeClr val="bg1"/>
                          </a:solidFill>
                          <a:latin typeface="Gmarket Sans Medium"/>
                          <a:ea typeface="Gmarket Sans Medium"/>
                        </a:rPr>
                        <a:t>측정 방법 상세</a:t>
                      </a:r>
                      <a:endParaRPr lang="ko-Kore-KR" altLang="en-US" sz="1600" b="0" i="0" dirty="0">
                        <a:solidFill>
                          <a:schemeClr val="bg1"/>
                        </a:solidFill>
                        <a:latin typeface="Gmarket Sans Medium"/>
                        <a:ea typeface="Gmarket Sans Medium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600" b="1" dirty="0">
                          <a:solidFill>
                            <a:sysClr val="windowText" lastClr="000000"/>
                          </a:solidFill>
                          <a:effectLst/>
                        </a:rPr>
                        <a:t>환경 설정</a:t>
                      </a:r>
                      <a:r>
                        <a:rPr lang="ko-KR" altLang="en-US" sz="160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endParaRPr lang="en-US" altLang="ko-KR" sz="16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285750" marR="0" lvl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사용자는 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  <a:effectLst/>
                        </a:rPr>
                        <a:t>의자에 앉은 상태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, </a:t>
                      </a:r>
                      <a:r>
                        <a:rPr lang="ko-KR" altLang="en-US" sz="1600" b="0" dirty="0" err="1">
                          <a:solidFill>
                            <a:sysClr val="windowText" lastClr="000000"/>
                          </a:solidFill>
                        </a:rPr>
                        <a:t>로봇팔은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  <a:effectLst/>
                        </a:rPr>
                        <a:t>책상 위에 고정된 상태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에서 실험을 진행한다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. </a:t>
                      </a:r>
                    </a:p>
                    <a:p>
                      <a:pPr marL="285750" marR="0" lvl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사용자와 </a:t>
                      </a:r>
                      <a:r>
                        <a:rPr lang="ko-KR" altLang="en-US" sz="1600" b="0" dirty="0" err="1">
                          <a:solidFill>
                            <a:sysClr val="windowText" lastClr="000000"/>
                          </a:solidFill>
                        </a:rPr>
                        <a:t>로봇팔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 간의 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  <a:effectLst/>
                        </a:rPr>
                        <a:t>초기 거리는 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  <a:effectLst/>
                        </a:rPr>
                        <a:t>70 cm 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  <a:effectLst/>
                        </a:rPr>
                        <a:t>이내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로 설정한다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.</a:t>
                      </a:r>
                    </a:p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altLang="ko-KR" sz="160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</a:p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altLang="ko-KR" sz="1600" b="1" dirty="0">
                          <a:solidFill>
                            <a:sysClr val="windowText" lastClr="000000"/>
                          </a:solidFill>
                        </a:rPr>
                        <a:t>2. </a:t>
                      </a:r>
                      <a:r>
                        <a:rPr lang="ko-KR" altLang="en-US" sz="1600" b="1" dirty="0">
                          <a:solidFill>
                            <a:sysClr val="windowText" lastClr="000000"/>
                          </a:solidFill>
                          <a:effectLst/>
                        </a:rPr>
                        <a:t>기준점 설정</a:t>
                      </a:r>
                      <a:r>
                        <a:rPr lang="ko-KR" altLang="en-US" sz="1600" b="1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endParaRPr lang="en-US" altLang="ko-KR" sz="1600" b="1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285750" marR="0" lvl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  <a:effectLst/>
                        </a:rPr>
                        <a:t>좌우 이동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: 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의자 중앙을 기준점으로 설정한다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. </a:t>
                      </a:r>
                    </a:p>
                    <a:p>
                      <a:pPr marL="285750" marR="0" lvl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  <a:effectLst/>
                        </a:rPr>
                        <a:t>상하 및 대각선 이동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: 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사용자의 머리 중심을 기준점으로 설정한다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. </a:t>
                      </a:r>
                    </a:p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 panose="020B0604020202020204" pitchFamily="34" charset="0"/>
                        <a:buNone/>
                        <a:defRPr/>
                      </a:pPr>
                      <a:endParaRPr lang="en-US" altLang="ko-KR" sz="16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altLang="ko-KR" sz="1600" dirty="0">
                          <a:solidFill>
                            <a:sysClr val="windowText" lastClr="000000"/>
                          </a:solidFill>
                        </a:rPr>
                        <a:t>3. </a:t>
                      </a:r>
                      <a:r>
                        <a:rPr lang="ko-KR" altLang="en-US" sz="1600" b="1" dirty="0">
                          <a:solidFill>
                            <a:sysClr val="windowText" lastClr="000000"/>
                          </a:solidFill>
                          <a:effectLst/>
                        </a:rPr>
                        <a:t>이동 거리 표시</a:t>
                      </a:r>
                      <a:r>
                        <a:rPr lang="ko-KR" altLang="en-US" sz="160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endParaRPr lang="en-US" altLang="ko-KR" sz="16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285750" marR="0" lvl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측정 방향별로 기준점에서 해당 거리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(±1.0 m, ±0.5 m 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등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)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를 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  <a:effectLst/>
                        </a:rPr>
                        <a:t>줄자로 측정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한 후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, 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해당 위치에 </a:t>
                      </a:r>
                      <a:r>
                        <a:rPr lang="ko-KR" altLang="en-US" sz="1600" b="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우드락으로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  <a:effectLst/>
                        </a:rPr>
                        <a:t> 제작한 표시목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을 설치한다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. </a:t>
                      </a:r>
                    </a:p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 panose="020B0604020202020204" pitchFamily="34" charset="0"/>
                        <a:buNone/>
                        <a:defRPr/>
                      </a:pPr>
                      <a:endParaRPr lang="en-US" altLang="ko-KR" sz="16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altLang="ko-KR" sz="1600" dirty="0">
                          <a:solidFill>
                            <a:sysClr val="windowText" lastClr="000000"/>
                          </a:solidFill>
                        </a:rPr>
                        <a:t>4. </a:t>
                      </a:r>
                      <a:r>
                        <a:rPr lang="ko-KR" altLang="en-US" sz="1600" b="1" dirty="0">
                          <a:solidFill>
                            <a:sysClr val="windowText" lastClr="000000"/>
                          </a:solidFill>
                          <a:effectLst/>
                        </a:rPr>
                        <a:t>측정 절차</a:t>
                      </a:r>
                      <a:r>
                        <a:rPr lang="ko-KR" altLang="en-US" sz="160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endParaRPr lang="en-US" altLang="ko-KR" sz="16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285750" marR="0" lvl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코드 실행 후 “움직임 </a:t>
                      </a:r>
                      <a:r>
                        <a:rPr lang="ko-KR" altLang="en-US" sz="1600" b="0" dirty="0" err="1">
                          <a:solidFill>
                            <a:sysClr val="windowText" lastClr="000000"/>
                          </a:solidFill>
                        </a:rPr>
                        <a:t>시작”이라는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 안내 문구가 출력되면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, 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사용자는 다음과 같이 이동한다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. </a:t>
                      </a:r>
                    </a:p>
                    <a:p>
                      <a:pPr marL="285750" marR="0" lvl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  <a:effectLst/>
                        </a:rPr>
                        <a:t>좌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  <a:effectLst/>
                        </a:rPr>
                        <a:t>/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  <a:effectLst/>
                        </a:rPr>
                        <a:t>우 방향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: 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의자 바퀴를 이용해 </a:t>
                      </a:r>
                      <a:r>
                        <a:rPr lang="ko-KR" altLang="en-US" sz="1600" b="0" dirty="0" err="1">
                          <a:solidFill>
                            <a:sysClr val="windowText" lastClr="000000"/>
                          </a:solidFill>
                        </a:rPr>
                        <a:t>표시목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 위치까지 이동 </a:t>
                      </a:r>
                      <a:endParaRPr lang="en-US" altLang="ko-KR" sz="16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285750" marR="0" lvl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  <a:effectLst/>
                        </a:rPr>
                        <a:t>상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  <a:effectLst/>
                        </a:rPr>
                        <a:t>/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  <a:effectLst/>
                        </a:rPr>
                        <a:t>하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  <a:effectLst/>
                        </a:rPr>
                        <a:t>·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  <a:effectLst/>
                        </a:rPr>
                        <a:t>대각선 방향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: 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제자리에서 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  <a:effectLst/>
                        </a:rPr>
                        <a:t>앉았다 일어나는 동작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으로 </a:t>
                      </a:r>
                      <a:r>
                        <a:rPr lang="ko-KR" altLang="en-US" sz="1600" b="0" dirty="0" err="1">
                          <a:solidFill>
                            <a:sysClr val="windowText" lastClr="000000"/>
                          </a:solidFill>
                        </a:rPr>
                        <a:t>표시목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 위치까지 이동 </a:t>
                      </a:r>
                      <a:endParaRPr lang="en-US" altLang="ko-KR" sz="16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285750" marR="0" lvl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  <a:effectLst/>
                        </a:rPr>
                        <a:t>대각선 아래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  <a:effectLst/>
                        </a:rPr>
                        <a:t>/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  <a:effectLst/>
                        </a:rPr>
                        <a:t>아래 방향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: 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윗방향으로 이동 후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, 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다시 의자에 앉는 것으로 거리 보정 </a:t>
                      </a:r>
                      <a:endParaRPr lang="en-US" altLang="ko-KR" sz="16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 panose="020B0604020202020204" pitchFamily="34" charset="0"/>
                        <a:buNone/>
                        <a:defRPr/>
                      </a:pPr>
                      <a:endParaRPr lang="en-US" altLang="ko-KR" sz="16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altLang="ko-KR" sz="1600" dirty="0">
                          <a:solidFill>
                            <a:sysClr val="windowText" lastClr="000000"/>
                          </a:solidFill>
                        </a:rPr>
                        <a:t>5. </a:t>
                      </a:r>
                      <a:r>
                        <a:rPr lang="ko-KR" altLang="en-US" sz="1600" b="1" dirty="0">
                          <a:solidFill>
                            <a:sysClr val="windowText" lastClr="000000"/>
                          </a:solidFill>
                          <a:effectLst/>
                        </a:rPr>
                        <a:t>이동 시간 계측</a:t>
                      </a:r>
                      <a:r>
                        <a:rPr lang="ko-KR" altLang="en-US" sz="160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endParaRPr lang="en-US" altLang="ko-KR" sz="16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285750" marR="0" lvl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안내 문구 출력 시점부터 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  <a:effectLst/>
                        </a:rPr>
                        <a:t>2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  <a:effectLst/>
                        </a:rPr>
                        <a:t>초간 이동 시간 계측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endParaRPr lang="en-US" altLang="ko-KR" sz="16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285750" marR="0" lvl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계측은 코드 내부 타이머로 자동 측정되며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, 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결과 로그에 기록된다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.</a:t>
                      </a:r>
                      <a:endParaRPr lang="en-US" altLang="ko-KR" sz="1600" b="0" i="0" dirty="0">
                        <a:solidFill>
                          <a:sysClr val="windowText" lastClr="000000"/>
                        </a:solidFill>
                        <a:latin typeface="Gmarket Sans Medium"/>
                        <a:ea typeface="Gmarket Sans Medium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36073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80481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14">
            <a:extLst>
              <a:ext uri="{FF2B5EF4-FFF2-40B4-BE49-F238E27FC236}">
                <a16:creationId xmlns:a16="http://schemas.microsoft.com/office/drawing/2014/main" id="{E914257E-1E2A-4AC7-89EC-1FB65C9C0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Freeform: Shape 16">
            <a:extLst>
              <a:ext uri="{FF2B5EF4-FFF2-40B4-BE49-F238E27FC236}">
                <a16:creationId xmlns:a16="http://schemas.microsoft.com/office/drawing/2014/main" id="{03E1C8F1-97F5-489C-8308-958F09657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"/>
            <a:ext cx="16904004" cy="3012958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 0">
            <a:extLst>
              <a:ext uri="{FF2B5EF4-FFF2-40B4-BE49-F238E27FC236}">
                <a16:creationId xmlns:a16="http://schemas.microsoft.com/office/drawing/2014/main" id="{55649B53-8356-4888-B93C-E40C59EB2420}"/>
              </a:ext>
            </a:extLst>
          </p:cNvPr>
          <p:cNvSpPr txBox="1">
            <a:spLocks/>
          </p:cNvSpPr>
          <p:nvPr/>
        </p:nvSpPr>
        <p:spPr>
          <a:xfrm>
            <a:off x="1085851" y="612345"/>
            <a:ext cx="8667749" cy="1114427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  <a:sym typeface="Source Han Sans KR Bold"/>
              </a:rPr>
              <a:t>로봇팔</a:t>
            </a:r>
            <a:r>
              <a:rPr kumimoji="0" lang="ko-KR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  <a:sym typeface="Source Han Sans KR Bold"/>
              </a:rPr>
              <a:t> 추적 안정성 측정</a:t>
            </a:r>
          </a:p>
        </p:txBody>
      </p:sp>
      <p:sp>
        <p:nvSpPr>
          <p:cNvPr id="29" name="Freeform: Shape 18">
            <a:extLst>
              <a:ext uri="{FF2B5EF4-FFF2-40B4-BE49-F238E27FC236}">
                <a16:creationId xmlns:a16="http://schemas.microsoft.com/office/drawing/2014/main" id="{DEB62645-D4DA-4E99-8344-B1536F63D1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0632" y="9416956"/>
            <a:ext cx="10327368" cy="870045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D3E2BEFD-07CF-4E75-917E-044D0B0F73D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24657722"/>
                  </p:ext>
                </p:extLst>
              </p:nvPr>
            </p:nvGraphicFramePr>
            <p:xfrm>
              <a:off x="2209800" y="2476500"/>
              <a:ext cx="14400000" cy="704005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966585">
                      <a:extLst>
                        <a:ext uri="{9D8B030D-6E8A-4147-A177-3AD203B41FA5}">
                          <a16:colId xmlns:a16="http://schemas.microsoft.com/office/drawing/2014/main" val="2575403687"/>
                        </a:ext>
                      </a:extLst>
                    </a:gridCol>
                    <a:gridCol w="11433415">
                      <a:extLst>
                        <a:ext uri="{9D8B030D-6E8A-4147-A177-3AD203B41FA5}">
                          <a16:colId xmlns:a16="http://schemas.microsoft.com/office/drawing/2014/main" val="2123895445"/>
                        </a:ext>
                      </a:extLst>
                    </a:gridCol>
                  </a:tblGrid>
                  <a:tr h="39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o-KR" altLang="en-US" sz="1600" b="0" i="0" dirty="0">
                              <a:solidFill>
                                <a:schemeClr val="bg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측정 방법 상세</a:t>
                          </a:r>
                          <a:endParaRPr lang="ko-Kore-KR" altLang="en-US" sz="1600" b="0" i="0" dirty="0">
                            <a:solidFill>
                              <a:schemeClr val="bg1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l" defTabSz="914400" rtl="0" eaLnBrk="1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FontTx/>
                            <a:buAutoNum type="arabicPeriod"/>
                            <a:defRPr/>
                          </a:pPr>
                          <a:r>
                            <a:rPr lang="ko-KR" altLang="en-US" sz="1600" b="1" dirty="0">
                              <a:solidFill>
                                <a:schemeClr val="tx1"/>
                              </a:solidFill>
                              <a:effectLst/>
                            </a:rPr>
                            <a:t>이동 거리 및 환경 설정</a:t>
                          </a:r>
                          <a:r>
                            <a:rPr lang="ko-KR" altLang="en-US" sz="16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endParaRPr lang="en-US" altLang="ko-KR" sz="16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285750" marR="0" lvl="0" indent="-285750" algn="l" defTabSz="914400" rtl="0" eaLnBrk="1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Font typeface="Arial" panose="020B0604020202020204" pitchFamily="34" charset="0"/>
                            <a:buChar char="•"/>
                            <a:defRPr/>
                          </a:pP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</a:rPr>
                            <a:t>사용자는 </a:t>
                          </a: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의자에 앉은 상태</a:t>
                          </a:r>
                          <a:r>
                            <a:rPr lang="en-US" altLang="ko-KR" sz="1600" b="0" dirty="0">
                              <a:solidFill>
                                <a:schemeClr val="tx1"/>
                              </a:solidFill>
                            </a:rPr>
                            <a:t>, </a:t>
                          </a:r>
                          <a:r>
                            <a:rPr lang="ko-KR" altLang="en-US" sz="1600" b="0" dirty="0" err="1">
                              <a:solidFill>
                                <a:schemeClr val="tx1"/>
                              </a:solidFill>
                            </a:rPr>
                            <a:t>로봇팔은</a:t>
                          </a: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책상 위에 고정된 상태</a:t>
                          </a: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</a:rPr>
                            <a:t>에서 실험을 진행한다</a:t>
                          </a:r>
                          <a:r>
                            <a:rPr lang="en-US" altLang="ko-KR" sz="1600" b="0" dirty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</a:p>
                        <a:p>
                          <a:pPr marL="285750" marR="0" lvl="0" indent="-285750" algn="l" defTabSz="914400" rtl="0" eaLnBrk="1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Font typeface="Arial" panose="020B0604020202020204" pitchFamily="34" charset="0"/>
                            <a:buChar char="•"/>
                            <a:defRPr/>
                          </a:pP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</a:rPr>
                            <a:t>사용자와 </a:t>
                          </a:r>
                          <a:r>
                            <a:rPr lang="ko-KR" altLang="en-US" sz="1600" b="0" dirty="0" err="1">
                              <a:solidFill>
                                <a:schemeClr val="tx1"/>
                              </a:solidFill>
                            </a:rPr>
                            <a:t>로봇팔</a:t>
                          </a: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</a:rPr>
                            <a:t> 간의 </a:t>
                          </a: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초기 거리는 </a:t>
                          </a:r>
                          <a:r>
                            <a:rPr lang="en-US" altLang="ko-KR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70 cm </a:t>
                          </a: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이내</a:t>
                          </a: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</a:rPr>
                            <a:t>로 설정한다</a:t>
                          </a:r>
                          <a:r>
                            <a:rPr lang="en-US" altLang="ko-KR" sz="1600" b="0" dirty="0">
                              <a:solidFill>
                                <a:schemeClr val="tx1"/>
                              </a:solidFill>
                            </a:rPr>
                            <a:t>. </a:t>
                          </a:r>
                        </a:p>
                        <a:p>
                          <a:pPr marL="285750" marR="0" lvl="0" indent="-285750" algn="l" defTabSz="914400" rtl="0" eaLnBrk="1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Font typeface="Arial" panose="020B0604020202020204" pitchFamily="34" charset="0"/>
                            <a:buChar char="•"/>
                            <a:defRPr/>
                          </a:pPr>
                          <a:endParaRPr lang="en-US" altLang="ko-KR" sz="16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l" defTabSz="914400" rtl="0" eaLnBrk="1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FontTx/>
                            <a:buNone/>
                            <a:defRPr/>
                          </a:pPr>
                          <a:r>
                            <a:rPr lang="en-US" altLang="ko-KR" sz="1600" dirty="0">
                              <a:solidFill>
                                <a:schemeClr val="tx1"/>
                              </a:solidFill>
                            </a:rPr>
                            <a:t>2. </a:t>
                          </a:r>
                          <a:r>
                            <a:rPr lang="ko-KR" altLang="en-US" sz="1600" b="1" dirty="0">
                              <a:solidFill>
                                <a:schemeClr val="tx1"/>
                              </a:solidFill>
                              <a:effectLst/>
                            </a:rPr>
                            <a:t>기준점 설정</a:t>
                          </a:r>
                          <a:r>
                            <a:rPr lang="ko-KR" altLang="en-US" sz="16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endParaRPr lang="en-US" altLang="ko-KR" sz="16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285750" marR="0" lvl="0" indent="-285750" algn="l" defTabSz="914400" rtl="0" eaLnBrk="1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Font typeface="Arial" panose="020B0604020202020204" pitchFamily="34" charset="0"/>
                            <a:buChar char="•"/>
                            <a:defRPr/>
                          </a:pP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좌우 이동</a:t>
                          </a:r>
                          <a:r>
                            <a:rPr lang="en-US" altLang="ko-KR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:</a:t>
                          </a: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</a:rPr>
                            <a:t> 의자 </a:t>
                          </a: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중앙</a:t>
                          </a: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</a:rPr>
                            <a:t>을 기준점으로 설정 </a:t>
                          </a:r>
                          <a:endParaRPr lang="en-US" altLang="ko-KR" sz="16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285750" marR="0" lvl="0" indent="-285750" algn="l" defTabSz="914400" rtl="0" eaLnBrk="1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Font typeface="Arial" panose="020B0604020202020204" pitchFamily="34" charset="0"/>
                            <a:buChar char="•"/>
                            <a:defRPr/>
                          </a:pP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상하 이동</a:t>
                          </a:r>
                          <a:r>
                            <a:rPr lang="en-US" altLang="ko-KR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:</a:t>
                          </a: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</a:rPr>
                            <a:t> 사용자의 </a:t>
                          </a: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머리 중심</a:t>
                          </a: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</a:rPr>
                            <a:t>을 기준점으로 설정</a:t>
                          </a:r>
                          <a:endParaRPr lang="en-US" altLang="ko-KR" sz="16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285750" marR="0" lvl="0" indent="-285750" algn="l" defTabSz="914400" rtl="0" eaLnBrk="1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Font typeface="Arial" panose="020B0604020202020204" pitchFamily="34" charset="0"/>
                            <a:buChar char="•"/>
                            <a:defRPr/>
                          </a:pPr>
                          <a:endParaRPr lang="en-US" altLang="ko-KR" sz="16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l" defTabSz="914400" rtl="0" eaLnBrk="1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FontTx/>
                            <a:buNone/>
                            <a:defRPr/>
                          </a:pPr>
                          <a:r>
                            <a:rPr lang="en-US" altLang="ko-KR" sz="1600" dirty="0">
                              <a:solidFill>
                                <a:schemeClr val="tx1"/>
                              </a:solidFill>
                            </a:rPr>
                            <a:t>3. </a:t>
                          </a:r>
                          <a:r>
                            <a:rPr lang="ko-KR" altLang="en-US" sz="1600" b="1" dirty="0">
                              <a:solidFill>
                                <a:schemeClr val="tx1"/>
                              </a:solidFill>
                              <a:effectLst/>
                            </a:rPr>
                            <a:t>거리 측정 및 표시</a:t>
                          </a:r>
                          <a:r>
                            <a:rPr lang="ko-KR" altLang="en-US" sz="16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endParaRPr lang="en-US" altLang="ko-KR" sz="16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285750" marR="0" lvl="0" indent="-285750" algn="l" defTabSz="914400" rtl="0" eaLnBrk="1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Font typeface="Arial" panose="020B0604020202020204" pitchFamily="34" charset="0"/>
                            <a:buChar char="•"/>
                            <a:defRPr/>
                          </a:pP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</a:rPr>
                            <a:t>기준점으로부터 해당 이동 방향으로의 거리</a:t>
                          </a:r>
                          <a:r>
                            <a:rPr lang="en-US" altLang="ko-KR" sz="1600" b="0" dirty="0">
                              <a:solidFill>
                                <a:schemeClr val="tx1"/>
                              </a:solidFill>
                            </a:rPr>
                            <a:t>(±30 cm)</a:t>
                          </a: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</a:rPr>
                            <a:t>를 </a:t>
                          </a: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줄자</a:t>
                          </a: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</a:rPr>
                            <a:t>로 측정한다</a:t>
                          </a:r>
                          <a:r>
                            <a:rPr lang="en-US" altLang="ko-KR" sz="1600" b="0" dirty="0">
                              <a:solidFill>
                                <a:schemeClr val="tx1"/>
                              </a:solidFill>
                            </a:rPr>
                            <a:t>. </a:t>
                          </a:r>
                        </a:p>
                        <a:p>
                          <a:pPr marL="285750" marR="0" lvl="0" indent="-285750" algn="l" defTabSz="914400" rtl="0" eaLnBrk="1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Font typeface="Arial" panose="020B0604020202020204" pitchFamily="34" charset="0"/>
                            <a:buChar char="•"/>
                            <a:defRPr/>
                          </a:pP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</a:rPr>
                            <a:t>측정한 위치에 </a:t>
                          </a:r>
                          <a:r>
                            <a:rPr lang="ko-KR" altLang="en-US" sz="1600" b="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우드락</a:t>
                          </a: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 표시목</a:t>
                          </a: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</a:rPr>
                            <a:t>을 설치하여 이동 목표를 명확히 한다</a:t>
                          </a:r>
                          <a:r>
                            <a:rPr lang="en-US" altLang="ko-KR" sz="1600" b="0" dirty="0">
                              <a:solidFill>
                                <a:schemeClr val="tx1"/>
                              </a:solidFill>
                            </a:rPr>
                            <a:t>. </a:t>
                          </a:r>
                        </a:p>
                        <a:p>
                          <a:pPr marL="285750" marR="0" lvl="0" indent="-285750" algn="l" defTabSz="914400" rtl="0" eaLnBrk="1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Font typeface="Arial" panose="020B0604020202020204" pitchFamily="34" charset="0"/>
                            <a:buChar char="•"/>
                            <a:defRPr/>
                          </a:pPr>
                          <a:endParaRPr lang="en-US" altLang="ko-KR" sz="16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l" defTabSz="914400" rtl="0" eaLnBrk="1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Font typeface="Arial" panose="020B0604020202020204" pitchFamily="34" charset="0"/>
                            <a:buNone/>
                            <a:defRPr/>
                          </a:pPr>
                          <a:r>
                            <a:rPr lang="en-US" altLang="ko-KR" sz="1600" dirty="0">
                              <a:solidFill>
                                <a:schemeClr val="tx1"/>
                              </a:solidFill>
                            </a:rPr>
                            <a:t>4. </a:t>
                          </a:r>
                          <a:r>
                            <a:rPr lang="ko-KR" altLang="en-US" sz="1600" b="1" dirty="0">
                              <a:solidFill>
                                <a:schemeClr val="tx1"/>
                              </a:solidFill>
                              <a:effectLst/>
                            </a:rPr>
                            <a:t>이동 절차</a:t>
                          </a:r>
                          <a:r>
                            <a:rPr lang="ko-KR" altLang="en-US" sz="16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endParaRPr lang="en-US" altLang="ko-KR" sz="16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285750" marR="0" lvl="0" indent="-285750" algn="l" defTabSz="914400" rtl="0" eaLnBrk="1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Font typeface="Arial" panose="020B0604020202020204" pitchFamily="34" charset="0"/>
                            <a:buChar char="•"/>
                            <a:defRPr/>
                          </a:pP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</a:rPr>
                            <a:t>코드 실행 후</a:t>
                          </a:r>
                          <a:r>
                            <a:rPr lang="en-US" altLang="ko-KR" sz="1600" b="0" dirty="0">
                              <a:solidFill>
                                <a:schemeClr val="tx1"/>
                              </a:solidFill>
                            </a:rPr>
                            <a:t>, </a:t>
                          </a: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</a:rPr>
                            <a:t>커맨드 창에 </a:t>
                          </a: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“움직임 시작”</a:t>
                          </a: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</a:rPr>
                            <a:t> 문구가 출력되면 실험을 시작한다</a:t>
                          </a:r>
                          <a:r>
                            <a:rPr lang="en-US" altLang="ko-KR" sz="1600" b="0" dirty="0">
                              <a:solidFill>
                                <a:schemeClr val="tx1"/>
                              </a:solidFill>
                            </a:rPr>
                            <a:t>. </a:t>
                          </a:r>
                        </a:p>
                        <a:p>
                          <a:pPr marL="0" marR="0" lvl="0" indent="0" algn="l" defTabSz="914400" rtl="0" eaLnBrk="1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Font typeface="Arial" panose="020B0604020202020204" pitchFamily="34" charset="0"/>
                            <a:buNone/>
                            <a:defRPr/>
                          </a:pPr>
                          <a:endParaRPr lang="en-US" altLang="ko-KR" sz="16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l" defTabSz="914400" rtl="0" eaLnBrk="1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Font typeface="Arial" panose="020B0604020202020204" pitchFamily="34" charset="0"/>
                            <a:buNone/>
                            <a:defRPr/>
                          </a:pPr>
                          <a:r>
                            <a:rPr lang="ko-KR" altLang="en-US" sz="1600" dirty="0">
                              <a:solidFill>
                                <a:schemeClr val="tx1"/>
                              </a:solidFill>
                            </a:rPr>
                            <a:t>이동 방식은 다음과 같다</a:t>
                          </a:r>
                          <a:r>
                            <a:rPr lang="en-US" altLang="ko-KR" sz="1600" dirty="0">
                              <a:solidFill>
                                <a:schemeClr val="tx1"/>
                              </a:solidFill>
                            </a:rPr>
                            <a:t>: </a:t>
                          </a:r>
                        </a:p>
                        <a:p>
                          <a:pPr marL="285750" marR="0" lvl="0" indent="-285750" algn="l" defTabSz="914400" rtl="0" eaLnBrk="1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Font typeface="Arial" panose="020B0604020202020204" pitchFamily="34" charset="0"/>
                            <a:buChar char="•"/>
                            <a:defRPr/>
                          </a:pP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좌우 이동</a:t>
                          </a:r>
                          <a:r>
                            <a:rPr lang="en-US" altLang="ko-KR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:</a:t>
                          </a: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</a:rPr>
                            <a:t> 의자 바퀴를 이용하여 </a:t>
                          </a:r>
                          <a:r>
                            <a:rPr lang="ko-KR" altLang="en-US" sz="1600" b="0" dirty="0" err="1">
                              <a:solidFill>
                                <a:schemeClr val="tx1"/>
                              </a:solidFill>
                            </a:rPr>
                            <a:t>표시목</a:t>
                          </a: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</a:rPr>
                            <a:t> 방향으로 천천히 이동 </a:t>
                          </a:r>
                          <a:endParaRPr lang="en-US" altLang="ko-KR" sz="16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285750" marR="0" lvl="0" indent="-285750" algn="l" defTabSz="914400" rtl="0" eaLnBrk="1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Font typeface="Arial" panose="020B0604020202020204" pitchFamily="34" charset="0"/>
                            <a:buChar char="•"/>
                            <a:defRPr/>
                          </a:pP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상하 이동</a:t>
                          </a:r>
                          <a:r>
                            <a:rPr lang="en-US" altLang="ko-KR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:</a:t>
                          </a: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</a:rPr>
                            <a:t> 제자리에서 </a:t>
                          </a: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앉았다 일어나는 동작</a:t>
                          </a: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</a:rPr>
                            <a:t>으로 표시목까지 이동 </a:t>
                          </a:r>
                          <a:endParaRPr lang="en-US" altLang="ko-KR" sz="16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285750" marR="0" lvl="0" indent="-285750" algn="l" defTabSz="914400" rtl="0" eaLnBrk="1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Font typeface="Arial" panose="020B0604020202020204" pitchFamily="34" charset="0"/>
                            <a:buChar char="•"/>
                            <a:defRPr/>
                          </a:pP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아래 방향 이동</a:t>
                          </a:r>
                          <a:r>
                            <a:rPr lang="en-US" altLang="ko-KR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:</a:t>
                          </a: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</a:rPr>
                            <a:t> 윗방향으로 먼저 움직였다가</a:t>
                          </a:r>
                          <a:r>
                            <a:rPr lang="en-US" altLang="ko-KR" sz="1600" b="0" dirty="0">
                              <a:solidFill>
                                <a:schemeClr val="tx1"/>
                              </a:solidFill>
                            </a:rPr>
                            <a:t>, </a:t>
                          </a: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</a:rPr>
                            <a:t>다시 </a:t>
                          </a: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앉는 동작</a:t>
                          </a: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</a:rPr>
                            <a:t>으로 거리 보정</a:t>
                          </a:r>
                          <a:endParaRPr lang="en-US" altLang="ko-KR" sz="16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285750" marR="0" lvl="0" indent="-285750" algn="l" defTabSz="914400" rtl="0" eaLnBrk="1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Font typeface="Arial" panose="020B0604020202020204" pitchFamily="34" charset="0"/>
                            <a:buChar char="•"/>
                            <a:defRPr/>
                          </a:pPr>
                          <a:endParaRPr lang="en-US" altLang="ko-KR" sz="16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l" defTabSz="914400" rtl="0" eaLnBrk="1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Font typeface="Arial" panose="020B0604020202020204" pitchFamily="34" charset="0"/>
                            <a:buNone/>
                            <a:defRPr/>
                          </a:pPr>
                          <a:r>
                            <a:rPr lang="en-US" altLang="ko-KR" sz="1600" dirty="0">
                              <a:solidFill>
                                <a:schemeClr val="tx1"/>
                              </a:solidFill>
                            </a:rPr>
                            <a:t>5. </a:t>
                          </a:r>
                          <a:r>
                            <a:rPr lang="ko-KR" altLang="en-US" sz="1600" b="1" dirty="0">
                              <a:solidFill>
                                <a:schemeClr val="tx1"/>
                              </a:solidFill>
                              <a:effectLst/>
                            </a:rPr>
                            <a:t>이동 시간 계측</a:t>
                          </a:r>
                          <a:r>
                            <a:rPr lang="ko-KR" altLang="en-US" sz="16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endParaRPr lang="en-US" altLang="ko-KR" sz="16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285750" marR="0" lvl="0" indent="-285750" algn="l" defTabSz="914400" rtl="0" eaLnBrk="1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Font typeface="Arial" panose="020B0604020202020204" pitchFamily="34" charset="0"/>
                            <a:buChar char="•"/>
                            <a:defRPr/>
                          </a:pP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</a:rPr>
                            <a:t>안내 문구 출력 직후부터 </a:t>
                          </a:r>
                          <a:r>
                            <a:rPr lang="en-US" altLang="ko-KR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초간 이동 시간</a:t>
                          </a: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</a:rPr>
                            <a:t>을 계측한다</a:t>
                          </a:r>
                          <a:r>
                            <a:rPr lang="en-US" altLang="ko-KR" sz="1600" b="0" dirty="0">
                              <a:solidFill>
                                <a:schemeClr val="tx1"/>
                              </a:solidFill>
                            </a:rPr>
                            <a:t>. </a:t>
                          </a:r>
                        </a:p>
                        <a:p>
                          <a:pPr marL="285750" marR="0" lvl="0" indent="-285750" algn="l" defTabSz="914400" rtl="0" eaLnBrk="1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Font typeface="Arial" panose="020B0604020202020204" pitchFamily="34" charset="0"/>
                            <a:buChar char="•"/>
                            <a:defRPr/>
                          </a:pP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</a:rPr>
                            <a:t>계측은 코드 내의 </a:t>
                          </a: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타이머 기능</a:t>
                          </a: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</a:rPr>
                            <a:t>을 사용하여 자동으로 진행된다</a:t>
                          </a:r>
                          <a:r>
                            <a:rPr lang="en-US" altLang="ko-KR" sz="1600" b="0" dirty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</a:p>
                        <a:p>
                          <a:pPr marL="0" marR="0" lvl="0" indent="0" algn="l" defTabSz="914400" rtl="0" eaLnBrk="1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Font typeface="Arial" panose="020B0604020202020204" pitchFamily="34" charset="0"/>
                            <a:buNone/>
                            <a:defRPr/>
                          </a:pPr>
                          <a:endParaRPr lang="en-US" altLang="ko-KR" sz="16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l" defTabSz="914400" rtl="0" eaLnBrk="1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Font typeface="Arial" panose="020B0604020202020204" pitchFamily="34" charset="0"/>
                            <a:buNone/>
                            <a:defRPr/>
                          </a:pPr>
                          <a:r>
                            <a:rPr lang="en-US" altLang="ko-KR" sz="1600" dirty="0">
                              <a:solidFill>
                                <a:schemeClr val="tx1"/>
                              </a:solidFill>
                            </a:rPr>
                            <a:t>6. </a:t>
                          </a:r>
                          <a:r>
                            <a:rPr lang="ko-KR" altLang="en-US" sz="1600" b="1" dirty="0">
                              <a:solidFill>
                                <a:schemeClr val="tx1"/>
                              </a:solidFill>
                              <a:effectLst/>
                            </a:rPr>
                            <a:t>데이터 수집 및 분석</a:t>
                          </a:r>
                          <a:r>
                            <a:rPr lang="ko-KR" altLang="en-US" sz="16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endParaRPr lang="en-US" altLang="ko-KR" sz="16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285750" marR="0" lvl="0" indent="-285750" algn="l" defTabSz="914400" rtl="0" eaLnBrk="1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Font typeface="Arial" panose="020B0604020202020204" pitchFamily="34" charset="0"/>
                            <a:buChar char="•"/>
                            <a:defRPr/>
                          </a:pP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</a:rPr>
                            <a:t>이동 중 매 프레임마다 얼굴 중심 좌표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((</m:t>
                              </m:r>
                              <m:sSub>
                                <m:sSubPr>
                                  <m:ctrlPr>
                                    <a:rPr lang="en-US" altLang="ko-KR" sz="16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 dirty="0" err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1600" b="0" i="1" dirty="0" err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altLang="ko-KR" sz="1600" b="0" i="1" dirty="0" err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 dirty="0" err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ko-KR" sz="1600" b="0" i="1" dirty="0" err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altLang="ko-KR" sz="1600" b="0" dirty="0">
                              <a:solidFill>
                                <a:schemeClr val="tx1"/>
                              </a:solidFill>
                            </a:rPr>
                            <a:t>)</a:t>
                          </a: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</a:rPr>
                            <a:t>를 기록한다</a:t>
                          </a:r>
                          <a:r>
                            <a:rPr lang="en-US" altLang="ko-KR" sz="1600" b="0" dirty="0">
                              <a:solidFill>
                                <a:schemeClr val="tx1"/>
                              </a:solidFill>
                            </a:rPr>
                            <a:t>. </a:t>
                          </a:r>
                        </a:p>
                        <a:p>
                          <a:pPr marL="285750" marR="0" lvl="0" indent="-285750" algn="l" defTabSz="914400" rtl="0" eaLnBrk="1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Font typeface="Arial" panose="020B0604020202020204" pitchFamily="34" charset="0"/>
                            <a:buChar char="•"/>
                            <a:defRPr/>
                          </a:pP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</a:rPr>
                            <a:t>연속 프레임 간 이동 벡터 </a:t>
                          </a:r>
                          <a14:m>
                            <m:oMath xmlns:m="http://schemas.openxmlformats.org/officeDocument/2006/math">
                              <m:r>
                                <a:rPr lang="ko-KR" alt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크기</m:t>
                              </m:r>
                              <m:r>
                                <a:rPr lang="ko-KR" alt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US" altLang="ko-KR" sz="16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sz="1600" b="0" i="1" dirty="0" err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600" b="0" i="1" dirty="0" err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altLang="ko-KR" sz="1600" b="0" i="1" dirty="0" err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altLang="ko-KR" sz="16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= 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en-US" altLang="ko-KR" sz="16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d>
                                        <m:dPr>
                                          <m:begChr m:val="{"/>
                                          <m:endChr m:val="}"/>
                                          <m:ctrlPr>
                                            <a:rPr lang="en-US" altLang="ko-KR" sz="1600" b="0" i="1" dirty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altLang="ko-KR" sz="1600" b="0" i="1" dirty="0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en-US" altLang="ko-KR" sz="1600" b="0" i="1" dirty="0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altLang="ko-KR" sz="1600" b="0" i="0" dirty="0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Δ</m:t>
                                                  </m:r>
                                                  <m:r>
                                                    <a:rPr lang="en-US" altLang="ko-KR" sz="1600" b="0" i="1" dirty="0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</m:d>
                                            </m:e>
                                            <m:sup>
                                              <m:r>
                                                <a:rPr lang="en-US" altLang="ko-KR" sz="1600" b="0" i="1" dirty="0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  <m:r>
                                            <a:rPr lang="en-US" altLang="ko-KR" sz="1600" b="0" i="1" dirty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+ 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altLang="ko-KR" sz="1600" b="0" i="1" dirty="0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en-US" altLang="ko-KR" sz="1600" b="0" i="1" dirty="0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altLang="ko-KR" sz="1600" b="0" i="0" dirty="0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Δ</m:t>
                                                  </m:r>
                                                  <m:r>
                                                    <a:rPr lang="en-US" altLang="ko-KR" sz="1600" b="0" i="1" dirty="0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</m:d>
                                            </m:e>
                                            <m:sup>
                                              <m:r>
                                                <a:rPr lang="en-US" altLang="ko-KR" sz="1600" b="0" i="1" dirty="0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</m:e>
                                  </m:rad>
                                </m:e>
                              </m:d>
                            </m:oMath>
                          </a14:m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</a:rPr>
                            <a:t>를 계산한다</a:t>
                          </a:r>
                          <a:r>
                            <a:rPr lang="en-US" altLang="ko-KR" sz="1600" b="0" dirty="0">
                              <a:solidFill>
                                <a:schemeClr val="tx1"/>
                              </a:solidFill>
                            </a:rPr>
                            <a:t>. </a:t>
                          </a:r>
                        </a:p>
                        <a:p>
                          <a:pPr marL="285750" marR="0" lvl="0" indent="-285750" algn="l" defTabSz="914400" rtl="0" eaLnBrk="1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Font typeface="Arial" panose="020B0604020202020204" pitchFamily="34" charset="0"/>
                            <a:buChar char="•"/>
                            <a:defRPr/>
                          </a:pP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</a:rPr>
                            <a:t>프레임의 비율을 전체 프레임 수 대비 계산한다</a:t>
                          </a:r>
                          <a:r>
                            <a:rPr lang="en-US" altLang="ko-KR" sz="1600" b="0" dirty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  <a:endParaRPr lang="en-US" altLang="ko-KR" sz="1600" b="0" i="0" dirty="0">
                            <a:solidFill>
                              <a:schemeClr val="tx1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8834812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D3E2BEFD-07CF-4E75-917E-044D0B0F73D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24657722"/>
                  </p:ext>
                </p:extLst>
              </p:nvPr>
            </p:nvGraphicFramePr>
            <p:xfrm>
              <a:off x="2209800" y="2476500"/>
              <a:ext cx="14400000" cy="704005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966585">
                      <a:extLst>
                        <a:ext uri="{9D8B030D-6E8A-4147-A177-3AD203B41FA5}">
                          <a16:colId xmlns:a16="http://schemas.microsoft.com/office/drawing/2014/main" val="2575403687"/>
                        </a:ext>
                      </a:extLst>
                    </a:gridCol>
                    <a:gridCol w="11433415">
                      <a:extLst>
                        <a:ext uri="{9D8B030D-6E8A-4147-A177-3AD203B41FA5}">
                          <a16:colId xmlns:a16="http://schemas.microsoft.com/office/drawing/2014/main" val="2123895445"/>
                        </a:ext>
                      </a:extLst>
                    </a:gridCol>
                  </a:tblGrid>
                  <a:tr h="7040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o-KR" altLang="en-US" sz="1600" b="0" i="0" dirty="0">
                              <a:solidFill>
                                <a:schemeClr val="bg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측정 방법 상세</a:t>
                          </a:r>
                          <a:endParaRPr lang="ko-Kore-KR" altLang="en-US" sz="1600" b="0" i="0" dirty="0">
                            <a:solidFill>
                              <a:schemeClr val="bg1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6013" t="-346" r="-107" b="-10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8834812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2708040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14">
            <a:extLst>
              <a:ext uri="{FF2B5EF4-FFF2-40B4-BE49-F238E27FC236}">
                <a16:creationId xmlns:a16="http://schemas.microsoft.com/office/drawing/2014/main" id="{E914257E-1E2A-4AC7-89EC-1FB65C9C0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Freeform: Shape 16">
            <a:extLst>
              <a:ext uri="{FF2B5EF4-FFF2-40B4-BE49-F238E27FC236}">
                <a16:creationId xmlns:a16="http://schemas.microsoft.com/office/drawing/2014/main" id="{03E1C8F1-97F5-489C-8308-958F09657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"/>
            <a:ext cx="16904004" cy="3012958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 0">
            <a:extLst>
              <a:ext uri="{FF2B5EF4-FFF2-40B4-BE49-F238E27FC236}">
                <a16:creationId xmlns:a16="http://schemas.microsoft.com/office/drawing/2014/main" id="{55649B53-8356-4888-B93C-E40C59EB2420}"/>
              </a:ext>
            </a:extLst>
          </p:cNvPr>
          <p:cNvSpPr txBox="1">
            <a:spLocks/>
          </p:cNvSpPr>
          <p:nvPr/>
        </p:nvSpPr>
        <p:spPr>
          <a:xfrm>
            <a:off x="1085851" y="647019"/>
            <a:ext cx="11473859" cy="1114427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  <a:sym typeface="Source Han Sans KR Bold"/>
              </a:rPr>
              <a:t>추적 후 최대 진동 폭 안정성</a:t>
            </a:r>
          </a:p>
        </p:txBody>
      </p:sp>
      <p:sp>
        <p:nvSpPr>
          <p:cNvPr id="29" name="Freeform: Shape 18">
            <a:extLst>
              <a:ext uri="{FF2B5EF4-FFF2-40B4-BE49-F238E27FC236}">
                <a16:creationId xmlns:a16="http://schemas.microsoft.com/office/drawing/2014/main" id="{DEB62645-D4DA-4E99-8344-B1536F63D1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0632" y="9416956"/>
            <a:ext cx="10327368" cy="870045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1" name="표 3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1306567"/>
                  </p:ext>
                </p:extLst>
              </p:nvPr>
            </p:nvGraphicFramePr>
            <p:xfrm>
              <a:off x="2057400" y="2266856"/>
              <a:ext cx="14400000" cy="74066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96739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43260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634818">
                    <a:tc>
                      <a:txBody>
                        <a:bodyPr/>
                        <a:lstStyle/>
                        <a:p>
                          <a:pPr lvl="0" algn="ctr">
                            <a:defRPr/>
                          </a:pPr>
                          <a:r>
                            <a:rPr lang="ko-KR" altLang="en-US" sz="1600" b="0" i="0" dirty="0">
                              <a:solidFill>
                                <a:schemeClr val="bg1"/>
                              </a:solidFill>
                              <a:latin typeface="Gmarket Sans Medium"/>
                              <a:ea typeface="Gmarket Sans Medium"/>
                            </a:rPr>
                            <a:t>측정 방법 상세</a:t>
                          </a:r>
                          <a:endParaRPr lang="ko-Kore-KR" altLang="en-US" sz="1600" b="0" i="0" dirty="0">
                            <a:solidFill>
                              <a:schemeClr val="bg1"/>
                            </a:solidFill>
                            <a:latin typeface="Gmarket Sans Medium"/>
                            <a:ea typeface="Gmarket Sans Medium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w="med" len="med"/>
                          <a:tailEnd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w="med" len="med"/>
                          <a:tailEnd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w="med" len="med"/>
                          <a:tailEnd w="med" len="med"/>
                        </a:lnB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228600" marR="0" lvl="0" indent="-228600" algn="l" defTabSz="914400" rtl="0" eaLnBrk="1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FontTx/>
                            <a:buAutoNum type="arabicPeriod"/>
                            <a:defRPr/>
                          </a:pPr>
                          <a:r>
                            <a:rPr lang="ko-KR" altLang="en-US" sz="1600" b="1" dirty="0">
                              <a:solidFill>
                                <a:schemeClr val="tx1"/>
                              </a:solidFill>
                              <a:effectLst/>
                            </a:rPr>
                            <a:t>환경 및 초기 세팅</a:t>
                          </a:r>
                          <a:r>
                            <a:rPr lang="ko-KR" altLang="en-US" sz="16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endParaRPr lang="en-US" altLang="ko-KR" sz="16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171450" marR="0" lvl="0" indent="-171450" algn="l" defTabSz="914400" rtl="0" eaLnBrk="1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Font typeface="Arial" panose="020B0604020202020204" pitchFamily="34" charset="0"/>
                            <a:buChar char="•"/>
                            <a:defRPr/>
                          </a:pP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</a:rPr>
                            <a:t>사용자는 </a:t>
                          </a: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의자에 앉은 상태</a:t>
                          </a:r>
                          <a:r>
                            <a:rPr lang="en-US" altLang="ko-KR" sz="1600" b="0" dirty="0">
                              <a:solidFill>
                                <a:schemeClr val="tx1"/>
                              </a:solidFill>
                            </a:rPr>
                            <a:t>, </a:t>
                          </a:r>
                          <a:r>
                            <a:rPr lang="ko-KR" altLang="en-US" sz="1600" b="0" dirty="0" err="1">
                              <a:solidFill>
                                <a:schemeClr val="tx1"/>
                              </a:solidFill>
                            </a:rPr>
                            <a:t>로봇팔은</a:t>
                          </a: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책상 위에 고정된 상태</a:t>
                          </a: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</a:rPr>
                            <a:t>에서 실험을 진행한다</a:t>
                          </a:r>
                          <a:r>
                            <a:rPr lang="en-US" altLang="ko-KR" sz="1600" b="0" dirty="0">
                              <a:solidFill>
                                <a:schemeClr val="tx1"/>
                              </a:solidFill>
                            </a:rPr>
                            <a:t>. </a:t>
                          </a:r>
                        </a:p>
                        <a:p>
                          <a:pPr marL="171450" marR="0" lvl="0" indent="-171450" algn="l" defTabSz="914400" rtl="0" eaLnBrk="1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Font typeface="Arial" panose="020B0604020202020204" pitchFamily="34" charset="0"/>
                            <a:buChar char="•"/>
                            <a:defRPr/>
                          </a:pP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</a:rPr>
                            <a:t>사용자와 </a:t>
                          </a:r>
                          <a:r>
                            <a:rPr lang="ko-KR" altLang="en-US" sz="1600" b="0" dirty="0" err="1">
                              <a:solidFill>
                                <a:schemeClr val="tx1"/>
                              </a:solidFill>
                            </a:rPr>
                            <a:t>로봇팔</a:t>
                          </a: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</a:rPr>
                            <a:t> 간의 </a:t>
                          </a: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초기 거리는 </a:t>
                          </a:r>
                          <a:r>
                            <a:rPr lang="en-US" altLang="ko-KR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70 cm </a:t>
                          </a: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이내</a:t>
                          </a: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</a:rPr>
                            <a:t>로 설정한다</a:t>
                          </a:r>
                          <a:r>
                            <a:rPr lang="en-US" altLang="ko-KR" sz="1600" b="0" dirty="0">
                              <a:solidFill>
                                <a:schemeClr val="tx1"/>
                              </a:solidFill>
                            </a:rPr>
                            <a:t>. </a:t>
                          </a:r>
                        </a:p>
                        <a:p>
                          <a:pPr marL="171450" marR="0" lvl="0" indent="-171450" algn="l" defTabSz="914400" rtl="0" eaLnBrk="1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Font typeface="Arial" panose="020B0604020202020204" pitchFamily="34" charset="0"/>
                            <a:buChar char="•"/>
                            <a:defRPr/>
                          </a:pPr>
                          <a:endParaRPr lang="en-US" altLang="ko-KR" sz="16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l" defTabSz="914400" rtl="0" eaLnBrk="1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Font typeface="Arial" panose="020B0604020202020204" pitchFamily="34" charset="0"/>
                            <a:buNone/>
                            <a:defRPr/>
                          </a:pPr>
                          <a:r>
                            <a:rPr lang="en-US" altLang="ko-KR" sz="1600" dirty="0">
                              <a:solidFill>
                                <a:schemeClr val="tx1"/>
                              </a:solidFill>
                            </a:rPr>
                            <a:t>2. </a:t>
                          </a:r>
                          <a:r>
                            <a:rPr lang="ko-KR" altLang="en-US" sz="1600" b="1" dirty="0">
                              <a:solidFill>
                                <a:schemeClr val="tx1"/>
                              </a:solidFill>
                              <a:effectLst/>
                            </a:rPr>
                            <a:t>기준점 설정</a:t>
                          </a:r>
                          <a:r>
                            <a:rPr lang="ko-KR" altLang="en-US" sz="16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endParaRPr lang="en-US" altLang="ko-KR" sz="16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171450" marR="0" lvl="0" indent="-171450" algn="l" defTabSz="914400" rtl="0" eaLnBrk="1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Font typeface="Arial" panose="020B0604020202020204" pitchFamily="34" charset="0"/>
                            <a:buChar char="•"/>
                            <a:defRPr/>
                          </a:pP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좌우 이동</a:t>
                          </a:r>
                          <a:r>
                            <a:rPr lang="en-US" altLang="ko-KR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:</a:t>
                          </a: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</a:rPr>
                            <a:t> 의자 </a:t>
                          </a: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중앙</a:t>
                          </a: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</a:rPr>
                            <a:t>을 기준점으로 한다</a:t>
                          </a:r>
                          <a:r>
                            <a:rPr lang="en-US" altLang="ko-KR" sz="1600" b="0" dirty="0">
                              <a:solidFill>
                                <a:schemeClr val="tx1"/>
                              </a:solidFill>
                            </a:rPr>
                            <a:t>. </a:t>
                          </a:r>
                        </a:p>
                        <a:p>
                          <a:pPr marL="171450" marR="0" lvl="0" indent="-171450" algn="l" defTabSz="914400" rtl="0" eaLnBrk="1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Font typeface="Arial" panose="020B0604020202020204" pitchFamily="34" charset="0"/>
                            <a:buChar char="•"/>
                            <a:defRPr/>
                          </a:pP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상하 이동</a:t>
                          </a:r>
                          <a:r>
                            <a:rPr lang="en-US" altLang="ko-KR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:</a:t>
                          </a: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</a:rPr>
                            <a:t> 사용자의 </a:t>
                          </a: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머리 중심</a:t>
                          </a: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</a:rPr>
                            <a:t>을 기준점으로 한다</a:t>
                          </a:r>
                          <a:r>
                            <a:rPr lang="en-US" altLang="ko-KR" sz="1600" b="0" dirty="0">
                              <a:solidFill>
                                <a:schemeClr val="tx1"/>
                              </a:solidFill>
                            </a:rPr>
                            <a:t>. </a:t>
                          </a:r>
                        </a:p>
                        <a:p>
                          <a:pPr marL="0" marR="0" lvl="0" indent="0" algn="l" defTabSz="914400" rtl="0" eaLnBrk="1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Font typeface="Arial" panose="020B0604020202020204" pitchFamily="34" charset="0"/>
                            <a:buNone/>
                            <a:defRPr/>
                          </a:pPr>
                          <a:endParaRPr lang="en-US" altLang="ko-KR" sz="16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l" defTabSz="914400" rtl="0" eaLnBrk="1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Font typeface="Arial" panose="020B0604020202020204" pitchFamily="34" charset="0"/>
                            <a:buNone/>
                            <a:defRPr/>
                          </a:pPr>
                          <a:r>
                            <a:rPr lang="en-US" altLang="ko-KR" sz="1600" dirty="0">
                              <a:solidFill>
                                <a:schemeClr val="tx1"/>
                              </a:solidFill>
                            </a:rPr>
                            <a:t>3. </a:t>
                          </a:r>
                          <a:r>
                            <a:rPr lang="ko-KR" altLang="en-US" sz="1600" b="1" dirty="0">
                              <a:solidFill>
                                <a:schemeClr val="tx1"/>
                              </a:solidFill>
                              <a:effectLst/>
                            </a:rPr>
                            <a:t>이동 거리 설정 및 표시</a:t>
                          </a:r>
                          <a:r>
                            <a:rPr lang="ko-KR" altLang="en-US" sz="16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endParaRPr lang="en-US" altLang="ko-KR" sz="16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171450" marR="0" lvl="0" indent="-171450" algn="l" defTabSz="914400" rtl="0" eaLnBrk="1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Font typeface="Arial" panose="020B0604020202020204" pitchFamily="34" charset="0"/>
                            <a:buChar char="•"/>
                            <a:defRPr/>
                          </a:pP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</a:rPr>
                            <a:t>위 기준점에서 해당 방향의</a:t>
                          </a: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 거리</a:t>
                          </a:r>
                          <a:r>
                            <a:rPr lang="en-US" altLang="ko-KR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(±30 cm)</a:t>
                          </a: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를</a:t>
                          </a: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줄자</a:t>
                          </a: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</a:rPr>
                            <a:t>로 측정한다</a:t>
                          </a:r>
                          <a:r>
                            <a:rPr lang="en-US" altLang="ko-KR" sz="1600" b="0" dirty="0">
                              <a:solidFill>
                                <a:schemeClr val="tx1"/>
                              </a:solidFill>
                            </a:rPr>
                            <a:t>. </a:t>
                          </a:r>
                        </a:p>
                        <a:p>
                          <a:pPr marL="171450" marR="0" lvl="0" indent="-171450" algn="l" defTabSz="914400" rtl="0" eaLnBrk="1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Font typeface="Arial" panose="020B0604020202020204" pitchFamily="34" charset="0"/>
                            <a:buChar char="•"/>
                            <a:defRPr/>
                          </a:pP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</a:rPr>
                            <a:t>측정 위치에 </a:t>
                          </a:r>
                          <a:r>
                            <a:rPr lang="ko-KR" altLang="en-US" sz="1600" b="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우드락</a:t>
                          </a: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 표시목</a:t>
                          </a: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</a:rPr>
                            <a:t>을 설치하여 이동 목표 지점을 명확히 한다</a:t>
                          </a:r>
                          <a:r>
                            <a:rPr lang="en-US" altLang="ko-KR" sz="1600" b="0" dirty="0">
                              <a:solidFill>
                                <a:schemeClr val="tx1"/>
                              </a:solidFill>
                            </a:rPr>
                            <a:t>. </a:t>
                          </a:r>
                        </a:p>
                        <a:p>
                          <a:pPr marL="0" marR="0" lvl="0" indent="0" algn="l" defTabSz="914400" rtl="0" eaLnBrk="1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Font typeface="Arial" panose="020B0604020202020204" pitchFamily="34" charset="0"/>
                            <a:buNone/>
                            <a:defRPr/>
                          </a:pPr>
                          <a:endParaRPr lang="en-US" altLang="ko-KR" sz="16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l" defTabSz="914400" rtl="0" eaLnBrk="1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Font typeface="Arial" panose="020B0604020202020204" pitchFamily="34" charset="0"/>
                            <a:buNone/>
                            <a:defRPr/>
                          </a:pPr>
                          <a:r>
                            <a:rPr lang="en-US" altLang="ko-KR" sz="1600" dirty="0">
                              <a:solidFill>
                                <a:schemeClr val="tx1"/>
                              </a:solidFill>
                            </a:rPr>
                            <a:t>4. </a:t>
                          </a:r>
                          <a:r>
                            <a:rPr lang="ko-KR" altLang="en-US" sz="1600" b="1" dirty="0">
                              <a:solidFill>
                                <a:schemeClr val="tx1"/>
                              </a:solidFill>
                              <a:effectLst/>
                            </a:rPr>
                            <a:t>이동 절차 </a:t>
                          </a:r>
                          <a:r>
                            <a:rPr lang="en-US" altLang="ko-KR" sz="1600" b="1" dirty="0">
                              <a:solidFill>
                                <a:schemeClr val="tx1"/>
                              </a:solidFill>
                              <a:effectLst/>
                            </a:rPr>
                            <a:t>(</a:t>
                          </a:r>
                          <a:r>
                            <a:rPr lang="ko-KR" altLang="en-US" sz="1600" b="1" dirty="0">
                              <a:solidFill>
                                <a:schemeClr val="tx1"/>
                              </a:solidFill>
                              <a:effectLst/>
                            </a:rPr>
                            <a:t>추적 구간</a:t>
                          </a:r>
                          <a:r>
                            <a:rPr lang="en-US" altLang="ko-KR" sz="1600" b="1" dirty="0">
                              <a:solidFill>
                                <a:schemeClr val="tx1"/>
                              </a:solidFill>
                              <a:effectLst/>
                            </a:rPr>
                            <a:t>)</a:t>
                          </a:r>
                          <a:r>
                            <a:rPr lang="ko-KR" altLang="en-US" sz="16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endParaRPr lang="en-US" altLang="ko-KR" sz="16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171450" marR="0" lvl="0" indent="-171450" algn="l" defTabSz="914400" rtl="0" eaLnBrk="1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Font typeface="Arial" panose="020B0604020202020204" pitchFamily="34" charset="0"/>
                            <a:buChar char="•"/>
                            <a:defRPr/>
                          </a:pP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</a:rPr>
                            <a:t>코드 실행 후 커맨드 창에 </a:t>
                          </a: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“움직임 시작”</a:t>
                          </a: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</a:rPr>
                            <a:t> 문구가 출력되면 이동을 시작한다</a:t>
                          </a:r>
                          <a:r>
                            <a:rPr lang="en-US" altLang="ko-KR" sz="1600" b="0" dirty="0">
                              <a:solidFill>
                                <a:schemeClr val="tx1"/>
                              </a:solidFill>
                            </a:rPr>
                            <a:t>. </a:t>
                          </a:r>
                        </a:p>
                        <a:p>
                          <a:pPr marL="0" marR="0" lvl="0" indent="0" algn="l" defTabSz="914400" rtl="0" eaLnBrk="1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Font typeface="Arial" panose="020B0604020202020204" pitchFamily="34" charset="0"/>
                            <a:buNone/>
                            <a:defRPr/>
                          </a:pPr>
                          <a:endParaRPr lang="en-US" altLang="ko-KR" sz="16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l" defTabSz="914400" rtl="0" eaLnBrk="1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Font typeface="Arial" panose="020B0604020202020204" pitchFamily="34" charset="0"/>
                            <a:buNone/>
                            <a:defRPr/>
                          </a:pPr>
                          <a:r>
                            <a:rPr lang="ko-KR" altLang="en-US" sz="1600" dirty="0">
                              <a:solidFill>
                                <a:schemeClr val="tx1"/>
                              </a:solidFill>
                            </a:rPr>
                            <a:t>이동 방식은 다음과 같다</a:t>
                          </a:r>
                          <a:r>
                            <a:rPr lang="en-US" altLang="ko-KR" sz="1600" dirty="0">
                              <a:solidFill>
                                <a:schemeClr val="tx1"/>
                              </a:solidFill>
                            </a:rPr>
                            <a:t>: </a:t>
                          </a:r>
                        </a:p>
                        <a:p>
                          <a:pPr marL="171450" marR="0" lvl="0" indent="-171450" algn="l" defTabSz="914400" rtl="0" eaLnBrk="1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Font typeface="Arial" panose="020B0604020202020204" pitchFamily="34" charset="0"/>
                            <a:buChar char="•"/>
                            <a:defRPr/>
                          </a:pP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좌우 이동</a:t>
                          </a:r>
                          <a:r>
                            <a:rPr lang="en-US" altLang="ko-KR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:</a:t>
                          </a: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</a:rPr>
                            <a:t> 의자 바퀴를 이용하여 </a:t>
                          </a:r>
                          <a:r>
                            <a:rPr lang="ko-KR" altLang="en-US" sz="1600" b="0" dirty="0" err="1">
                              <a:solidFill>
                                <a:schemeClr val="tx1"/>
                              </a:solidFill>
                            </a:rPr>
                            <a:t>표시목</a:t>
                          </a: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</a:rPr>
                            <a:t> 방향으로 이동 </a:t>
                          </a:r>
                          <a:endParaRPr lang="en-US" altLang="ko-KR" sz="16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171450" marR="0" lvl="0" indent="-171450" algn="l" defTabSz="914400" rtl="0" eaLnBrk="1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Font typeface="Arial" panose="020B0604020202020204" pitchFamily="34" charset="0"/>
                            <a:buChar char="•"/>
                            <a:defRPr/>
                          </a:pP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상하 이동</a:t>
                          </a:r>
                          <a:r>
                            <a:rPr lang="en-US" altLang="ko-KR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:</a:t>
                          </a: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</a:rPr>
                            <a:t> 제자리에서 </a:t>
                          </a: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앉았다 일어나는 동작</a:t>
                          </a: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</a:rPr>
                            <a:t>으로 표시목까지 이동 </a:t>
                          </a:r>
                          <a:endParaRPr lang="en-US" altLang="ko-KR" sz="16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171450" marR="0" lvl="0" indent="-171450" algn="l" defTabSz="914400" rtl="0" eaLnBrk="1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Font typeface="Arial" panose="020B0604020202020204" pitchFamily="34" charset="0"/>
                            <a:buChar char="•"/>
                            <a:defRPr/>
                          </a:pP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아래 방향 이동</a:t>
                          </a:r>
                          <a:r>
                            <a:rPr lang="en-US" altLang="ko-KR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:</a:t>
                          </a: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</a:rPr>
                            <a:t> 윗방향으로 먼저 움직인 뒤</a:t>
                          </a:r>
                          <a:r>
                            <a:rPr lang="en-US" altLang="ko-KR" sz="1600" b="0" dirty="0">
                              <a:solidFill>
                                <a:schemeClr val="tx1"/>
                              </a:solidFill>
                            </a:rPr>
                            <a:t>, </a:t>
                          </a: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</a:rPr>
                            <a:t>다시 </a:t>
                          </a: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의자에 앉는 동작</a:t>
                          </a: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</a:rPr>
                            <a:t>으로 거리 보정 </a:t>
                          </a:r>
                          <a:endParaRPr lang="en-US" altLang="ko-KR" sz="16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171450" marR="0" lvl="0" indent="-171450" algn="l" defTabSz="914400" rtl="0" eaLnBrk="1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Font typeface="Arial" panose="020B0604020202020204" pitchFamily="34" charset="0"/>
                            <a:buChar char="•"/>
                            <a:defRPr/>
                          </a:pP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이동 시간</a:t>
                          </a:r>
                          <a:r>
                            <a:rPr lang="en-US" altLang="ko-KR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:</a:t>
                          </a: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</a:rPr>
                            <a:t> 안내 문구 출력 직후부터 </a:t>
                          </a:r>
                          <a:r>
                            <a:rPr lang="en-US" altLang="ko-KR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초간</a:t>
                          </a: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</a:rPr>
                            <a:t> 계측 </a:t>
                          </a:r>
                          <a:r>
                            <a:rPr lang="en-US" altLang="ko-KR" sz="1600" b="0" dirty="0">
                              <a:solidFill>
                                <a:schemeClr val="tx1"/>
                              </a:solidFill>
                            </a:rPr>
                            <a:t>(</a:t>
                          </a: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</a:rPr>
                            <a:t>코드 내 타이머 자동 측정</a:t>
                          </a:r>
                          <a:r>
                            <a:rPr lang="en-US" altLang="ko-KR" sz="1600" b="0" dirty="0">
                              <a:solidFill>
                                <a:schemeClr val="tx1"/>
                              </a:solidFill>
                            </a:rPr>
                            <a:t>) </a:t>
                          </a:r>
                        </a:p>
                        <a:p>
                          <a:pPr marL="0" marR="0" lvl="0" indent="0" algn="l" defTabSz="914400" rtl="0" eaLnBrk="1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Font typeface="Arial" panose="020B0604020202020204" pitchFamily="34" charset="0"/>
                            <a:buNone/>
                            <a:defRPr/>
                          </a:pPr>
                          <a:endParaRPr lang="en-US" altLang="ko-KR" sz="16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l" defTabSz="914400" rtl="0" eaLnBrk="1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Font typeface="Arial" panose="020B0604020202020204" pitchFamily="34" charset="0"/>
                            <a:buNone/>
                            <a:defRPr/>
                          </a:pPr>
                          <a:r>
                            <a:rPr lang="en-US" altLang="ko-KR" sz="1600" dirty="0">
                              <a:solidFill>
                                <a:schemeClr val="tx1"/>
                              </a:solidFill>
                            </a:rPr>
                            <a:t>5. </a:t>
                          </a:r>
                          <a:r>
                            <a:rPr lang="ko-KR" altLang="en-US" sz="1600" b="1" dirty="0">
                              <a:solidFill>
                                <a:schemeClr val="tx1"/>
                              </a:solidFill>
                              <a:effectLst/>
                            </a:rPr>
                            <a:t>정지 절차 </a:t>
                          </a:r>
                          <a:r>
                            <a:rPr lang="en-US" altLang="ko-KR" sz="1600" b="1" dirty="0">
                              <a:solidFill>
                                <a:schemeClr val="tx1"/>
                              </a:solidFill>
                              <a:effectLst/>
                            </a:rPr>
                            <a:t>(</a:t>
                          </a:r>
                          <a:r>
                            <a:rPr lang="ko-KR" altLang="en-US" sz="1600" b="1" dirty="0">
                              <a:solidFill>
                                <a:schemeClr val="tx1"/>
                              </a:solidFill>
                              <a:effectLst/>
                            </a:rPr>
                            <a:t>안정 구간</a:t>
                          </a:r>
                          <a:r>
                            <a:rPr lang="en-US" altLang="ko-KR" sz="1600" b="1" dirty="0">
                              <a:solidFill>
                                <a:schemeClr val="tx1"/>
                              </a:solidFill>
                              <a:effectLst/>
                            </a:rPr>
                            <a:t>)</a:t>
                          </a:r>
                          <a:r>
                            <a:rPr lang="ko-KR" altLang="en-US" sz="16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endParaRPr lang="en-US" altLang="ko-KR" sz="16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171450" marR="0" lvl="0" indent="-171450" algn="l" defTabSz="914400" rtl="0" eaLnBrk="1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Font typeface="Arial" panose="020B0604020202020204" pitchFamily="34" charset="0"/>
                            <a:buChar char="•"/>
                            <a:defRPr/>
                          </a:pP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</a:rPr>
                            <a:t>“</a:t>
                          </a: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정지 시작</a:t>
                          </a: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</a:rPr>
                            <a:t>” 안내 문구가 출력되면 사용자는 즉시 움직임을 멈춘다</a:t>
                          </a:r>
                          <a:r>
                            <a:rPr lang="en-US" altLang="ko-KR" sz="1600" b="0" dirty="0">
                              <a:solidFill>
                                <a:schemeClr val="tx1"/>
                              </a:solidFill>
                            </a:rPr>
                            <a:t>. </a:t>
                          </a:r>
                        </a:p>
                        <a:p>
                          <a:pPr marL="171450" marR="0" lvl="0" indent="-171450" algn="l" defTabSz="914400" rtl="0" eaLnBrk="1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Font typeface="Arial" panose="020B0604020202020204" pitchFamily="34" charset="0"/>
                            <a:buChar char="•"/>
                            <a:defRPr/>
                          </a:pP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정지 상태 유지 시간</a:t>
                          </a:r>
                          <a:r>
                            <a:rPr lang="en-US" altLang="ko-KR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:</a:t>
                          </a: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US" altLang="ko-KR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초간</a:t>
                          </a: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</a:rPr>
                            <a:t> 계측 </a:t>
                          </a:r>
                          <a:r>
                            <a:rPr lang="en-US" altLang="ko-KR" sz="1600" b="0" dirty="0">
                              <a:solidFill>
                                <a:schemeClr val="tx1"/>
                              </a:solidFill>
                            </a:rPr>
                            <a:t>(</a:t>
                          </a: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</a:rPr>
                            <a:t>코드 내 타이머 자동 측정</a:t>
                          </a:r>
                          <a:r>
                            <a:rPr lang="en-US" altLang="ko-KR" sz="1600" b="0" dirty="0">
                              <a:solidFill>
                                <a:schemeClr val="tx1"/>
                              </a:solidFill>
                            </a:rPr>
                            <a:t>) </a:t>
                          </a:r>
                        </a:p>
                        <a:p>
                          <a:pPr marL="171450" marR="0" lvl="0" indent="-171450" algn="l" defTabSz="914400" rtl="0" eaLnBrk="1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Font typeface="Arial" panose="020B0604020202020204" pitchFamily="34" charset="0"/>
                            <a:buChar char="•"/>
                            <a:defRPr/>
                          </a:pP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</a:rPr>
                            <a:t>이 구간에서 </a:t>
                          </a:r>
                          <a:r>
                            <a:rPr lang="ko-KR" altLang="en-US" sz="1600" b="0" dirty="0" err="1">
                              <a:solidFill>
                                <a:schemeClr val="tx1"/>
                              </a:solidFill>
                            </a:rPr>
                            <a:t>로봇팔은</a:t>
                          </a: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</a:rPr>
                            <a:t> 얼굴 중심을 고정 추적하며 진동 정도를 측정한다</a:t>
                          </a:r>
                          <a:r>
                            <a:rPr lang="en-US" altLang="ko-KR" sz="1600" b="0" dirty="0">
                              <a:solidFill>
                                <a:schemeClr val="tx1"/>
                              </a:solidFill>
                            </a:rPr>
                            <a:t>. </a:t>
                          </a:r>
                        </a:p>
                        <a:p>
                          <a:pPr marL="0" marR="0" lvl="0" indent="0" algn="l" defTabSz="914400" rtl="0" eaLnBrk="1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Font typeface="Arial" panose="020B0604020202020204" pitchFamily="34" charset="0"/>
                            <a:buNone/>
                            <a:defRPr/>
                          </a:pPr>
                          <a:endParaRPr lang="en-US" altLang="ko-KR" sz="16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l" defTabSz="914400" rtl="0" eaLnBrk="1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Font typeface="Arial" panose="020B0604020202020204" pitchFamily="34" charset="0"/>
                            <a:buNone/>
                            <a:defRPr/>
                          </a:pPr>
                          <a:r>
                            <a:rPr lang="en-US" altLang="ko-KR" sz="1600" dirty="0">
                              <a:solidFill>
                                <a:schemeClr val="tx1"/>
                              </a:solidFill>
                            </a:rPr>
                            <a:t>6. </a:t>
                          </a:r>
                          <a:r>
                            <a:rPr lang="ko-KR" altLang="en-US" sz="1600" b="1" dirty="0">
                              <a:solidFill>
                                <a:schemeClr val="tx1"/>
                              </a:solidFill>
                              <a:effectLst/>
                            </a:rPr>
                            <a:t>데이터 수집 및 분석</a:t>
                          </a:r>
                          <a:r>
                            <a:rPr lang="ko-KR" altLang="en-US" sz="16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endParaRPr lang="en-US" altLang="ko-KR" sz="16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171450" marR="0" lvl="0" indent="-171450" algn="l" defTabSz="914400" rtl="0" eaLnBrk="1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Font typeface="Arial" panose="020B0604020202020204" pitchFamily="34" charset="0"/>
                            <a:buChar char="•"/>
                            <a:defRPr/>
                          </a:pP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</a:rPr>
                            <a:t>정지 구간 동안 매 프레임 얼굴 중심 좌표 </a:t>
                          </a:r>
                          <a:r>
                            <a:rPr lang="en-US" altLang="ko-KR" sz="1600" b="0" dirty="0">
                              <a:solidFill>
                                <a:schemeClr val="tx1"/>
                              </a:solidFill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ko-KR" sz="16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 dirty="0" err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1600" b="0" i="1" dirty="0" err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altLang="ko-KR" sz="1600" b="0" i="1" dirty="0" err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 dirty="0" err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ko-KR" sz="1600" b="0" i="1" dirty="0" err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ko-KR" sz="1600" b="0" dirty="0">
                              <a:solidFill>
                                <a:schemeClr val="tx1"/>
                              </a:solidFill>
                            </a:rPr>
                            <a:t>))</a:t>
                          </a: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</a:rPr>
                            <a:t>를 기록한다</a:t>
                          </a:r>
                          <a:r>
                            <a:rPr lang="en-US" altLang="ko-KR" sz="1600" b="0" dirty="0">
                              <a:solidFill>
                                <a:schemeClr val="tx1"/>
                              </a:solidFill>
                            </a:rPr>
                            <a:t>. </a:t>
                          </a:r>
                        </a:p>
                        <a:p>
                          <a:pPr marL="171450" marR="0" lvl="0" indent="-171450" algn="l" defTabSz="914400" rtl="0" eaLnBrk="1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Font typeface="Arial" panose="020B0604020202020204" pitchFamily="34" charset="0"/>
                            <a:buChar char="•"/>
                            <a:defRPr/>
                          </a:pP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</a:rPr>
                            <a:t>첫 프레임 좌표를 기준으로</a:t>
                          </a:r>
                          <a:r>
                            <a:rPr lang="en-US" altLang="ko-KR" sz="1600" b="0" dirty="0">
                              <a:solidFill>
                                <a:schemeClr val="tx1"/>
                              </a:solidFill>
                            </a:rPr>
                            <a:t>, </a:t>
                          </a: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</a:rPr>
                            <a:t>지름 </a:t>
                          </a:r>
                          <a:r>
                            <a:rPr lang="en-US" altLang="ko-KR" sz="1600" b="0" dirty="0">
                              <a:solidFill>
                                <a:schemeClr val="tx1"/>
                              </a:solidFill>
                            </a:rPr>
                            <a:t>= </a:t>
                          </a: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</a:rPr>
                            <a:t>화면 가로의 </a:t>
                          </a:r>
                          <a:r>
                            <a:rPr lang="en-US" altLang="ko-KR" sz="1600" b="0" dirty="0">
                              <a:solidFill>
                                <a:schemeClr val="tx1"/>
                              </a:solidFill>
                            </a:rPr>
                            <a:t>n%</a:t>
                          </a: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</a:rPr>
                            <a:t>인 원을 기준 좌표 중심에 설정한다</a:t>
                          </a:r>
                          <a:r>
                            <a:rPr lang="en-US" altLang="ko-KR" sz="1600" b="0" dirty="0">
                              <a:solidFill>
                                <a:schemeClr val="tx1"/>
                              </a:solidFill>
                            </a:rPr>
                            <a:t>. </a:t>
                          </a:r>
                        </a:p>
                        <a:p>
                          <a:pPr marL="171450" marR="0" lvl="0" indent="-171450" algn="l" defTabSz="914400" rtl="0" eaLnBrk="1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Font typeface="Arial" panose="020B0604020202020204" pitchFamily="34" charset="0"/>
                            <a:buChar char="•"/>
                            <a:defRPr/>
                          </a:pPr>
                          <a:r>
                            <a:rPr lang="ko-KR" altLang="en-US" sz="1600" b="0" dirty="0">
                              <a:solidFill>
                                <a:schemeClr val="tx1"/>
                              </a:solidFill>
                            </a:rPr>
                            <a:t>이후 모든 프레임의 좌표가 원 내부에 존재하는 비율을 계산한다</a:t>
                          </a:r>
                          <a:r>
                            <a:rPr lang="en-US" altLang="ko-KR" sz="1600" b="0" dirty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  <a:endParaRPr lang="en-US" altLang="ko-KR" sz="1600" b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w="med" len="med"/>
                          <a:tailEnd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w="med" len="med"/>
                          <a:tailEnd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w="med" len="med"/>
                          <a:tailEnd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9623692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1" name="표 3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1306567"/>
                  </p:ext>
                </p:extLst>
              </p:nvPr>
            </p:nvGraphicFramePr>
            <p:xfrm>
              <a:off x="2057400" y="2266856"/>
              <a:ext cx="14400000" cy="74066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96739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43260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7406640">
                    <a:tc>
                      <a:txBody>
                        <a:bodyPr/>
                        <a:lstStyle/>
                        <a:p>
                          <a:pPr lvl="0" algn="ctr">
                            <a:defRPr/>
                          </a:pPr>
                          <a:r>
                            <a:rPr lang="ko-KR" altLang="en-US" sz="1600" b="0" i="0" dirty="0">
                              <a:solidFill>
                                <a:schemeClr val="bg1"/>
                              </a:solidFill>
                              <a:latin typeface="Gmarket Sans Medium"/>
                              <a:ea typeface="Gmarket Sans Medium"/>
                            </a:rPr>
                            <a:t>측정 방법 상세</a:t>
                          </a:r>
                          <a:endParaRPr lang="ko-Kore-KR" altLang="en-US" sz="1600" b="0" i="0" dirty="0">
                            <a:solidFill>
                              <a:schemeClr val="bg1"/>
                            </a:solidFill>
                            <a:latin typeface="Gmarket Sans Medium"/>
                            <a:ea typeface="Gmarket Sans Medium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w="med" len="med"/>
                          <a:tailEnd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w="med" len="med"/>
                          <a:tailEnd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w="med" len="med"/>
                          <a:tailEnd w="med" len="med"/>
                        </a:lnB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w="med" len="med"/>
                          <a:tailEnd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w="med" len="med"/>
                          <a:tailEnd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w="med" len="med"/>
                          <a:tailEnd w="med" len="med"/>
                        </a:lnB>
                        <a:blipFill>
                          <a:blip r:embed="rId3"/>
                          <a:stretch>
                            <a:fillRect l="-26013" t="-247" r="-107" b="-11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9623692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7142157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square" lIns="0" tIns="0" rIns="0" bIns="0" anchor="t">
        <a:spAutoFit/>
      </a:bodyPr>
      <a:lstStyle>
        <a:defPPr marL="0" lvl="0" indent="0" algn="ctr" defTabSz="914400" rtl="0" eaLnBrk="1" latinLnBrk="0" hangingPunct="1">
          <a:lnSpc>
            <a:spcPts val="3000"/>
          </a:lnSpc>
          <a:spcBef>
            <a:spcPts val="0"/>
          </a:spcBef>
          <a:spcAft>
            <a:spcPts val="0"/>
          </a:spcAft>
          <a:buNone/>
          <a:defRPr kumimoji="0" lang="en-US" altLang="ko-KR" sz="4100" b="1" i="0" u="none" strike="noStrike" kern="1200" cap="none" spc="0" normalizeH="0" baseline="0">
            <a:solidFill>
              <a:srgbClr val="090807"/>
            </a:solidFill>
            <a:latin typeface="Source Han Sans KR"/>
            <a:ea typeface="Source Han Sans KR"/>
            <a:cs typeface="Source Han Sans KR"/>
            <a:sym typeface="Source Han Sans KR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1365</TotalTime>
  <Words>1312</Words>
  <Application>Microsoft Office PowerPoint</Application>
  <PresentationFormat>사용자 지정</PresentationFormat>
  <Paragraphs>185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21" baseType="lpstr">
      <vt:lpstr>Gmarket Sans Medium</vt:lpstr>
      <vt:lpstr>Source Han Sans KR</vt:lpstr>
      <vt:lpstr>Source Han Sans KR Bold</vt:lpstr>
      <vt:lpstr>맑은 고딕</vt:lpstr>
      <vt:lpstr>Arial</vt:lpstr>
      <vt:lpstr>Calibri</vt:lpstr>
      <vt:lpstr>Cambria Math</vt:lpstr>
      <vt:lpstr>Raleway</vt:lpstr>
      <vt:lpstr>1_Office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옐로우 블랙 깔끔한 보고서 프레젠테이션</dc:title>
  <dc:creator>UserK</dc:creator>
  <cp:lastModifiedBy>김종원/임베디드시스템공학과</cp:lastModifiedBy>
  <cp:revision>146</cp:revision>
  <dcterms:created xsi:type="dcterms:W3CDTF">2006-08-16T00:00:00Z</dcterms:created>
  <dcterms:modified xsi:type="dcterms:W3CDTF">2025-10-28T09:16:47Z</dcterms:modified>
  <cp:version/>
</cp:coreProperties>
</file>