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89" r:id="rId4"/>
    <p:sldId id="295" r:id="rId5"/>
    <p:sldId id="298" r:id="rId6"/>
    <p:sldId id="296" r:id="rId7"/>
    <p:sldId id="299" r:id="rId8"/>
    <p:sldId id="297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6" autoAdjust="0"/>
    <p:restoredTop sz="94622" autoAdjust="0"/>
  </p:normalViewPr>
  <p:slideViewPr>
    <p:cSldViewPr>
      <p:cViewPr varScale="1">
        <p:scale>
          <a:sx n="44" d="100"/>
          <a:sy n="44" d="100"/>
        </p:scale>
        <p:origin x="64" y="176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6T14:09:19.3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1772 1435,'-13'0,"0"0,0 0,0-1,-1-1,1 0,0-1,1 0,-1-1,1 0,-24-13,-54-45,39 25,23 17,13 9,0 1,0 0,-1 1,-19-8,-21-4,2-2,0-3,2-2,-77-55,84 49,-2 1,-1 3,-76-37,88 52,9 5,0-2,1-1,0-1,-43-31,46 25,1-1,1-1,0 0,2-2,1 0,-23-40,30 46,-2 1,-18-21,18 25,2-1,0-1,-16-27,16 18,2 6,0 0,-1 1,-17-23,-2 2,1-1,1-1,3-2,-21-47,25 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6T14:09:20.1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1952 3816,'-5'-9,"0"0,0 1,0-1,-1 2,-8-9,-4-6,-38-46,-194-243,88 98,-36-39,-503-704,502 634,52 47,50 57,36 40,54 150,2 0,0 0,2 0,0-40,3 60,1 0,-1 0,1 0,1 0,-1 0,1 1,1-1,3-8,-3 10,1 1,-1-1,1 1,0 0,0 0,1 1,-1-1,1 1,0 0,8-5,173-105,-115 72,81-33,79-21,-31 25,4 8,236-40,-297 78,1 6,1 6,189 8,-286 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14:09:42.6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1714 2786 24575,'-104'1'0,"-115"-3"0,183-4 0,2-1 0,-1-1 0,1-3 0,-47-19 0,27 9 0,-26-11 0,-29-10 0,87 33 0,0 0 0,-35-23 0,7 5 0,-165-94 0,188 106 0,0-1 0,2-2 0,0 0 0,1-1 0,-24-25 0,16 14 39,19 20-429,2-1 0,-13-14 1,8 5-2487,-15-27 0,9 7 2909,2-1-1,-15-48 1,-1 0-1197,-25-76 5339,53 136-3421,1 0 1,1 0 0,2 0 0,-1-31-1,4 47-754,1-15 0,-2 0 0,-10-53 0,0 31 0,2-1 0,2 0 0,3-1 0,1-55 0,4 10 0,2-68 0,0 146 0,1 0 0,1 1 0,0-1 0,1 1 0,1 0 0,1 1 0,15-29 0,-5 16 0,2 1 0,2 0 0,29-32 0,-14 19 0,89-92 0,0 20 0,-95 90 0,56-33 0,-65 47 0,1 0 0,1 1 0,28-8 0,31-11 0,-75 25 0,102-39 0,-92 37 0,1 0 0,-1 2 0,1 0 0,29-1 0,318 5 0,-120 1 0,-231-2 0,-1 0 0,0 1 0,1 1 0,-1 0 0,0 0 0,0 1 0,0 1 0,-1 1 0,1-1 0,21 13 0,-14-7 0,0-1 0,1 0 0,21 5 0,-21-8 0,-1 1 0,0 1 0,21 12 0,35 19 0,-54-30 0,-1 2 0,-1 0 0,0 1 0,35 29 0,26 34 486,38 48-4473,73 92-2499,-189-211 6489,63 76-530,-29-31 2701,-3 2 1,28 54-1,-48-77-712,-1 0 0,13 49 0,-17-43-1768,-2 0 0,-1 1 1,-2 0-1,0 38 1,-8 381-7912,3-432 8217,0-1 0,-2 0 0,-1 1 0,-8 27 0,-34 80 0,-15 16 0,49-124 0,0 0 0,-1 0 0,-1-2 0,-24 28 0,19-26 0,-244 269 0,180-201 0,75-82 416,-1 0-1,0 0 0,0 0 0,-1-2 1,0 1-1,0-1 0,0 0 1,-14 3-1,7-1 473,-29 16 1,1 4 1027,-60 27 0,58-37-1916,-74 17 0,86-25 0,12-2-1365,6 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77D78-677B-4388-9014-A7D00F856CBB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243C2-348B-4BA0-9C72-769A9D1F5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809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205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69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B32D-C09C-4F42-1E5F-BD8615A2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618929-1090-9DD4-3BEA-ED9260483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31851A-D409-C990-07D0-D3217BBAB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16C00-C2AA-D3A7-0E0E-3604B2216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412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69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69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14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39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70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41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7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5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45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79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5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61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0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6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2478" y="4503386"/>
            <a:ext cx="10603044" cy="12060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18909" y="3803743"/>
            <a:ext cx="2050182" cy="7111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463794"/>
            <a:ext cx="1252686" cy="346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25.09.17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3965" y="8924925"/>
            <a:ext cx="1859235" cy="105516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</a:t>
            </a:r>
            <a:r>
              <a:rPr lang="ko-KR" alt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손홍준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최민주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이채은</a:t>
            </a:r>
            <a:endParaRPr lang="ko-KR" alt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121212" y="9117013"/>
            <a:ext cx="15166788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356CF62B-93A6-4869-80EF-5B63F7B8F4D3}"/>
              </a:ext>
            </a:extLst>
          </p:cNvPr>
          <p:cNvSpPr txBox="1">
            <a:spLocks/>
          </p:cNvSpPr>
          <p:nvPr/>
        </p:nvSpPr>
        <p:spPr>
          <a:xfrm>
            <a:off x="860425" y="2552700"/>
            <a:ext cx="13616152" cy="31476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514350" lvl="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움직이는 대상 빠르게 쫓아가기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cs typeface="Raleway Bold" charset="0"/>
            </a:endParaRPr>
          </a:p>
          <a:p>
            <a:pPr marL="514350" lvl="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 err="1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로봇팔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 </a:t>
            </a:r>
            <a:r>
              <a:rPr lang="ko-KR" altLang="en-US" sz="3600" b="1" dirty="0" err="1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이동간에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 흔들림 방지 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3. 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사용자 정지 시 떨림 보정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0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356CF62B-93A6-4869-80EF-5B63F7B8F4D3}"/>
              </a:ext>
            </a:extLst>
          </p:cNvPr>
          <p:cNvSpPr txBox="1">
            <a:spLocks/>
          </p:cNvSpPr>
          <p:nvPr/>
        </p:nvSpPr>
        <p:spPr>
          <a:xfrm>
            <a:off x="990600" y="2066234"/>
            <a:ext cx="13616152" cy="6860596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514350" lvl="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움직이는 대상 빠르게 쫓아가기</a:t>
            </a:r>
            <a:endParaRPr lang="en-US" altLang="ko-KR" sz="3200" b="1" dirty="0">
              <a:solidFill>
                <a:srgbClr val="090807"/>
              </a:solidFill>
              <a:latin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측정이유 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1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인 </a:t>
            </a:r>
            <a:r>
              <a:rPr lang="ko-KR" altLang="en-US" sz="3200" dirty="0" err="1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유튜버들의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 방송을 보았을 때 일어나거나 앉아있는 상태로 좌우로 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1m 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이내를 자주 움직인다는 것을 알 수 있음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Tx/>
              <a:buChar char="-"/>
              <a:defRPr/>
            </a:pP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방법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: </a:t>
            </a:r>
            <a:r>
              <a:rPr lang="ko-KR" altLang="en-US" sz="3200" dirty="0"/>
              <a:t>얼굴이 </a:t>
            </a:r>
            <a:r>
              <a:rPr lang="ko-KR" altLang="en-US" sz="3200" dirty="0" err="1"/>
              <a:t>좌우상하</a:t>
            </a:r>
            <a:r>
              <a:rPr lang="en-US" altLang="ko-KR" sz="3200" dirty="0"/>
              <a:t>(</a:t>
            </a:r>
            <a:r>
              <a:rPr lang="ko-KR" altLang="en-US" sz="3200" dirty="0"/>
              <a:t>좌우</a:t>
            </a:r>
            <a:r>
              <a:rPr lang="en-US" altLang="ko-KR" sz="3200" dirty="0"/>
              <a:t>: 1m, </a:t>
            </a:r>
            <a:r>
              <a:rPr lang="ko-KR" altLang="en-US" sz="3200" dirty="0"/>
              <a:t>상하</a:t>
            </a:r>
            <a:r>
              <a:rPr lang="en-US" altLang="ko-KR" sz="3200" dirty="0"/>
              <a:t>:50cm) </a:t>
            </a:r>
            <a:r>
              <a:rPr lang="ko-KR" altLang="en-US" sz="3200" dirty="0"/>
              <a:t>중 하나의 방향으로 초속</a:t>
            </a:r>
            <a:r>
              <a:rPr lang="en-US" altLang="ko-KR" sz="3200" dirty="0"/>
              <a:t>0.5m(1m </a:t>
            </a:r>
            <a:r>
              <a:rPr lang="ko-KR" altLang="en-US" sz="3200" dirty="0"/>
              <a:t>움직이는데 </a:t>
            </a:r>
            <a:r>
              <a:rPr lang="en-US" altLang="ko-KR" sz="3200" dirty="0"/>
              <a:t>2</a:t>
            </a:r>
            <a:r>
              <a:rPr lang="ko-KR" altLang="en-US" sz="3200" dirty="0"/>
              <a:t>초</a:t>
            </a:r>
            <a:r>
              <a:rPr lang="en-US" altLang="ko-KR" sz="3200" dirty="0"/>
              <a:t>)</a:t>
            </a:r>
            <a:r>
              <a:rPr lang="ko-KR" altLang="en-US" sz="3200" dirty="0"/>
              <a:t>로 움직일 때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로봇팔이</a:t>
            </a:r>
            <a:r>
              <a:rPr lang="ko-KR" altLang="en-US" sz="3200" dirty="0"/>
              <a:t> 사람의 움직임을 따라가서 다시 얼굴이 인식되는 시간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Tx/>
              <a:buChar char="-"/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목표 결과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2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초 이내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1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E6E1B-2932-4E46-CBBD-CE1C3518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1B54589-41BB-BFA8-B232-5FC46B3191FE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F8933899-6208-A040-0891-B29130EF054A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41823-D0AB-6DB6-38D2-D2F007ACD31F}"/>
              </a:ext>
            </a:extLst>
          </p:cNvPr>
          <p:cNvSpPr txBox="1"/>
          <p:nvPr/>
        </p:nvSpPr>
        <p:spPr>
          <a:xfrm>
            <a:off x="1295400" y="3390900"/>
            <a:ext cx="6934200" cy="5001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첫번째 질문</a:t>
            </a:r>
            <a:b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ko-KR" altLang="en-US" sz="28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로봇팔이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움직일 때 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x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축으로 움직일 때 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y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축의 좌표는 이동하지 않는 평가지표를 프롬프트에 추가해서 개선을 해달라고 작성</a:t>
            </a:r>
            <a:b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b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57200" indent="-45720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57200" indent="-45720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sz="2800" b="1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꼬리 질문 </a:t>
            </a:r>
            <a:b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해당 평가방법은 정량적으로 정확하지 않고 측정 방법이 까다로우니 수식적으로 흔들림을 측정해달라는 프롬프트 작성함</a:t>
            </a:r>
            <a:endParaRPr kumimoji="0" lang="ko-KR" altLang="en-US" sz="28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0C812-9311-EDE1-7008-43081B5CC8B9}"/>
              </a:ext>
            </a:extLst>
          </p:cNvPr>
          <p:cNvSpPr txBox="1"/>
          <p:nvPr/>
        </p:nvSpPr>
        <p:spPr>
          <a:xfrm>
            <a:off x="8698595" y="3364776"/>
            <a:ext cx="8853386" cy="115416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x 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이동 동안 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y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값들이 평균 위치에서 평균적으로 </a:t>
            </a:r>
            <a:b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얼마나 떨어져 있는지의 평균 거리를 구함</a:t>
            </a:r>
            <a:b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값이 작을수록 안정적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ource Han Sans KR"/>
              <a:sym typeface="Source Han Sans KR"/>
            </a:endParaRP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80C820B6-B48E-D7B3-A444-F9EBEBFD3BD9}"/>
              </a:ext>
            </a:extLst>
          </p:cNvPr>
          <p:cNvSpPr/>
          <p:nvPr/>
        </p:nvSpPr>
        <p:spPr>
          <a:xfrm>
            <a:off x="12801600" y="4825005"/>
            <a:ext cx="1086013" cy="1154161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3B5EFD-6A76-B03B-7EAC-31FDF12B9B85}"/>
                  </a:ext>
                </a:extLst>
              </p:cNvPr>
              <p:cNvSpPr txBox="1"/>
              <p:nvPr/>
            </p:nvSpPr>
            <p:spPr>
              <a:xfrm>
                <a:off x="8801100" y="6667500"/>
                <a:ext cx="8001000" cy="192360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벡터 크기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l-GR" altLang="ko-KR" sz="3200" i="1" dirty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  <a:cs typeface="Raleway Bold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3200" i="1" dirty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l-GR" altLang="ko-KR" sz="3200" i="1" dirty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3200" dirty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Δ</m:t>
                                </m:r>
                                <m:r>
                                  <a:rPr lang="en-US" altLang="ko-KR" sz="3200" i="1" dirty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3200" i="1" dirty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3200" i="1" dirty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  <a:cs typeface="Raleway Bold" charset="0"/>
                          </a:rPr>
                          <m:t>+ </m:t>
                        </m:r>
                        <m:sSup>
                          <m:sSupPr>
                            <m:ctrlPr>
                              <a:rPr lang="en-US" altLang="ko-KR" sz="3200" i="1" dirty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3200" i="1" dirty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3200" dirty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Δ</m:t>
                                </m:r>
                                <m:r>
                                  <a:rPr lang="en-US" altLang="ko-KR" sz="3200" i="1" dirty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3200" i="1" dirty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 계산</a:t>
                </a:r>
                <a:br>
                  <a:rPr lang="en-US" altLang="ko-KR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</a:br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벡터의 크기가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10px 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이하를 목표</a:t>
                </a:r>
                <a:br>
                  <a:rPr lang="en-US" altLang="ko-KR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</a:br>
                <a:br>
                  <a:rPr lang="en-US" altLang="ko-KR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</a:br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영상처리 논문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, EIS(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전자식 </a:t>
                </a:r>
                <a:r>
                  <a:rPr lang="ko-KR" altLang="en-US" sz="3200" dirty="0" err="1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손떨림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 보정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) 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Raleway Bold" charset="0"/>
                  </a:rPr>
                  <a:t>평가에 자주 쓰이는 방식</a:t>
                </a:r>
                <a:endParaRPr kumimoji="0" lang="ko-KR" altLang="en-US" sz="3200" b="1" i="0" u="none" strike="noStrike" kern="1200" cap="none" spc="0" normalizeH="0" baseline="0" dirty="0">
                  <a:solidFill>
                    <a:srgbClr val="090807"/>
                  </a:solidFill>
                  <a:latin typeface="HY견고딕" panose="02030600000101010101" pitchFamily="18" charset="-127"/>
                  <a:ea typeface="HY견고딕" panose="02030600000101010101" pitchFamily="18" charset="-127"/>
                  <a:cs typeface="Source Han Sans KR"/>
                  <a:sym typeface="Source Han Sans KR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3B5EFD-6A76-B03B-7EAC-31FDF12B9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100" y="6667500"/>
                <a:ext cx="8001000" cy="1923604"/>
              </a:xfrm>
              <a:prstGeom prst="rect">
                <a:avLst/>
              </a:prstGeom>
              <a:blipFill>
                <a:blip r:embed="rId3"/>
                <a:stretch>
                  <a:fillRect t="-13651" r="-1601" b="-11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742569D-BD70-8689-A7DE-73C554C0D1ED}"/>
              </a:ext>
            </a:extLst>
          </p:cNvPr>
          <p:cNvSpPr txBox="1"/>
          <p:nvPr/>
        </p:nvSpPr>
        <p:spPr>
          <a:xfrm>
            <a:off x="11211006" y="2465326"/>
            <a:ext cx="4267200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41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인공지능 답변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1FCE2-5259-2107-13C3-10398912314A}"/>
              </a:ext>
            </a:extLst>
          </p:cNvPr>
          <p:cNvSpPr txBox="1"/>
          <p:nvPr/>
        </p:nvSpPr>
        <p:spPr>
          <a:xfrm>
            <a:off x="2494280" y="2465325"/>
            <a:ext cx="4267200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41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프롬프트</a:t>
            </a:r>
          </a:p>
        </p:txBody>
      </p:sp>
    </p:spTree>
    <p:extLst>
      <p:ext uri="{BB962C8B-B14F-4D97-AF65-F5344CB8AC3E}">
        <p14:creationId xmlns:p14="http://schemas.microsoft.com/office/powerpoint/2010/main" val="3187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 0">
                <a:extLst>
                  <a:ext uri="{FF2B5EF4-FFF2-40B4-BE49-F238E27FC236}">
                    <a16:creationId xmlns:a16="http://schemas.microsoft.com/office/drawing/2014/main" id="{356CF62B-93A6-4869-80EF-5B63F7B8F4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2095500"/>
                <a:ext cx="15011400" cy="6945363"/>
              </a:xfrm>
              <a:prstGeom prst="rect">
                <a:avLst/>
              </a:prstGeom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altLang="ko-KR" sz="3200" b="1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2. </a:t>
                </a:r>
                <a:r>
                  <a:rPr lang="ko-KR" altLang="en-US" sz="3200" b="1" dirty="0" err="1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로봇팔</a:t>
                </a:r>
                <a:r>
                  <a:rPr lang="ko-KR" altLang="en-US" sz="3200" b="1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 </a:t>
                </a:r>
                <a:r>
                  <a:rPr lang="ko-KR" altLang="en-US" sz="3200" b="1" dirty="0" err="1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이동간에</a:t>
                </a:r>
                <a:r>
                  <a:rPr lang="ko-KR" altLang="en-US" sz="3200" b="1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 흔들림 방지</a:t>
                </a:r>
                <a:endParaRPr lang="en-US" altLang="ko-KR" sz="3200" b="1" dirty="0">
                  <a:solidFill>
                    <a:srgbClr val="09080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Raleway Bold" charset="0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2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lang="ko-KR" altLang="en-US" sz="3200" b="1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측정이유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: </a:t>
                </a:r>
                <a:r>
                  <a:rPr lang="ko-KR" altLang="en-US" sz="3200" dirty="0" err="1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로봇팔이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 움직이는 도중에 흔들림 방지</a:t>
                </a:r>
                <a:endParaRPr lang="en-US" altLang="ko-KR" sz="3200" dirty="0">
                  <a:solidFill>
                    <a:srgbClr val="09080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Raleway Bold" charset="0"/>
                </a:endParaRPr>
              </a:p>
              <a:p>
                <a:pPr marL="457200" lvl="0" indent="-457200">
                  <a:lnSpc>
                    <a:spcPct val="200000"/>
                  </a:lnSpc>
                  <a:spcBef>
                    <a:spcPct val="0"/>
                  </a:spcBef>
                  <a:buFontTx/>
                  <a:buChar char="-"/>
                  <a:defRPr/>
                </a:pPr>
                <a:r>
                  <a:rPr lang="ko-KR" altLang="en-US" sz="3200" b="1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방법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: 30cm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를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3</a:t>
                </a:r>
                <a:r>
                  <a:rPr lang="ko-KR" altLang="en-US" sz="3200" dirty="0" err="1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초동안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 초속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10cm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로 사용자가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(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상하좌우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)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로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 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이동했을 때 각 프레임 단위로 계속 얼굴중심 좌표를 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획득하고 프레임 간 </a:t>
                </a:r>
                <a:r>
                  <a:rPr lang="ko-KR" altLang="en-US" sz="3200" dirty="0" err="1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이동량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3200" i="0" dirty="0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  <a:cs typeface="Raleway Bold" charset="0"/>
                      </a:rPr>
                      <m:t>Δ</m:t>
                    </m:r>
                    <m:r>
                      <a:rPr lang="en-US" altLang="ko-KR" sz="3200" i="1" dirty="0" err="1">
                        <a:solidFill>
                          <a:srgbClr val="090807"/>
                        </a:solidFill>
                        <a:latin typeface="Cambria Math" panose="02040503050406030204" pitchFamily="18" charset="0"/>
                        <a:cs typeface="Raleway Bold" charset="0"/>
                      </a:rPr>
                      <m:t>𝑥</m:t>
                    </m:r>
                    <m:r>
                      <a:rPr lang="en-US" altLang="ko-KR" sz="3200" i="1" dirty="0">
                        <a:solidFill>
                          <a:srgbClr val="090807"/>
                        </a:solidFill>
                        <a:latin typeface="Cambria Math" panose="02040503050406030204" pitchFamily="18" charset="0"/>
                        <a:cs typeface="Raleway Bold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sz="3200" i="0" dirty="0" err="1">
                        <a:solidFill>
                          <a:srgbClr val="090807"/>
                        </a:solidFill>
                        <a:latin typeface="Cambria Math" panose="02040503050406030204" pitchFamily="18" charset="0"/>
                        <a:cs typeface="Raleway Bold" charset="0"/>
                      </a:rPr>
                      <m:t>Δ</m:t>
                    </m:r>
                    <m:r>
                      <a:rPr lang="en-US" altLang="ko-KR" sz="3200" i="1" dirty="0" err="1">
                        <a:solidFill>
                          <a:srgbClr val="090807"/>
                        </a:solidFill>
                        <a:latin typeface="Cambria Math" panose="02040503050406030204" pitchFamily="18" charset="0"/>
                        <a:cs typeface="Raleway Bold" charset="0"/>
                      </a:rPr>
                      <m:t>𝑦</m:t>
                    </m:r>
                  </m:oMath>
                </a14:m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)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의 벡터 크기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l-GR" altLang="ko-KR" sz="3200" i="1" dirty="0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  <a:cs typeface="Raleway Bold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3200" i="1" dirty="0" smtClean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l-GR" altLang="ko-KR" sz="3200" i="1" dirty="0" smtClean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3200" i="0" dirty="0" smtClean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Δ</m:t>
                                </m:r>
                                <m:r>
                                  <a:rPr lang="en-US" altLang="ko-KR" sz="3200" i="1" dirty="0" smtClean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3200" i="1" dirty="0" smtClean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3200" i="1" dirty="0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  <a:cs typeface="Raleway Bold" charset="0"/>
                          </a:rPr>
                          <m:t>+ </m:t>
                        </m:r>
                        <m:sSup>
                          <m:sSupPr>
                            <m:ctrlPr>
                              <a:rPr lang="en-US" altLang="ko-KR" sz="3200" i="1" dirty="0" smtClean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3200" i="1" dirty="0" smtClean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3200" i="0" dirty="0" smtClean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Δ</m:t>
                                </m:r>
                                <m:r>
                                  <a:rPr lang="en-US" altLang="ko-KR" sz="3200" i="1" dirty="0" smtClean="0">
                                    <a:solidFill>
                                      <a:srgbClr val="090807"/>
                                    </a:solidFill>
                                    <a:latin typeface="Cambria Math" panose="02040503050406030204" pitchFamily="18" charset="0"/>
                                    <a:cs typeface="Raleway Bold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3200" i="1" dirty="0" smtClean="0">
                                <a:solidFill>
                                  <a:srgbClr val="090807"/>
                                </a:solidFill>
                                <a:latin typeface="Cambria Math" panose="02040503050406030204" pitchFamily="18" charset="0"/>
                                <a:cs typeface="Raleway Bold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 계산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, 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벡터의 크기가 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10px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이하인 프레임수의 비율을 구한다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cs typeface="Raleway Bold" charset="0"/>
                  </a:rPr>
                  <a:t>.</a:t>
                </a:r>
                <a:endParaRPr lang="en-US" altLang="ko-KR" sz="3200" dirty="0">
                  <a:solidFill>
                    <a:srgbClr val="09080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Raleway Bold" charset="0"/>
                </a:endParaRPr>
              </a:p>
              <a:p>
                <a:pPr lvl="0">
                  <a:lnSpc>
                    <a:spcPct val="200000"/>
                  </a:lnSpc>
                  <a:spcBef>
                    <a:spcPct val="0"/>
                  </a:spcBef>
                  <a:defRPr/>
                </a:pPr>
                <a:r>
                  <a:rPr lang="en-US" altLang="ko-KR" sz="3200" b="1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- </a:t>
                </a:r>
                <a:r>
                  <a:rPr lang="ko-KR" altLang="en-US" sz="3200" b="1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목표 결과</a:t>
                </a:r>
                <a:r>
                  <a:rPr lang="en-US" altLang="ko-KR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: 85%</a:t>
                </a:r>
                <a:r>
                  <a:rPr lang="ko-KR" altLang="en-US" sz="3200" dirty="0">
                    <a:solidFill>
                      <a:srgbClr val="09080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Raleway Bold" charset="0"/>
                  </a:rPr>
                  <a:t>이상</a:t>
                </a:r>
                <a:endParaRPr lang="en-US" altLang="ko-KR" sz="3200" dirty="0">
                  <a:solidFill>
                    <a:srgbClr val="09080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Raleway Bold" charset="0"/>
                </a:endParaRPr>
              </a:p>
            </p:txBody>
          </p:sp>
        </mc:Choice>
        <mc:Fallback xmlns="">
          <p:sp>
            <p:nvSpPr>
              <p:cNvPr id="7" name="Rect 0">
                <a:extLst>
                  <a:ext uri="{FF2B5EF4-FFF2-40B4-BE49-F238E27FC236}">
                    <a16:creationId xmlns:a16="http://schemas.microsoft.com/office/drawing/2014/main" id="{356CF62B-93A6-4869-80EF-5B63F7B8F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95500"/>
                <a:ext cx="15011400" cy="6945363"/>
              </a:xfrm>
              <a:prstGeom prst="rect">
                <a:avLst/>
              </a:prstGeom>
              <a:blipFill>
                <a:blip r:embed="rId3"/>
                <a:stretch>
                  <a:fillRect l="-1827" b="-25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89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C90FBAA0-BA68-6B0F-5D3D-2D1616BEE15E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cxnSp>
        <p:nvCxnSpPr>
          <p:cNvPr id="3" name="Rect 0">
            <a:extLst>
              <a:ext uri="{FF2B5EF4-FFF2-40B4-BE49-F238E27FC236}">
                <a16:creationId xmlns:a16="http://schemas.microsoft.com/office/drawing/2014/main" id="{DAAE898F-C9D0-23A0-35B2-6AA035449C62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5CE88C-1EB9-4E15-EFF6-7BA47B0F7CE7}"/>
              </a:ext>
            </a:extLst>
          </p:cNvPr>
          <p:cNvSpPr txBox="1"/>
          <p:nvPr/>
        </p:nvSpPr>
        <p:spPr>
          <a:xfrm>
            <a:off x="2603500" y="3086100"/>
            <a:ext cx="4267200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41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프롬프트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4D474-6ADF-FE06-F214-2FAF6FB46F22}"/>
              </a:ext>
            </a:extLst>
          </p:cNvPr>
          <p:cNvSpPr txBox="1"/>
          <p:nvPr/>
        </p:nvSpPr>
        <p:spPr>
          <a:xfrm>
            <a:off x="1270000" y="4457700"/>
            <a:ext cx="6934200" cy="2705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첫번째 질문</a:t>
            </a: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ko-KR" altLang="en-US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기존의 정량지표를 개선해달라는</a:t>
            </a: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프롬프트 작성</a:t>
            </a:r>
            <a:br>
              <a:rPr lang="en-US" altLang="ko-KR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1D8D-CE1E-1297-F181-49E1C69353ED}"/>
              </a:ext>
            </a:extLst>
          </p:cNvPr>
          <p:cNvSpPr txBox="1"/>
          <p:nvPr/>
        </p:nvSpPr>
        <p:spPr>
          <a:xfrm>
            <a:off x="9169400" y="2896627"/>
            <a:ext cx="7848600" cy="5398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</a:t>
            </a: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시간조건 개선</a:t>
            </a:r>
            <a:endParaRPr kumimoji="0" lang="en-US" altLang="ko-KR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altLang="ko-KR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</a:t>
            </a:r>
            <a:r>
              <a:rPr kumimoji="0" lang="ko-KR" altLang="en-US" sz="3200" b="1" i="0" u="none" strike="noStrike" kern="1200" cap="none" spc="0" normalizeH="0" baseline="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초동안</a:t>
            </a: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보다 정확한 프레임 수 </a:t>
            </a:r>
            <a:endParaRPr kumimoji="0" lang="en-US" altLang="ko-KR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altLang="ko-KR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기준으로</a:t>
            </a:r>
            <a:r>
              <a:rPr lang="en-US" altLang="ko-KR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표현</a:t>
            </a:r>
            <a:endParaRPr kumimoji="0" lang="en-US" altLang="ko-KR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좌표기준</a:t>
            </a: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왼쪽 아래 좌표보다 얼굴중심 좌표로</a:t>
            </a: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좌표 측정</a:t>
            </a:r>
            <a:endParaRPr lang="en-US" altLang="ko-KR" sz="32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575481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356CF62B-93A6-4869-80EF-5B63F7B8F4D3}"/>
              </a:ext>
            </a:extLst>
          </p:cNvPr>
          <p:cNvSpPr txBox="1">
            <a:spLocks/>
          </p:cNvSpPr>
          <p:nvPr/>
        </p:nvSpPr>
        <p:spPr>
          <a:xfrm>
            <a:off x="381000" y="3035979"/>
            <a:ext cx="17907000" cy="5895268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3. </a:t>
            </a:r>
            <a:r>
              <a:rPr lang="ko-KR" altLang="en-US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사용자 정지 시 떨림 보정</a:t>
            </a:r>
            <a:endParaRPr lang="en-US" altLang="ko-KR" sz="2800" b="1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방법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</a:t>
            </a:r>
            <a:r>
              <a:rPr lang="ko-KR" altLang="en-US" sz="2800" dirty="0" err="1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로봇팔이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 사용자의 움직임을 따라간 후에 사용자가 움직이지</a:t>
            </a:r>
            <a:endParaRPr lang="en-US" altLang="ko-KR" sz="28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않는다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. 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그 이후 </a:t>
            </a:r>
            <a:r>
              <a:rPr lang="ko-KR" altLang="en-US" sz="2800" dirty="0"/>
              <a:t> 사용자가 가만히 </a:t>
            </a:r>
            <a:r>
              <a:rPr lang="en-US" altLang="ko-KR" sz="2800" dirty="0"/>
              <a:t>3</a:t>
            </a:r>
            <a:r>
              <a:rPr lang="ko-KR" altLang="en-US" sz="2800" dirty="0" err="1"/>
              <a:t>초동안</a:t>
            </a:r>
            <a:r>
              <a:rPr lang="ko-KR" altLang="en-US" sz="2800" dirty="0"/>
              <a:t> 있을 때 매</a:t>
            </a:r>
            <a:r>
              <a:rPr lang="en-US" altLang="ko-KR" sz="2800" dirty="0"/>
              <a:t> </a:t>
            </a:r>
            <a:r>
              <a:rPr lang="ko-KR" altLang="en-US" sz="2800" dirty="0"/>
              <a:t>프레임마다 모든 사각형의 얼굴중앙 좌표를 구한다</a:t>
            </a:r>
            <a:r>
              <a:rPr lang="en-US" altLang="ko-KR" sz="2800" dirty="0"/>
              <a:t>.  </a:t>
            </a:r>
            <a:r>
              <a:rPr lang="ko-KR" altLang="en-US" sz="2800" dirty="0"/>
              <a:t>그 </a:t>
            </a:r>
            <a:r>
              <a:rPr lang="ko-KR" altLang="en-US" sz="2800" dirty="0" err="1"/>
              <a:t>좌표중</a:t>
            </a:r>
            <a:r>
              <a:rPr lang="ko-KR" altLang="en-US" sz="2800" dirty="0"/>
              <a:t> 가장 먼저 측정한 좌표를 기준으로 지름이 </a:t>
            </a:r>
            <a:r>
              <a:rPr lang="en-US" altLang="ko-KR" sz="2800" dirty="0"/>
              <a:t>18px</a:t>
            </a:r>
            <a:r>
              <a:rPr lang="ko-KR" altLang="en-US" sz="2800" dirty="0"/>
              <a:t>인 원을 임의로 그렸을 때 다른 좌표가 해당 원의 범위에 들어가는 경우의 수를 구한다</a:t>
            </a:r>
            <a:r>
              <a:rPr lang="en-US" altLang="ko-KR" sz="2800" dirty="0"/>
              <a:t>.(</a:t>
            </a:r>
            <a:r>
              <a:rPr lang="ko-KR" altLang="en-US" sz="2800" dirty="0"/>
              <a:t>만약 떨림이 있다면 각 좌표들의 값의 차이가 크므로 좌표들이 원 밖에 있고</a:t>
            </a:r>
            <a:r>
              <a:rPr lang="en-US" altLang="ko-KR" sz="2800" dirty="0"/>
              <a:t>, </a:t>
            </a:r>
            <a:r>
              <a:rPr lang="ko-KR" altLang="en-US" sz="2800" dirty="0"/>
              <a:t>떨림이 없다면 좌표들의 차이가 적어져서 좌표들이 원 내에 존재한다</a:t>
            </a:r>
            <a:r>
              <a:rPr lang="en-US" altLang="ko-KR" sz="2800" dirty="0"/>
              <a:t>.)</a:t>
            </a:r>
            <a:endParaRPr lang="en-US" altLang="ko-KR" sz="28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목표 결과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총 좌표 대비 원 안에 좌표가 있을 확률이 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80% 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이상</a:t>
            </a:r>
            <a:endParaRPr lang="en-US" altLang="ko-KR" sz="28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F66A30-5BD9-E04A-519B-52F4D5F2D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0" y="342900"/>
            <a:ext cx="5257800" cy="4515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582216-A695-DC7E-8D8A-5B3896EAB20D}"/>
              </a:ext>
            </a:extLst>
          </p:cNvPr>
          <p:cNvSpPr txBox="1"/>
          <p:nvPr/>
        </p:nvSpPr>
        <p:spPr>
          <a:xfrm>
            <a:off x="8623492" y="1723904"/>
            <a:ext cx="3276600" cy="806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임의로 그린 </a:t>
            </a:r>
            <a:endParaRPr kumimoji="0" lang="en-US" altLang="ko-KR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지름 </a:t>
            </a: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18px </a:t>
            </a: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52F7E2A-D90E-6367-9E1D-84B3A26ADB08}"/>
              </a:ext>
            </a:extLst>
          </p:cNvPr>
          <p:cNvSpPr/>
          <p:nvPr/>
        </p:nvSpPr>
        <p:spPr>
          <a:xfrm rot="1034635">
            <a:off x="11376322" y="2252637"/>
            <a:ext cx="3231554" cy="641945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AD39D3C-B312-8892-E350-B4B1024DD322}"/>
                  </a:ext>
                </a:extLst>
              </p14:cNvPr>
              <p14:cNvContentPartPr/>
              <p14:nvPr/>
            </p14:nvContentPartPr>
            <p14:xfrm>
              <a:off x="14221244" y="2975465"/>
              <a:ext cx="638280" cy="5169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AD39D3C-B312-8892-E350-B4B1024DD3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67604" y="2867465"/>
                <a:ext cx="745920" cy="7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7599337-8CAC-8CF5-00D3-AE50B1CA1111}"/>
                  </a:ext>
                </a:extLst>
              </p14:cNvPr>
              <p14:cNvContentPartPr/>
              <p14:nvPr/>
            </p14:nvContentPartPr>
            <p14:xfrm>
              <a:off x="13803284" y="1972145"/>
              <a:ext cx="852840" cy="13741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7599337-8CAC-8CF5-00D3-AE50B1CA11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49284" y="1864145"/>
                <a:ext cx="960480" cy="15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8B8C1CC8-95A4-D8EF-35A8-87FB367D0D8B}"/>
                  </a:ext>
                </a:extLst>
              </p14:cNvPr>
              <p14:cNvContentPartPr/>
              <p14:nvPr/>
            </p14:nvContentPartPr>
            <p14:xfrm>
              <a:off x="14225040" y="2539383"/>
              <a:ext cx="1032840" cy="10551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8B8C1CC8-95A4-D8EF-35A8-87FB367D0D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18920" y="2533263"/>
                <a:ext cx="1045080" cy="106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60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anchor="t">
        <a:spAutoFit/>
      </a:bodyPr>
      <a:lstStyle>
        <a:defPPr marL="0" lvl="0" indent="0" algn="ctr" defTabSz="914400" rtl="0" eaLnBrk="1" latinLnBrk="0" hangingPunct="1">
          <a:lnSpc>
            <a:spcPts val="3000"/>
          </a:lnSpc>
          <a:spcBef>
            <a:spcPts val="0"/>
          </a:spcBef>
          <a:spcAft>
            <a:spcPts val="0"/>
          </a:spcAft>
          <a:buNone/>
          <a:defRPr kumimoji="0" lang="en-US" altLang="ko-KR" sz="4100" b="1" i="0" u="none" strike="noStrike" kern="1200" cap="none" spc="0" normalizeH="0" baseline="0">
            <a:solidFill>
              <a:srgbClr val="090807"/>
            </a:solidFill>
            <a:latin typeface="Source Han Sans KR"/>
            <a:ea typeface="Source Han Sans KR"/>
            <a:cs typeface="Source Han Sans KR"/>
            <a:sym typeface="Source Han Sans KR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403</Words>
  <Application>Microsoft Office PowerPoint</Application>
  <PresentationFormat>사용자 지정</PresentationFormat>
  <Paragraphs>60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HY견고딕</vt:lpstr>
      <vt:lpstr>Source Han Sans KR</vt:lpstr>
      <vt:lpstr>Source Han Sans KR Bold</vt:lpstr>
      <vt:lpstr>맑은 고딕</vt:lpstr>
      <vt:lpstr>Arial</vt:lpstr>
      <vt:lpstr>Calibri</vt:lpstr>
      <vt:lpstr>Cambria Math</vt:lpstr>
      <vt:lpstr>Raleway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옐로우 블랙 깔끔한 보고서 프레젠테이션</dc:title>
  <dc:creator>UserK</dc:creator>
  <cp:lastModifiedBy>김동현/임베디드시스템공학과</cp:lastModifiedBy>
  <cp:revision>108</cp:revision>
  <dcterms:created xsi:type="dcterms:W3CDTF">2006-08-16T00:00:00Z</dcterms:created>
  <dcterms:modified xsi:type="dcterms:W3CDTF">2025-09-16T23:38:41Z</dcterms:modified>
  <cp:version/>
</cp:coreProperties>
</file>