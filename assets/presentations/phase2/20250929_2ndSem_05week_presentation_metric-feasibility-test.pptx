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4"/>
  </p:notesMasterIdLst>
  <p:sldIdLst>
    <p:sldId id="303" r:id="rId2"/>
    <p:sldId id="302" r:id="rId3"/>
    <p:sldId id="299" r:id="rId4"/>
    <p:sldId id="305" r:id="rId5"/>
    <p:sldId id="301" r:id="rId6"/>
    <p:sldId id="306" r:id="rId7"/>
    <p:sldId id="307" r:id="rId8"/>
    <p:sldId id="308" r:id="rId9"/>
    <p:sldId id="300" r:id="rId10"/>
    <p:sldId id="309" r:id="rId11"/>
    <p:sldId id="310" r:id="rId12"/>
    <p:sldId id="311" r:id="rId1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경구/임베디드시스템공학과" initials="전" lastIdx="11" clrIdx="0">
    <p:extLst>
      <p:ext uri="{19B8F6BF-5375-455C-9EA6-DF929625EA0E}">
        <p15:presenceInfo xmlns:p15="http://schemas.microsoft.com/office/powerpoint/2012/main" userId="S-1-5-21-3191000935-2019719711-3779060370-1001" providerId="AD"/>
      </p:ext>
    </p:extLst>
  </p:cmAuthor>
  <p:cmAuthor id="2" name="김종원/임베디드시스템공학과" initials="김" lastIdx="11" clrIdx="1">
    <p:extLst>
      <p:ext uri="{19B8F6BF-5375-455C-9EA6-DF929625EA0E}">
        <p15:presenceInfo xmlns:p15="http://schemas.microsoft.com/office/powerpoint/2012/main" userId="S::202201652@inu.ac.kr::a0d8948f-e4a4-41ed-b2c8-ad9479fb3a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6" autoAdjust="0"/>
    <p:restoredTop sz="94622" autoAdjust="0"/>
  </p:normalViewPr>
  <p:slideViewPr>
    <p:cSldViewPr>
      <p:cViewPr varScale="1">
        <p:scale>
          <a:sx n="42" d="100"/>
          <a:sy n="42" d="100"/>
        </p:scale>
        <p:origin x="48" y="548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4T15:55:37.638" idx="1">
    <p:pos x="3995" y="376"/>
    <p:text>지표 이름을 설정해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4T17:21:31.199" idx="2">
    <p:pos x="3995" y="472"/>
    <p:text>정량지표1
-&gt; 얼굴 재인식 시간</p:text>
    <p:extLst>
      <p:ext uri="{C676402C-5697-4E1C-873F-D02D1690AC5C}">
        <p15:threadingInfo xmlns:p15="http://schemas.microsoft.com/office/powerpoint/2012/main" timeZoneBias="-540">
          <p15:parentCm authorId="1" idx="1"/>
        </p15:threadingInfo>
      </p:ext>
    </p:extLst>
  </p:cm>
  <p:cm authorId="1" dt="2025-09-24T15:56:28.762" idx="2">
    <p:pos x="6025" y="3059"/>
    <p:text>수평 수직 뿐만 아니라, 대각선 방향도 포함해야 합니다.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3:24.914" idx="7">
    <p:pos x="6025" y="3155"/>
    <p:text>추가했습니다.</p:text>
    <p:extLst>
      <p:ext uri="{C676402C-5697-4E1C-873F-D02D1690AC5C}">
        <p15:threadingInfo xmlns:p15="http://schemas.microsoft.com/office/powerpoint/2012/main" timeZoneBias="-540">
          <p15:parentCm authorId="1" idx="2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4T15:56:51.647" idx="3">
    <p:pos x="5452" y="295"/>
    <p:text>지표 이름을 설정해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4T16:57:18.211" idx="1">
    <p:pos x="5452" y="391"/>
    <p:text>정량지표2
-&gt; 로봇팔 추적 안정성 측정</p:text>
    <p:extLst>
      <p:ext uri="{C676402C-5697-4E1C-873F-D02D1690AC5C}">
        <p15:threadingInfo xmlns:p15="http://schemas.microsoft.com/office/powerpoint/2012/main" timeZoneBias="-540">
          <p15:parentCm authorId="1" idx="3"/>
        </p15:threadingInfo>
      </p:ext>
    </p:extLst>
  </p:cm>
  <p:cm authorId="1" dt="2025-09-24T15:57:05.425" idx="4">
    <p:pos x="8398" y="1416"/>
    <p:text>"이동 사용자를 추적하는 로봇팔 흔들림 정도" 등과 같은 표현으로 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6:50.441" idx="11">
    <p:pos x="8398" y="1512"/>
    <p:text>수정했습니다.</p:text>
    <p:extLst>
      <p:ext uri="{C676402C-5697-4E1C-873F-D02D1690AC5C}">
        <p15:threadingInfo xmlns:p15="http://schemas.microsoft.com/office/powerpoint/2012/main" timeZoneBias="-540">
          <p15:parentCm authorId="1" idx="4"/>
        </p15:threadingInfo>
      </p:ext>
    </p:extLst>
  </p:cm>
  <p:cm authorId="1" dt="2025-09-24T15:59:14.783" idx="5">
    <p:pos x="2704" y="3575"/>
    <p:text>왼쪽 글에 대해서 메모를 표시할 수 없으니 다시 올려주세요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2:41.372" idx="6">
    <p:pos x="2704" y="3671"/>
    <p:text>수정했습니다.</p:text>
    <p:extLst>
      <p:ext uri="{C676402C-5697-4E1C-873F-D02D1690AC5C}">
        <p15:threadingInfo xmlns:p15="http://schemas.microsoft.com/office/powerpoint/2012/main" timeZoneBias="-540">
          <p15:parentCm authorId="1" idx="5"/>
        </p15:threadingInfo>
      </p:ext>
    </p:extLst>
  </p:cm>
  <p:cm authorId="1" dt="2025-09-24T15:59:34.797" idx="6">
    <p:pos x="7620" y="5326"/>
    <p:text>그림으로 표시해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2:26.729" idx="5">
    <p:pos x="7620" y="5422"/>
    <p:text>마지막 페이지에 추가했습니다.</p:text>
    <p:extLst>
      <p:ext uri="{C676402C-5697-4E1C-873F-D02D1690AC5C}">
        <p15:threadingInfo xmlns:p15="http://schemas.microsoft.com/office/powerpoint/2012/main" timeZoneBias="-540">
          <p15:parentCm authorId="1" idx="6"/>
        </p15:threadingInfo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4T15:59:44.769" idx="7">
    <p:pos x="6231" y="340"/>
    <p:text>지표 이름을 설정해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4T17:55:30.734" idx="3">
    <p:pos x="6231" y="436"/>
    <p:text>정량지표3
-&gt;추적 후 최대 진동 폭 안정성</p:text>
    <p:extLst>
      <p:ext uri="{C676402C-5697-4E1C-873F-D02D1690AC5C}">
        <p15:threadingInfo xmlns:p15="http://schemas.microsoft.com/office/powerpoint/2012/main" timeZoneBias="-540">
          <p15:parentCm authorId="1" idx="7"/>
        </p15:threadingInfo>
      </p:ext>
    </p:extLst>
  </p:cm>
  <p:cm authorId="1" dt="2025-09-24T16:00:05.351" idx="8">
    <p:pos x="9257" y="1397"/>
    <p:text>"이동 후 정지된 사용자에 대해 로봇팔이 추적 후 최대 진동 폭" 등과 같이 객관적/정량적 표현으로 수정해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5:45.498" idx="8">
    <p:pos x="9257" y="1493"/>
    <p:text>수정했습니다.</p:text>
    <p:extLst>
      <p:ext uri="{C676402C-5697-4E1C-873F-D02D1690AC5C}">
        <p15:threadingInfo xmlns:p15="http://schemas.microsoft.com/office/powerpoint/2012/main" timeZoneBias="-540">
          <p15:parentCm authorId="1" idx="8"/>
        </p15:threadingInfo>
      </p:ext>
    </p:extLst>
  </p:cm>
  <p:cm authorId="1" dt="2025-09-24T16:01:34.541" idx="9">
    <p:pos x="8189" y="3096"/>
    <p:text>정지 전 이동에 대해서 기술해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5:59.737" idx="9">
    <p:pos x="8189" y="3192"/>
    <p:text>수정했습니다.</p:text>
    <p:extLst>
      <p:ext uri="{C676402C-5697-4E1C-873F-D02D1690AC5C}">
        <p15:threadingInfo xmlns:p15="http://schemas.microsoft.com/office/powerpoint/2012/main" timeZoneBias="-540">
          <p15:parentCm authorId="1" idx="9"/>
        </p15:threadingInfo>
      </p:ext>
    </p:extLst>
  </p:cm>
  <p:cm authorId="1" dt="2025-09-24T16:01:55.330" idx="10">
    <p:pos x="8420" y="4390"/>
    <p:text>해상도를 더 높여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6:34.366" idx="10">
    <p:pos x="8420" y="4486"/>
    <p:text>FHD로 수정했습니다.</p:text>
    <p:extLst>
      <p:ext uri="{C676402C-5697-4E1C-873F-D02D1690AC5C}">
        <p15:threadingInfo xmlns:p15="http://schemas.microsoft.com/office/powerpoint/2012/main" timeZoneBias="-540">
          <p15:parentCm authorId="1" idx="10"/>
        </p15:threadingInfo>
      </p:ext>
    </p:extLst>
  </p:cm>
  <p:cm authorId="1" dt="2025-09-24T16:02:12.772" idx="11">
    <p:pos x="7277" y="5219"/>
    <p:text>그림으로 표현해 주세요</p:text>
    <p:extLst>
      <p:ext uri="{C676402C-5697-4E1C-873F-D02D1690AC5C}">
        <p15:threadingInfo xmlns:p15="http://schemas.microsoft.com/office/powerpoint/2012/main" timeZoneBias="-540"/>
      </p:ext>
    </p:extLst>
  </p:cm>
  <p:cm authorId="2" dt="2025-09-25T10:52:15.030" idx="4">
    <p:pos x="7277" y="5315"/>
    <p:text>마지막 페이지에 추가했습니다.</p:text>
    <p:extLst>
      <p:ext uri="{C676402C-5697-4E1C-873F-D02D1690AC5C}">
        <p15:threadingInfo xmlns:p15="http://schemas.microsoft.com/office/powerpoint/2012/main" timeZoneBias="-540">
          <p15:parentCm authorId="1" idx="11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4577D78-677B-4388-9014-A7D00F856CBB}" type="datetime1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454243C2-348B-4BA0-9C72-769A9D1F5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809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6221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9837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319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93EAC-C8F5-526B-D6A9-82EC7C43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E64A4F-405D-CC75-72C1-3854419E2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309F92-7CF9-2EEC-1683-6DFBCF6F6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F9BD71-5BE7-CF1D-6FC9-17B51FE87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447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066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A0B0-6CF8-9CF2-BE41-CFB788122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FDFFA3-DBFE-E7C8-1FF7-96180E368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A3F0E4-7847-2C7C-F9DE-C5F9AC58B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D8823C-14C1-1520-AB42-C761AC3B9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412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48F65-E29F-D476-F68C-DDE7C470C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55097F-06AD-FCAF-399F-8DBAF392F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B664A7-7041-F5BD-5A55-E5292AC54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82963-42EB-49F1-9C76-61314C432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12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AEDE-37D5-D445-6E66-02059281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63E73D-BDF0-499D-B2EB-2C42C9269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4A6AF0-F158-BDE6-96B1-5D0FAEA57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7CBFE-ACF2-3AE4-998B-A9B373678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049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50FC5-42AB-EB76-4D46-225DC5C2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797D98-8511-D0FE-3771-10179B8C3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CA90D-FA11-D6E6-E325-64C1B49B0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A3C883-12E3-7CB2-97C2-499428634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803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0495-837A-80F6-01E9-4425D0EC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1C44F-31F7-BB80-29ED-A25864FD3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E0ADCE-F635-4E95-FE87-6BFA7FB5D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297749-979C-4FA5-1616-7D2D40EADE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062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FDD1-40AF-3D01-A791-A4E24156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18361-D2BD-5487-2B76-9E1C3882B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4A038F-0893-2093-9A9A-8B2166285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DF2462-73C5-43DC-8845-C6D44C437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667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E0940-3441-30E2-6BD3-496D1531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0418F9-A35C-E511-4546-A5E0471E6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A0D66F-5D37-BC98-4E6B-90823DF75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5554C2-1420-6BF0-24E2-D3F1E205A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0923A6-3A5F-4108-B2BE-257B2CED64A5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6216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1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23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7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4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4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7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5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6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0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6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3.png"/><Relationship Id="rId5" Type="http://schemas.microsoft.com/office/2007/relationships/media" Target="../media/media3.mp4"/><Relationship Id="rId10" Type="http://schemas.openxmlformats.org/officeDocument/2006/relationships/image" Target="../media/image2.png"/><Relationship Id="rId4" Type="http://schemas.openxmlformats.org/officeDocument/2006/relationships/video" Target="../media/media2.mp4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E1866C3-4C7A-4E86-A819-D63D0272D4AE}"/>
              </a:ext>
            </a:extLst>
          </p:cNvPr>
          <p:cNvSpPr txBox="1"/>
          <p:nvPr/>
        </p:nvSpPr>
        <p:spPr>
          <a:xfrm>
            <a:off x="3842478" y="4503386"/>
            <a:ext cx="10603044" cy="12060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개발자들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90B0D0F-3979-4172-B461-261938ADC421}"/>
              </a:ext>
            </a:extLst>
          </p:cNvPr>
          <p:cNvSpPr txBox="1"/>
          <p:nvPr/>
        </p:nvSpPr>
        <p:spPr>
          <a:xfrm>
            <a:off x="8118909" y="3803743"/>
            <a:ext cx="2050182" cy="7111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C3469391-86FA-49E9-9A3C-79EE99A7CD2D}"/>
              </a:ext>
            </a:extLst>
          </p:cNvPr>
          <p:cNvSpPr txBox="1"/>
          <p:nvPr/>
        </p:nvSpPr>
        <p:spPr>
          <a:xfrm>
            <a:off x="1028700" y="8463794"/>
            <a:ext cx="1252686" cy="346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25.10.02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10ABF680-B060-428E-B53E-80C8377FF81F}"/>
              </a:ext>
            </a:extLst>
          </p:cNvPr>
          <p:cNvSpPr txBox="1"/>
          <p:nvPr/>
        </p:nvSpPr>
        <p:spPr>
          <a:xfrm>
            <a:off x="883965" y="8924925"/>
            <a:ext cx="1859235" cy="6935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</a:t>
            </a:r>
            <a:r>
              <a:rPr lang="ko-KR" alt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손홍준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최민주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838EECC3-2370-4448-812B-E1A7AD978FF9}"/>
              </a:ext>
            </a:extLst>
          </p:cNvPr>
          <p:cNvSpPr/>
          <p:nvPr/>
        </p:nvSpPr>
        <p:spPr>
          <a:xfrm>
            <a:off x="3121212" y="9117013"/>
            <a:ext cx="15166788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46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52855-3E95-6177-6486-02A7560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 0">
            <a:extLst>
              <a:ext uri="{FF2B5EF4-FFF2-40B4-BE49-F238E27FC236}">
                <a16:creationId xmlns:a16="http://schemas.microsoft.com/office/drawing/2014/main" id="{B030719A-BE80-45FF-8F5E-7AA28AE32086}"/>
              </a:ext>
            </a:extLst>
          </p:cNvPr>
          <p:cNvSpPr txBox="1">
            <a:spLocks/>
          </p:cNvSpPr>
          <p:nvPr/>
        </p:nvSpPr>
        <p:spPr>
          <a:xfrm>
            <a:off x="860425" y="2933700"/>
            <a:ext cx="13616152" cy="3164392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51435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>
                <a:sym typeface="Source Han Sans KR Bold"/>
              </a:rPr>
              <a:t>얼굴 재인식 시간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Tx/>
              <a:buAutoNum type="arabicPeriod"/>
              <a:defRPr/>
            </a:pPr>
            <a:r>
              <a:rPr lang="ko-KR" altLang="en-US" sz="3600" b="1" dirty="0" err="1">
                <a:solidFill>
                  <a:prstClr val="black"/>
                </a:solidFill>
                <a:sym typeface="Source Han Sans KR Bold"/>
              </a:rPr>
              <a:t>로봇팔</a:t>
            </a:r>
            <a:r>
              <a:rPr lang="ko-KR" altLang="en-US" sz="3600" b="1" dirty="0">
                <a:solidFill>
                  <a:prstClr val="black"/>
                </a:solidFill>
                <a:sym typeface="Source Han Sans KR Bold"/>
              </a:rPr>
              <a:t> 추적 안정성 측정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cs typeface="Raleway Bold" charset="0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  <a:defRPr/>
            </a:pPr>
            <a:r>
              <a:rPr lang="en-US" altLang="ko-KR" sz="3600" b="1" dirty="0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3</a:t>
            </a:r>
            <a:r>
              <a:rPr lang="en-US" altLang="ko-KR" sz="3600" b="1">
                <a:solidFill>
                  <a:srgbClr val="09080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Raleway Bold" charset="0"/>
              </a:rPr>
              <a:t>. </a:t>
            </a:r>
            <a:r>
              <a:rPr lang="ko-KR" altLang="en-US" sz="3600" b="1">
                <a:solidFill>
                  <a:prstClr val="black"/>
                </a:solidFill>
                <a:sym typeface="Source Han Sans KR Bold"/>
              </a:rPr>
              <a:t>추적 </a:t>
            </a:r>
            <a:r>
              <a:rPr lang="ko-KR" altLang="en-US" sz="3600" b="1" dirty="0">
                <a:solidFill>
                  <a:prstClr val="black"/>
                </a:solidFill>
                <a:sym typeface="Source Han Sans KR Bold"/>
              </a:rPr>
              <a:t>후 최대 진동 폭 안정성</a:t>
            </a:r>
            <a:endParaRPr lang="en-US" altLang="ko-KR" sz="3600" b="1" dirty="0">
              <a:solidFill>
                <a:srgbClr val="09080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Raleway Bold" charset="0"/>
            </a:endParaRPr>
          </a:p>
        </p:txBody>
      </p:sp>
      <p:cxnSp>
        <p:nvCxnSpPr>
          <p:cNvPr id="8" name="Rect 0">
            <a:extLst>
              <a:ext uri="{FF2B5EF4-FFF2-40B4-BE49-F238E27FC236}">
                <a16:creationId xmlns:a16="http://schemas.microsoft.com/office/drawing/2014/main" id="{4F3F4549-CC6B-4E02-A2EC-988A06E634DB}"/>
              </a:ext>
            </a:extLst>
          </p:cNvPr>
          <p:cNvCxnSpPr>
            <a:cxnSpLocks/>
          </p:cNvCxnSpPr>
          <p:nvPr/>
        </p:nvCxnSpPr>
        <p:spPr>
          <a:xfrm>
            <a:off x="860425" y="1595540"/>
            <a:ext cx="1730375" cy="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 0">
            <a:extLst>
              <a:ext uri="{FF2B5EF4-FFF2-40B4-BE49-F238E27FC236}">
                <a16:creationId xmlns:a16="http://schemas.microsoft.com/office/drawing/2014/main" id="{8EC21D4C-5356-4A85-95A7-C3FF97FFD91D}"/>
              </a:ext>
            </a:extLst>
          </p:cNvPr>
          <p:cNvSpPr txBox="1">
            <a:spLocks/>
          </p:cNvSpPr>
          <p:nvPr/>
        </p:nvSpPr>
        <p:spPr>
          <a:xfrm>
            <a:off x="860425" y="1051994"/>
            <a:ext cx="3267710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90807"/>
                </a:solidFill>
                <a:effectLst/>
                <a:uLnTx/>
                <a:uFillTx/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정량지표</a:t>
            </a:r>
          </a:p>
        </p:txBody>
      </p:sp>
    </p:spTree>
    <p:extLst>
      <p:ext uri="{BB962C8B-B14F-4D97-AF65-F5344CB8AC3E}">
        <p14:creationId xmlns:p14="http://schemas.microsoft.com/office/powerpoint/2010/main" val="412865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얼굴 재인식 시간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488883"/>
              </p:ext>
            </p:extLst>
          </p:nvPr>
        </p:nvGraphicFramePr>
        <p:xfrm>
          <a:off x="2209800" y="1943816"/>
          <a:ext cx="13331361" cy="7908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지표</a:t>
                      </a:r>
                      <a:r>
                        <a:rPr lang="ko-KR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정의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0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움직이는</a:t>
                      </a:r>
                      <a:r>
                        <a:rPr lang="en-US" altLang="ko-KR" sz="20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 </a:t>
                      </a:r>
                      <a:r>
                        <a:rPr lang="ko-KR" altLang="en-US" sz="20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사용자의 얼굴을 </a:t>
                      </a:r>
                      <a:r>
                        <a:rPr lang="ko-KR" altLang="en-US" sz="2000" b="0" i="0" dirty="0" err="1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로봇팔이</a:t>
                      </a:r>
                      <a:r>
                        <a:rPr lang="ko-KR" altLang="en-US" sz="20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 빠르게 추적하여 다시 얼굴이 인식되기까지 걸리는 시간</a:t>
                      </a:r>
                      <a:endParaRPr lang="ko-Kore-KR" altLang="en-US" sz="2000" b="0" i="0" dirty="0"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969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목적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000" b="0" i="0" dirty="0">
                          <a:latin typeface="Gmarket Sans Medium"/>
                          <a:ea typeface="Gmarket Sans Medium"/>
                        </a:rPr>
                        <a:t>사용자가 움직이면서 영상을 찍기 때문에 움직인 이후에 </a:t>
                      </a:r>
                      <a:endParaRPr lang="en-US" altLang="ko-KR" sz="2000" b="0" i="0" dirty="0">
                        <a:latin typeface="Gmarket Sans Medium"/>
                        <a:ea typeface="Gmarket Sans Medium"/>
                      </a:endParaRPr>
                    </a:p>
                    <a:p>
                      <a:pPr lvl="0" algn="ctr">
                        <a:defRPr/>
                      </a:pPr>
                      <a:r>
                        <a:rPr lang="ko-KR" altLang="en-US" sz="2000" b="0" i="0" dirty="0">
                          <a:latin typeface="Gmarket Sans Medium"/>
                          <a:ea typeface="Gmarket Sans Medium"/>
                        </a:rPr>
                        <a:t>빠르게 다시 사용자의 얼굴이 인식될 필요가 있음</a:t>
                      </a:r>
                      <a:endParaRPr lang="ko-Kore-KR" altLang="en-US" sz="2000" b="0" i="0" dirty="0"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768042"/>
                  </a:ext>
                </a:extLst>
              </a:tr>
              <a:tr h="3995786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측정</a:t>
                      </a:r>
                      <a:r>
                        <a:rPr lang="ko-KR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방법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2000" b="1" dirty="0"/>
                        <a:t>1. </a:t>
                      </a:r>
                      <a:r>
                        <a:rPr lang="ko-KR" altLang="en-US" sz="2000" b="1" dirty="0"/>
                        <a:t>이동 방향</a:t>
                      </a:r>
                      <a:r>
                        <a:rPr lang="en-US" altLang="ko-KR" sz="2000" dirty="0"/>
                        <a:t>: </a:t>
                      </a:r>
                      <a:r>
                        <a:rPr lang="ko-KR" altLang="en-US" sz="2000" dirty="0"/>
                        <a:t>아래 중 </a:t>
                      </a:r>
                      <a:r>
                        <a:rPr lang="en-US" altLang="ko-KR" sz="2000" dirty="0"/>
                        <a:t>1</a:t>
                      </a:r>
                      <a:r>
                        <a:rPr lang="ko-KR" altLang="en-US" sz="2000" dirty="0"/>
                        <a:t>개 선택</a:t>
                      </a:r>
                      <a:endParaRPr lang="en-US" altLang="ko-KR" sz="2000" dirty="0"/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b="1" dirty="0"/>
                        <a:t>수평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좌</a:t>
                      </a:r>
                      <a:r>
                        <a:rPr lang="en-US" altLang="ko-KR" sz="2000" b="1" dirty="0"/>
                        <a:t>/</a:t>
                      </a:r>
                      <a:r>
                        <a:rPr lang="ko-KR" altLang="en-US" sz="2000" b="1" dirty="0"/>
                        <a:t>우</a:t>
                      </a:r>
                      <a:r>
                        <a:rPr lang="en-US" altLang="ko-KR" sz="2000" b="1" dirty="0"/>
                        <a:t>)</a:t>
                      </a:r>
                      <a:r>
                        <a:rPr lang="en-US" altLang="ko-KR" sz="2000" dirty="0"/>
                        <a:t>: ±1.0 m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b="1" dirty="0"/>
                        <a:t>수직</a:t>
                      </a:r>
                      <a:r>
                        <a:rPr lang="en-US" altLang="ko-KR" sz="2000" b="1" dirty="0"/>
                        <a:t>(</a:t>
                      </a:r>
                      <a:r>
                        <a:rPr lang="ko-KR" altLang="en-US" sz="2000" b="1" dirty="0"/>
                        <a:t>상</a:t>
                      </a:r>
                      <a:r>
                        <a:rPr lang="en-US" altLang="ko-KR" sz="2000" b="1" dirty="0"/>
                        <a:t>/</a:t>
                      </a:r>
                      <a:r>
                        <a:rPr lang="ko-KR" altLang="en-US" sz="2000" b="1" dirty="0"/>
                        <a:t>하</a:t>
                      </a:r>
                      <a:r>
                        <a:rPr lang="en-US" altLang="ko-KR" sz="2000" b="1" dirty="0"/>
                        <a:t>)</a:t>
                      </a:r>
                      <a:r>
                        <a:rPr lang="en-US" altLang="ko-KR" sz="2000" dirty="0"/>
                        <a:t>: ±0.50 m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2000" b="1" dirty="0"/>
                        <a:t>대각선</a:t>
                      </a:r>
                      <a:r>
                        <a:rPr lang="en-US" altLang="ko-KR" sz="2000" b="1" dirty="0"/>
                        <a:t>(↖↘, ↗↙)</a:t>
                      </a:r>
                      <a:r>
                        <a:rPr lang="en-US" altLang="ko-KR" sz="2000" dirty="0"/>
                        <a:t>: </a:t>
                      </a:r>
                      <a:r>
                        <a:rPr lang="ko-KR" altLang="en-US" sz="2000" dirty="0"/>
                        <a:t>경로 길이 기준 </a:t>
                      </a:r>
                      <a:r>
                        <a:rPr lang="en-US" altLang="ko-KR" sz="2000" dirty="0"/>
                        <a:t>±0.70 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2000" b="1" dirty="0"/>
                        <a:t>2. </a:t>
                      </a:r>
                      <a:r>
                        <a:rPr lang="ko-KR" altLang="en-US" sz="2000" b="1" dirty="0"/>
                        <a:t>이동 속도</a:t>
                      </a:r>
                      <a:r>
                        <a:rPr lang="en-US" altLang="ko-KR" sz="2000" dirty="0"/>
                        <a:t>: </a:t>
                      </a:r>
                      <a:r>
                        <a:rPr lang="en-US" altLang="ko-KR" sz="2000" b="1" dirty="0"/>
                        <a:t>0.5 m/s</a:t>
                      </a:r>
                      <a:r>
                        <a:rPr lang="en-US" altLang="ko-KR" sz="2000" dirty="0"/>
                        <a:t>(1 m </a:t>
                      </a:r>
                      <a:r>
                        <a:rPr lang="ko-KR" altLang="en-US" sz="2000" dirty="0"/>
                        <a:t>이동에 </a:t>
                      </a:r>
                      <a:r>
                        <a:rPr lang="en-US" altLang="ko-KR" sz="2000" dirty="0"/>
                        <a:t>2 s)</a:t>
                      </a:r>
                      <a:r>
                        <a:rPr lang="ko-KR" altLang="en-US" sz="2000" dirty="0"/>
                        <a:t>로 등속 이동</a:t>
                      </a:r>
                      <a:endParaRPr lang="en-US" altLang="ko-KR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2000" b="1" dirty="0"/>
                        <a:t>3. </a:t>
                      </a:r>
                      <a:r>
                        <a:rPr lang="ko-KR" altLang="en-US" sz="2000" dirty="0" err="1"/>
                        <a:t>로봇팔이</a:t>
                      </a:r>
                      <a:r>
                        <a:rPr lang="ko-KR" altLang="en-US" sz="2000" dirty="0"/>
                        <a:t> 사용자의 움직임을 추종</a:t>
                      </a:r>
                      <a:endParaRPr lang="en-US" altLang="ko-KR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2000" b="1" dirty="0"/>
                        <a:t>4. </a:t>
                      </a:r>
                      <a:r>
                        <a:rPr lang="ko-KR" altLang="en-US" sz="2000" b="1" dirty="0"/>
                        <a:t>계측 구간</a:t>
                      </a:r>
                      <a:r>
                        <a:rPr lang="en-US" altLang="ko-KR" sz="2000" dirty="0"/>
                        <a:t>: </a:t>
                      </a:r>
                      <a:r>
                        <a:rPr lang="ko-KR" altLang="en-US" sz="2000" dirty="0"/>
                        <a:t>이동 시작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또는 최초 검출 끊김</a:t>
                      </a:r>
                      <a:r>
                        <a:rPr lang="en-US" altLang="ko-KR" sz="2000" dirty="0"/>
                        <a:t>) </a:t>
                      </a:r>
                      <a:r>
                        <a:rPr lang="ko-KR" altLang="en-US" sz="2000" b="1" dirty="0"/>
                        <a:t>→</a:t>
                      </a:r>
                      <a:r>
                        <a:rPr lang="ko-KR" altLang="en-US" sz="2000" dirty="0"/>
                        <a:t> 얼굴이 </a:t>
                      </a:r>
                      <a:r>
                        <a:rPr lang="ko-KR" altLang="en-US" sz="2000" b="1" dirty="0"/>
                        <a:t>다시 인식되는 첫 프레임</a:t>
                      </a:r>
                      <a:r>
                        <a:rPr lang="ko-KR" altLang="en-US" sz="2000" dirty="0"/>
                        <a:t>까지의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588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목표</a:t>
                      </a:r>
                      <a:r>
                        <a:rPr lang="en-US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</a:t>
                      </a:r>
                      <a:r>
                        <a:rPr lang="ko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수치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2000" dirty="0"/>
                        <a:t>얼굴 재인식 시간 ≤ </a:t>
                      </a:r>
                      <a:r>
                        <a:rPr lang="en-US" altLang="ko-KR" sz="2000" b="1" dirty="0"/>
                        <a:t>2</a:t>
                      </a:r>
                      <a:r>
                        <a:rPr lang="ko-KR" altLang="en-US" sz="2000" b="1" dirty="0"/>
                        <a:t>초</a:t>
                      </a:r>
                      <a:endParaRPr lang="en-US" altLang="ko-KR" sz="2000" b="0" i="0" dirty="0">
                        <a:solidFill>
                          <a:srgbClr val="000000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179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AD88-21B1-02A6-495C-2875C424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218837E5-5FEB-3822-F63C-181CF5872D50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얼굴 재인식 시간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(</a:t>
            </a: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정량지표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1)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pic>
        <p:nvPicPr>
          <p:cNvPr id="3" name="평가지표1_1920_빠르게">
            <a:hlinkClick r:id="" action="ppaction://media"/>
            <a:extLst>
              <a:ext uri="{FF2B5EF4-FFF2-40B4-BE49-F238E27FC236}">
                <a16:creationId xmlns:a16="http://schemas.microsoft.com/office/drawing/2014/main" id="{FE5FD407-D79B-EBD9-9F57-C077EB6D7E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09125" y="4076700"/>
            <a:ext cx="5799015" cy="4267200"/>
          </a:xfrm>
          <a:prstGeom prst="rect">
            <a:avLst/>
          </a:prstGeom>
        </p:spPr>
      </p:pic>
      <p:pic>
        <p:nvPicPr>
          <p:cNvPr id="5" name="평가지표2_1920_느리게">
            <a:hlinkClick r:id="" action="ppaction://media"/>
            <a:extLst>
              <a:ext uri="{FF2B5EF4-FFF2-40B4-BE49-F238E27FC236}">
                <a16:creationId xmlns:a16="http://schemas.microsoft.com/office/drawing/2014/main" id="{2CEF9365-0812-983F-F37C-C704FB531F0A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322748" y="4029933"/>
            <a:ext cx="5799015" cy="4267200"/>
          </a:xfrm>
          <a:prstGeom prst="rect">
            <a:avLst/>
          </a:prstGeom>
        </p:spPr>
      </p:pic>
      <p:pic>
        <p:nvPicPr>
          <p:cNvPr id="6" name="평가지표1_640_느리게">
            <a:hlinkClick r:id="" action="ppaction://media"/>
            <a:extLst>
              <a:ext uri="{FF2B5EF4-FFF2-40B4-BE49-F238E27FC236}">
                <a16:creationId xmlns:a16="http://schemas.microsoft.com/office/drawing/2014/main" id="{AD41FA38-464B-05E4-C507-A42898B4AB4E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243501" y="4020862"/>
            <a:ext cx="5410773" cy="4283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CE1862-F25A-6311-1516-000DE215B65A}"/>
              </a:ext>
            </a:extLst>
          </p:cNvPr>
          <p:cNvSpPr txBox="1"/>
          <p:nvPr/>
        </p:nvSpPr>
        <p:spPr>
          <a:xfrm>
            <a:off x="603532" y="2803776"/>
            <a:ext cx="5410200" cy="806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1920 x 1080 </a:t>
            </a: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1m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Han Sans KR"/>
                <a:cs typeface="Source Han Sans KR"/>
                <a:sym typeface="Source Han Sans KR"/>
              </a:rPr>
              <a:t>를 </a:t>
            </a: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2</a:t>
            </a: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Han Sans KR"/>
                <a:cs typeface="Source Han Sans KR"/>
                <a:sym typeface="Source Han Sans KR"/>
              </a:rPr>
              <a:t>초로 이동</a:t>
            </a: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 </a:t>
            </a: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Source Sans Pro Black" panose="020B0803030403020204" pitchFamily="34" charset="0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EA327-F649-D3B3-757F-B2CFE58DB2FA}"/>
              </a:ext>
            </a:extLst>
          </p:cNvPr>
          <p:cNvSpPr txBox="1"/>
          <p:nvPr/>
        </p:nvSpPr>
        <p:spPr>
          <a:xfrm>
            <a:off x="6013732" y="2801962"/>
            <a:ext cx="5410200" cy="806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1920 x 1080 </a:t>
            </a: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천천히 이동</a:t>
            </a: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Source Sans Pro Black" panose="020B0803030403020204" pitchFamily="34" charset="0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B13E5-FBDD-E772-87FC-C7006CFC563E}"/>
              </a:ext>
            </a:extLst>
          </p:cNvPr>
          <p:cNvSpPr txBox="1"/>
          <p:nvPr/>
        </p:nvSpPr>
        <p:spPr>
          <a:xfrm>
            <a:off x="11887200" y="2803776"/>
            <a:ext cx="5410200" cy="806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ko-KR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640 x 480</a:t>
            </a: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ko-KR" altLang="en-US" sz="3200" b="1" i="0" u="none" strike="noStrike" kern="1200" cap="none" spc="0" normalizeH="0" baseline="0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천천히 이동</a:t>
            </a: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Source Sans Pro Black" panose="020B0803030403020204" pitchFamily="34" charset="0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994294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676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92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5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866774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dirty="0" err="1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로봇팔</a:t>
            </a:r>
            <a:r>
              <a:rPr lang="ko-KR" altLang="en-US" sz="54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 추적 안정성 측정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3E2BEFD-07CF-4E75-917E-044D0B0F7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6314542"/>
                  </p:ext>
                </p:extLst>
              </p:nvPr>
            </p:nvGraphicFramePr>
            <p:xfrm>
              <a:off x="2209800" y="2033112"/>
              <a:ext cx="13335000" cy="76626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7181">
                      <a:extLst>
                        <a:ext uri="{9D8B030D-6E8A-4147-A177-3AD203B41FA5}">
                          <a16:colId xmlns:a16="http://schemas.microsoft.com/office/drawing/2014/main" val="2575403687"/>
                        </a:ext>
                      </a:extLst>
                    </a:gridCol>
                    <a:gridCol w="10587819">
                      <a:extLst>
                        <a:ext uri="{9D8B030D-6E8A-4147-A177-3AD203B41FA5}">
                          <a16:colId xmlns:a16="http://schemas.microsoft.com/office/drawing/2014/main" val="2123895445"/>
                        </a:ext>
                      </a:extLst>
                    </a:gridCol>
                  </a:tblGrid>
                  <a:tr h="10454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지표</a:t>
                          </a:r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정의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20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이동 사용자를 추적하는 </a:t>
                          </a:r>
                          <a:r>
                            <a:rPr lang="ko-KR" altLang="en-US" sz="2000" b="0" i="0" dirty="0" err="1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</a:t>
                          </a:r>
                          <a:r>
                            <a:rPr lang="ko-KR" altLang="en-US" sz="20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흔들림 정도 측정</a:t>
                          </a:r>
                          <a:endParaRPr lang="ko-Kore-KR" altLang="en-US" sz="2000" b="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426847"/>
                      </a:ext>
                    </a:extLst>
                  </a:tr>
                  <a:tr h="1316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목적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2000" b="0" i="0" dirty="0" err="1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로봇팔이</a:t>
                          </a:r>
                          <a:r>
                            <a:rPr lang="ko-KR" altLang="en-US" sz="2000" b="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사용자를 추적하는 중에도 영상은 촬영되고 있기 때문에</a:t>
                          </a:r>
                          <a:r>
                            <a:rPr lang="en-US" altLang="ko-KR" sz="2000" b="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, </a:t>
                          </a:r>
                          <a:r>
                            <a:rPr lang="ko-KR" altLang="en-US" sz="2000" b="0" i="0" dirty="0" err="1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</a:t>
                          </a:r>
                          <a:r>
                            <a:rPr lang="ko-KR" altLang="en-US" sz="2000" b="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이동중에 과도한 흔들림이 있으면 사용자가 </a:t>
                          </a:r>
                          <a:r>
                            <a:rPr lang="ko-KR" altLang="en-US" sz="2000" b="0" i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불편함을 느끼므로 흔들림을 측정할 필요있음</a:t>
                          </a:r>
                          <a:endParaRPr lang="ko-Kore-KR" altLang="en-US" sz="2000" b="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946038"/>
                      </a:ext>
                    </a:extLst>
                  </a:tr>
                  <a:tr h="3381576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ko-Kore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측정</a:t>
                          </a:r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방법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indent="-342900" algn="ctr">
                            <a:lnSpc>
                              <a:spcPct val="150000"/>
                            </a:lnSpc>
                            <a:buFont typeface="+mj-lt"/>
                            <a:buAutoNum type="arabicPeriod"/>
                          </a:pPr>
                          <a:r>
                            <a:rPr lang="ko-KR" altLang="en-US" sz="2000" dirty="0"/>
                            <a:t>사용자가 </a:t>
                          </a:r>
                          <a:r>
                            <a:rPr lang="en-US" altLang="ko-KR" sz="2000" dirty="0"/>
                            <a:t>30cm</a:t>
                          </a:r>
                          <a:r>
                            <a:rPr lang="ko-KR" altLang="en-US" sz="2000" dirty="0"/>
                            <a:t>를 </a:t>
                          </a:r>
                          <a:r>
                            <a:rPr lang="en-US" altLang="ko-KR" sz="2000" dirty="0"/>
                            <a:t>3</a:t>
                          </a:r>
                          <a:r>
                            <a:rPr lang="ko-KR" altLang="en-US" sz="2000" dirty="0"/>
                            <a:t>초 동안</a:t>
                          </a:r>
                          <a:r>
                            <a:rPr lang="en-US" altLang="ko-KR" sz="2000" dirty="0"/>
                            <a:t>(</a:t>
                          </a:r>
                          <a:r>
                            <a:rPr lang="ko-KR" altLang="en-US" sz="2000" dirty="0"/>
                            <a:t>속도 </a:t>
                          </a:r>
                          <a:r>
                            <a:rPr lang="en-US" altLang="ko-KR" sz="2000" dirty="0"/>
                            <a:t>10cm/s) </a:t>
                          </a:r>
                          <a:r>
                            <a:rPr lang="ko-KR" altLang="en-US" sz="2000" dirty="0"/>
                            <a:t>상</a:t>
                          </a:r>
                          <a:r>
                            <a:rPr lang="en-US" altLang="ko-KR" sz="2000" dirty="0"/>
                            <a:t>/</a:t>
                          </a:r>
                          <a:r>
                            <a:rPr lang="ko-KR" altLang="en-US" sz="2000" dirty="0"/>
                            <a:t>하</a:t>
                          </a:r>
                          <a:r>
                            <a:rPr lang="en-US" altLang="ko-KR" sz="2000" dirty="0"/>
                            <a:t>/</a:t>
                          </a:r>
                          <a:r>
                            <a:rPr lang="ko-KR" altLang="en-US" sz="2000" dirty="0"/>
                            <a:t>좌</a:t>
                          </a:r>
                          <a:r>
                            <a:rPr lang="en-US" altLang="ko-KR" sz="2000" dirty="0"/>
                            <a:t>/</a:t>
                          </a:r>
                          <a:r>
                            <a:rPr lang="ko-KR" altLang="en-US" sz="2000" dirty="0"/>
                            <a:t>우 한 방향으로 이동한다</a:t>
                          </a:r>
                          <a:r>
                            <a:rPr lang="en-US" altLang="ko-KR" sz="2000" dirty="0"/>
                            <a:t>.</a:t>
                          </a:r>
                        </a:p>
                        <a:p>
                          <a:pPr marL="342900" indent="-342900" algn="ctr">
                            <a:lnSpc>
                              <a:spcPct val="150000"/>
                            </a:lnSpc>
                            <a:buFont typeface="+mj-lt"/>
                            <a:buAutoNum type="arabicPeriod"/>
                          </a:pPr>
                          <a:r>
                            <a:rPr lang="ko-KR" altLang="en-US" sz="2000" dirty="0"/>
                            <a:t>각 프레임 단위로 얼굴 중심 좌표를 획득한다</a:t>
                          </a:r>
                          <a:r>
                            <a:rPr lang="en-US" altLang="ko-KR" sz="2000" dirty="0"/>
                            <a:t>.</a:t>
                          </a:r>
                        </a:p>
                        <a:p>
                          <a:pPr marL="342900" marR="0" lvl="0" indent="-34290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AutoNum type="arabicPeriod"/>
                            <a:tabLst/>
                            <a:defRPr/>
                          </a:pPr>
                          <a:r>
                            <a:rPr lang="ko-KR" altLang="en-US" sz="2000" dirty="0"/>
                            <a:t>연속된 두 프레임의 좌표 차이를 계산하여 이동 벡터 크기를 구한다</a:t>
                          </a:r>
                          <a:endParaRPr lang="en-US" altLang="ko-KR" sz="2000" dirty="0"/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=  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l-GR" altLang="ko-KR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l-GR" altLang="ko-KR" sz="20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l-GR" altLang="ko-KR" sz="20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altLang="ko-KR" sz="2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ko-KR" altLang="el-GR" sz="20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l-GR" altLang="ko-KR" sz="20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l-GR" altLang="ko-KR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sSup>
                                      <m:sSupPr>
                                        <m:ctrlPr>
                                          <a:rPr lang="el-GR" altLang="ko-KR" sz="20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l-GR" altLang="ko-KR" sz="20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l-GR" altLang="ko-KR" sz="2000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Δ</m:t>
                                            </m:r>
                                            <m:r>
                                              <a:rPr lang="ko-KR" altLang="el-GR" sz="2000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l-GR" altLang="ko-KR" sz="2000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US" altLang="ko-KR" sz="20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+mj-lt"/>
                            <a:buNone/>
                            <a:tabLst/>
                            <a:defRPr/>
                          </a:pPr>
                          <a:r>
                            <a:rPr lang="en-US" altLang="ko-KR" sz="2000" dirty="0">
                              <a:solidFill>
                                <a:schemeClr val="tx1"/>
                              </a:solidFill>
                            </a:rPr>
                            <a:t>4. </a:t>
                          </a:r>
                          <a:r>
                            <a:rPr lang="en-US" altLang="ko-KR" sz="2000" dirty="0"/>
                            <a:t> </a:t>
                          </a:r>
                          <a:r>
                            <a:rPr lang="ko-KR" altLang="en-US" sz="2000" dirty="0"/>
                            <a:t>벡터 크기가 </a:t>
                          </a:r>
                          <a:r>
                            <a:rPr lang="en-US" altLang="ko-KR" sz="2000" dirty="0"/>
                            <a:t>10px </a:t>
                          </a:r>
                          <a:r>
                            <a:rPr lang="ko-KR" altLang="en-US" sz="2000" dirty="0"/>
                            <a:t>이하인 프레임 비율을 전체 프레임 수 대비 계산한다</a:t>
                          </a:r>
                          <a:r>
                            <a:rPr lang="en-US" altLang="ko-KR" sz="2000" dirty="0"/>
                            <a:t>.</a:t>
                          </a:r>
                          <a:endParaRPr lang="ko-Kore-KR" alt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964466"/>
                      </a:ext>
                    </a:extLst>
                  </a:tr>
                  <a:tr h="19188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목표</a:t>
                          </a:r>
                          <a:r>
                            <a:rPr lang="en-US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수치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dirty="0"/>
                            <a:t>벡터 크기 ≤ </a:t>
                          </a:r>
                          <a:r>
                            <a:rPr lang="en-US" altLang="ko-KR" sz="2000" dirty="0"/>
                            <a:t>10px </a:t>
                          </a:r>
                          <a:r>
                            <a:rPr lang="ko-KR" altLang="en-US" sz="2000" dirty="0"/>
                            <a:t>비율 </a:t>
                          </a:r>
                          <a:r>
                            <a:rPr lang="en-US" altLang="ko-KR" sz="2000" b="1" dirty="0"/>
                            <a:t>85% </a:t>
                          </a:r>
                          <a:r>
                            <a:rPr lang="ko-KR" altLang="en-US" sz="2000" b="1" dirty="0"/>
                            <a:t>이상</a:t>
                          </a:r>
                          <a:endParaRPr lang="en-US" altLang="ko-KR" sz="2000" b="0" i="0" dirty="0">
                            <a:solidFill>
                              <a:srgbClr val="000000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29715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D3E2BEFD-07CF-4E75-917E-044D0B0F73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6314542"/>
                  </p:ext>
                </p:extLst>
              </p:nvPr>
            </p:nvGraphicFramePr>
            <p:xfrm>
              <a:off x="2209800" y="2033112"/>
              <a:ext cx="13335000" cy="76626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7181">
                      <a:extLst>
                        <a:ext uri="{9D8B030D-6E8A-4147-A177-3AD203B41FA5}">
                          <a16:colId xmlns:a16="http://schemas.microsoft.com/office/drawing/2014/main" val="2575403687"/>
                        </a:ext>
                      </a:extLst>
                    </a:gridCol>
                    <a:gridCol w="10587819">
                      <a:extLst>
                        <a:ext uri="{9D8B030D-6E8A-4147-A177-3AD203B41FA5}">
                          <a16:colId xmlns:a16="http://schemas.microsoft.com/office/drawing/2014/main" val="2123895445"/>
                        </a:ext>
                      </a:extLst>
                    </a:gridCol>
                  </a:tblGrid>
                  <a:tr h="10454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지표</a:t>
                          </a:r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정의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20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이동 사용자를 추적하는 </a:t>
                          </a:r>
                          <a:r>
                            <a:rPr lang="ko-KR" altLang="en-US" sz="2000" b="0" i="0" dirty="0" err="1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</a:t>
                          </a:r>
                          <a:r>
                            <a:rPr lang="ko-KR" altLang="en-US" sz="2000" b="0" i="0" dirty="0">
                              <a:solidFill>
                                <a:srgbClr val="000000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흔들림 정도 측정</a:t>
                          </a:r>
                          <a:endParaRPr lang="ko-Kore-KR" altLang="en-US" sz="2000" b="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9426847"/>
                      </a:ext>
                    </a:extLst>
                  </a:tr>
                  <a:tr h="13167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목적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2000" b="0" i="0" dirty="0" err="1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로봇팔이</a:t>
                          </a:r>
                          <a:r>
                            <a:rPr lang="ko-KR" altLang="en-US" sz="2000" b="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사용자를 추적하는 중에도 영상은 촬영되고 있기 때문에</a:t>
                          </a:r>
                          <a:r>
                            <a:rPr lang="en-US" altLang="ko-KR" sz="2000" b="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, </a:t>
                          </a:r>
                          <a:r>
                            <a:rPr lang="ko-KR" altLang="en-US" sz="2000" b="0" i="0" dirty="0" err="1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로봇팔</a:t>
                          </a:r>
                          <a:r>
                            <a:rPr lang="ko-KR" altLang="en-US" sz="2000" b="0" i="0" dirty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이동중에 과도한 흔들림이 있으면 사용자가 </a:t>
                          </a:r>
                          <a:r>
                            <a:rPr lang="ko-KR" altLang="en-US" sz="2000" b="0" i="0"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불편함을 느끼므로 흔들림을 측정할 필요있음</a:t>
                          </a:r>
                          <a:endParaRPr lang="ko-Kore-KR" altLang="en-US" sz="2000" b="0" i="0" dirty="0"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8946038"/>
                      </a:ext>
                    </a:extLst>
                  </a:tr>
                  <a:tr h="3381576">
                    <a:tc>
                      <a:txBody>
                        <a:bodyPr/>
                        <a:lstStyle/>
                        <a:p>
                          <a:pPr marL="0" indent="0" algn="ctr">
                            <a:buFont typeface="+mj-lt"/>
                            <a:buNone/>
                          </a:pPr>
                          <a:r>
                            <a:rPr lang="ko-Kore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측정</a:t>
                          </a:r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방법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022" t="-70090" r="-173" b="-57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6964466"/>
                      </a:ext>
                    </a:extLst>
                  </a:tr>
                  <a:tr h="19188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ore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목표</a:t>
                          </a:r>
                          <a:r>
                            <a:rPr lang="en-US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 </a:t>
                          </a:r>
                          <a:r>
                            <a:rPr lang="ko-KR" altLang="en-US" b="0" i="0" dirty="0">
                              <a:solidFill>
                                <a:schemeClr val="bg1"/>
                              </a:solidFill>
                              <a:latin typeface="Gmarket Sans Medium" panose="02000000000000000000" pitchFamily="2" charset="-128"/>
                              <a:ea typeface="Gmarket Sans Medium" panose="02000000000000000000" pitchFamily="2" charset="-128"/>
                            </a:rPr>
                            <a:t>수치</a:t>
                          </a:r>
                          <a:endParaRPr lang="ko-Kore-KR" altLang="en-US" b="0" i="0" dirty="0">
                            <a:solidFill>
                              <a:schemeClr val="bg1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2000" dirty="0"/>
                            <a:t>벡터 크기 ≤ </a:t>
                          </a:r>
                          <a:r>
                            <a:rPr lang="en-US" altLang="ko-KR" sz="2000" dirty="0"/>
                            <a:t>10px </a:t>
                          </a:r>
                          <a:r>
                            <a:rPr lang="ko-KR" altLang="en-US" sz="2000" dirty="0"/>
                            <a:t>비율 </a:t>
                          </a:r>
                          <a:r>
                            <a:rPr lang="en-US" altLang="ko-KR" sz="2000" b="1" dirty="0"/>
                            <a:t>85% </a:t>
                          </a:r>
                          <a:r>
                            <a:rPr lang="ko-KR" altLang="en-US" sz="2000" b="1" dirty="0"/>
                            <a:t>이상</a:t>
                          </a:r>
                          <a:endParaRPr lang="en-US" altLang="ko-KR" sz="2000" b="0" i="0" dirty="0">
                            <a:solidFill>
                              <a:srgbClr val="000000"/>
                            </a:solidFill>
                            <a:latin typeface="Gmarket Sans Medium" panose="02000000000000000000" pitchFamily="2" charset="-128"/>
                            <a:ea typeface="Gmarket Sans Medium" panose="02000000000000000000" pitchFamily="2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52971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258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3BB9-CDE5-F07D-DD5F-B90E6CCC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A2FC6F48-6181-350B-A094-265EC49D3870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5400" b="1" dirty="0" err="1">
                <a:solidFill>
                  <a:prstClr val="black"/>
                </a:solidFill>
                <a:sym typeface="Source Han Sans KR Bold"/>
              </a:rPr>
              <a:t>로봇팔</a:t>
            </a:r>
            <a:r>
              <a:rPr lang="ko-KR" altLang="en-US" sz="5400" b="1" dirty="0">
                <a:solidFill>
                  <a:prstClr val="black"/>
                </a:solidFill>
                <a:sym typeface="Source Han Sans KR Bold"/>
              </a:rPr>
              <a:t> 추적 안정성 측정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(</a:t>
            </a: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정량지표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2)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614D6-BFC0-0051-1A92-FC2044E87BA9}"/>
              </a:ext>
            </a:extLst>
          </p:cNvPr>
          <p:cNvSpPr txBox="1"/>
          <p:nvPr/>
        </p:nvSpPr>
        <p:spPr>
          <a:xfrm>
            <a:off x="7149510" y="2386955"/>
            <a:ext cx="5410200" cy="777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사용자가 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30cm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 동안 위쪽으로 이동</a:t>
            </a: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ource Han Sans KR"/>
              <a:sym typeface="Source Han Sans KR"/>
            </a:endParaRPr>
          </a:p>
        </p:txBody>
      </p:sp>
      <p:pic>
        <p:nvPicPr>
          <p:cNvPr id="7" name="평가지표2_640">
            <a:hlinkClick r:id="" action="ppaction://media"/>
            <a:extLst>
              <a:ext uri="{FF2B5EF4-FFF2-40B4-BE49-F238E27FC236}">
                <a16:creationId xmlns:a16="http://schemas.microsoft.com/office/drawing/2014/main" id="{702CE0A6-324D-AFEC-92B1-EA351C1793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38600" y="3184561"/>
            <a:ext cx="8229600" cy="61943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E83D69-43C2-D64C-C3C2-A2A38C284FD9}"/>
              </a:ext>
            </a:extLst>
          </p:cNvPr>
          <p:cNvSpPr txBox="1"/>
          <p:nvPr/>
        </p:nvSpPr>
        <p:spPr>
          <a:xfrm>
            <a:off x="3933371" y="2775780"/>
            <a:ext cx="2356414" cy="81208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4400" b="1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640 x 480</a:t>
            </a: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ko-KR" altLang="en-US" sz="41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31176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0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8182E-BFCC-5E95-16CD-D9ABAB4EF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C20D3FF2-68D3-4DAE-C2D8-141062D19BFD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5400" b="1" dirty="0" err="1">
                <a:solidFill>
                  <a:prstClr val="black"/>
                </a:solidFill>
                <a:sym typeface="Source Han Sans KR Bold"/>
              </a:rPr>
              <a:t>로봇팔</a:t>
            </a:r>
            <a:r>
              <a:rPr lang="ko-KR" altLang="en-US" sz="5400" b="1" dirty="0">
                <a:solidFill>
                  <a:prstClr val="black"/>
                </a:solidFill>
                <a:sym typeface="Source Han Sans KR Bold"/>
              </a:rPr>
              <a:t> 추적 안정성 측정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(</a:t>
            </a: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정량지표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2)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1BBCE7-89A2-9212-FC47-D79136AFD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095500"/>
            <a:ext cx="5943600" cy="7315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9C763E9-DCDB-A1E0-A8E3-D0A2C3F90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095499"/>
            <a:ext cx="4556214" cy="731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9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1D6B-C053-EFCE-4546-435B7A06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316B9771-1646-570A-B753-146F629CFB4E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5400" b="1" dirty="0" err="1">
                <a:solidFill>
                  <a:prstClr val="black"/>
                </a:solidFill>
                <a:sym typeface="Source Han Sans KR Bold"/>
              </a:rPr>
              <a:t>로봇팔</a:t>
            </a:r>
            <a:r>
              <a:rPr lang="ko-KR" altLang="en-US" sz="5400" b="1" dirty="0">
                <a:solidFill>
                  <a:prstClr val="black"/>
                </a:solidFill>
                <a:sym typeface="Source Han Sans KR Bold"/>
              </a:rPr>
              <a:t> 추적 안정성 측정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(</a:t>
            </a: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정량지표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2)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742618-F2DB-C028-E460-07FB157A7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494" y="1909650"/>
            <a:ext cx="12044782" cy="716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84DC49-A94B-3E31-3258-F2C59C970E6A}"/>
                  </a:ext>
                </a:extLst>
              </p:cNvPr>
              <p:cNvSpPr txBox="1"/>
              <p:nvPr/>
            </p:nvSpPr>
            <p:spPr>
              <a:xfrm>
                <a:off x="2590800" y="8572500"/>
                <a:ext cx="11228170" cy="1210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4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en-US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4000" i="1" dirty="0">
                          <a:latin typeface="Cambria Math" panose="02040503050406030204" pitchFamily="18" charset="0"/>
                        </a:rPr>
                        <m:t>벡</m:t>
                      </m:r>
                      <m:r>
                        <a:rPr lang="ko-KR" altLang="en-US" sz="4000" i="1" dirty="0" smtClean="0">
                          <a:latin typeface="Cambria Math" panose="02040503050406030204" pitchFamily="18" charset="0"/>
                        </a:rPr>
                        <m:t>터</m:t>
                      </m:r>
                      <m:r>
                        <a:rPr lang="en-US" altLang="ko-KR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4000" i="1" dirty="0">
                          <a:latin typeface="Cambria Math" panose="02040503050406030204" pitchFamily="18" charset="0"/>
                        </a:rPr>
                        <m:t>크</m:t>
                      </m:r>
                      <m:r>
                        <a:rPr lang="ko-KR" altLang="en-US" sz="4000" i="1" dirty="0" smtClean="0">
                          <a:latin typeface="Cambria Math" panose="02040503050406030204" pitchFamily="18" charset="0"/>
                        </a:rPr>
                        <m:t>기</m:t>
                      </m:r>
                      <m:r>
                        <a:rPr lang="en-US" altLang="ko-KR" sz="4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en-US" sz="4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 </m:t>
                      </m:r>
                      <m:rad>
                        <m:radPr>
                          <m:degHide m:val="on"/>
                          <m:ctrlPr>
                            <a:rPr lang="el-GR" altLang="ko-KR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l-GR" altLang="ko-KR" sz="4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l-GR" altLang="ko-KR" sz="4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ko-KR" sz="40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l-GR" sz="4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l-GR" altLang="ko-KR" sz="4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l-GR" altLang="ko-KR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l-GR" altLang="ko-KR" sz="4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l-GR" altLang="ko-KR" sz="4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ko-KR" sz="400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ko-KR" altLang="el-GR" sz="4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l-GR" altLang="ko-KR" sz="4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ko-KR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84DC49-A94B-3E31-3258-F2C59C970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8572500"/>
                <a:ext cx="11228170" cy="12105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12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4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: Shape 16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16904004" cy="3012958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 0">
            <a:extLst>
              <a:ext uri="{FF2B5EF4-FFF2-40B4-BE49-F238E27FC236}">
                <a16:creationId xmlns:a16="http://schemas.microsoft.com/office/drawing/2014/main" id="{55649B53-8356-4888-B93C-E40C59EB2420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dirty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  <a:sym typeface="Source Han Sans KR Bold"/>
              </a:rPr>
              <a:t>추적 후 최대 진동 폭 안정성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  <a:sym typeface="Source Han Sans KR Bold"/>
            </a:endParaRPr>
          </a:p>
        </p:txBody>
      </p:sp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32" y="9416956"/>
            <a:ext cx="10327368" cy="870045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29296"/>
              </p:ext>
            </p:extLst>
          </p:nvPr>
        </p:nvGraphicFramePr>
        <p:xfrm>
          <a:off x="2209799" y="2400300"/>
          <a:ext cx="13331361" cy="7103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84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31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지표</a:t>
                      </a:r>
                      <a:r>
                        <a:rPr lang="ko-KR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정의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4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이동 후 정지된 사용자에 대해 </a:t>
                      </a:r>
                      <a:r>
                        <a:rPr lang="ko-KR" altLang="en-US" sz="2400" b="0" i="0" dirty="0" err="1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로봇팔이</a:t>
                      </a:r>
                      <a:r>
                        <a:rPr lang="ko-KR" altLang="en-US" sz="2400" b="0" i="0" dirty="0">
                          <a:solidFill>
                            <a:srgbClr val="000000"/>
                          </a:solidFill>
                          <a:latin typeface="Gmarket Sans Medium"/>
                          <a:ea typeface="Gmarket Sans Medium"/>
                        </a:rPr>
                        <a:t> 추적 후 최대 진동 폭 측정</a:t>
                      </a:r>
                      <a:endParaRPr lang="ko-Kore-KR" altLang="en-US" sz="2400" b="0" i="0" dirty="0"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155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목적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2400" b="0" i="0" dirty="0" err="1">
                          <a:latin typeface="Gmarket Sans Medium"/>
                          <a:ea typeface="Gmarket Sans Medium"/>
                        </a:rPr>
                        <a:t>로봇팔이</a:t>
                      </a:r>
                      <a:r>
                        <a:rPr lang="ko-KR" altLang="en-US" sz="2400" b="0" i="0" dirty="0">
                          <a:latin typeface="Gmarket Sans Medium"/>
                          <a:ea typeface="Gmarket Sans Medium"/>
                        </a:rPr>
                        <a:t> 사용자를 추적하고 난 후에 떨림이 있으면 </a:t>
                      </a:r>
                      <a:r>
                        <a:rPr lang="ko-KR" altLang="en-US" sz="2400" dirty="0"/>
                        <a:t>영 영상의 품질이 저하되고 사용자 경험이 나빠지는 문제가 있기 때문에 측정 필요</a:t>
                      </a:r>
                      <a:endParaRPr lang="ko-Kore-KR" altLang="en-US" sz="2400" b="0" i="0" dirty="0"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736835"/>
                  </a:ext>
                </a:extLst>
              </a:tr>
              <a:tr h="3778071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2400" b="0" i="0" dirty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측정</a:t>
                      </a:r>
                      <a:r>
                        <a:rPr lang="ko-KR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방법</a:t>
                      </a:r>
                      <a:endParaRPr lang="ko-Kore-KR" altLang="en-US" sz="2400" b="0" i="0" dirty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ctr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ko-KR" altLang="en-US" sz="2200" dirty="0"/>
                        <a:t>사용자가 </a:t>
                      </a:r>
                      <a:r>
                        <a:rPr lang="ko-KR" altLang="en-US" sz="2200" b="1" dirty="0"/>
                        <a:t>정지 상태에 들어가기 전</a:t>
                      </a:r>
                      <a:r>
                        <a:rPr lang="en-US" altLang="ko-KR" sz="2200" dirty="0"/>
                        <a:t>, </a:t>
                      </a:r>
                      <a:r>
                        <a:rPr lang="ko-KR" altLang="en-US" sz="2200" dirty="0" err="1"/>
                        <a:t>좌우상하</a:t>
                      </a:r>
                      <a:r>
                        <a:rPr lang="ko-KR" altLang="en-US" sz="2200"/>
                        <a:t> 중 한 방향으로 </a:t>
                      </a:r>
                      <a:r>
                        <a:rPr lang="ko-KR" altLang="en-US" sz="2200" dirty="0"/>
                        <a:t>초당 </a:t>
                      </a:r>
                      <a:r>
                        <a:rPr lang="en-US" altLang="ko-KR" sz="2200" dirty="0"/>
                        <a:t>10cm </a:t>
                      </a:r>
                      <a:r>
                        <a:rPr lang="ko-KR" altLang="en-US" sz="2200" dirty="0"/>
                        <a:t>속도로 약 </a:t>
                      </a:r>
                      <a:r>
                        <a:rPr lang="en-US" altLang="ko-KR" sz="2200" dirty="0"/>
                        <a:t>30cm</a:t>
                      </a:r>
                      <a:r>
                        <a:rPr lang="ko-KR" altLang="en-US" sz="2200" dirty="0"/>
                        <a:t>를 이동한다</a:t>
                      </a:r>
                      <a:r>
                        <a:rPr lang="en-US" altLang="ko-KR" sz="2200" dirty="0"/>
                        <a:t>.  </a:t>
                      </a:r>
                    </a:p>
                    <a:p>
                      <a:pPr marL="342900" lvl="0" indent="-342900" algn="ctr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ko-KR" altLang="en-US" sz="2200" dirty="0"/>
                        <a:t>이후 </a:t>
                      </a:r>
                      <a:r>
                        <a:rPr lang="en-US" altLang="ko-KR" sz="2200" dirty="0"/>
                        <a:t>3</a:t>
                      </a:r>
                      <a:r>
                        <a:rPr lang="ko-KR" altLang="en-US" sz="2200" dirty="0"/>
                        <a:t>초간 정지 상태를 유지한다</a:t>
                      </a:r>
                      <a:r>
                        <a:rPr lang="en-US" altLang="ko-KR" sz="2200" dirty="0"/>
                        <a:t>.</a:t>
                      </a:r>
                    </a:p>
                    <a:p>
                      <a:pPr marL="342900" lvl="0" indent="-342900" algn="ctr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ko-KR" altLang="en-US" sz="2200" dirty="0"/>
                        <a:t>이때 매 프레임마다 얼굴 중심 좌표를 기록함</a:t>
                      </a:r>
                    </a:p>
                    <a:p>
                      <a:pPr marL="342900" lvl="0" indent="-342900" algn="ctr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ko-KR" altLang="en-US" sz="2200" dirty="0"/>
                        <a:t>가장 처음 좌표를 기준으로 설정</a:t>
                      </a:r>
                    </a:p>
                    <a:p>
                      <a:pPr marL="342900" lvl="0" indent="-342900" algn="ctr">
                        <a:lnSpc>
                          <a:spcPct val="150000"/>
                        </a:lnSpc>
                        <a:buFont typeface="+mj-lt"/>
                        <a:buAutoNum type="arabicPeriod"/>
                        <a:defRPr/>
                      </a:pPr>
                      <a:r>
                        <a:rPr lang="ko-KR" altLang="en-US" sz="2200" dirty="0"/>
                        <a:t>화면 가로 해상도의 </a:t>
                      </a:r>
                      <a:r>
                        <a:rPr lang="en-US" altLang="ko-KR" sz="2200" dirty="0"/>
                        <a:t>n%</a:t>
                      </a:r>
                      <a:r>
                        <a:rPr lang="ko-KR" altLang="en-US" sz="2200" dirty="0"/>
                        <a:t>를 반지름으로 하는 원을 기준 좌표 중심에 그림</a:t>
                      </a:r>
                    </a:p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ko-KR" altLang="en-US" sz="2200" dirty="0"/>
                        <a:t>예</a:t>
                      </a:r>
                      <a:r>
                        <a:rPr lang="en-US" altLang="ko-KR" sz="2200" dirty="0"/>
                        <a:t>: 1920×1080 → </a:t>
                      </a:r>
                      <a:r>
                        <a:rPr lang="ko-KR" altLang="en-US" sz="2200" dirty="0"/>
                        <a:t>반지름 약 </a:t>
                      </a:r>
                      <a:r>
                        <a:rPr lang="en-US" altLang="ko-KR" sz="2200" dirty="0" err="1"/>
                        <a:t>npx</a:t>
                      </a:r>
                      <a:r>
                        <a:rPr lang="en-US" altLang="ko-KR" sz="2200" dirty="0"/>
                        <a:t> (</a:t>
                      </a:r>
                      <a:r>
                        <a:rPr lang="ko-KR" altLang="en-US" sz="2200" dirty="0"/>
                        <a:t>지름 약 </a:t>
                      </a:r>
                      <a:r>
                        <a:rPr lang="en-US" altLang="ko-KR" sz="2200" dirty="0" err="1"/>
                        <a:t>npx</a:t>
                      </a:r>
                      <a:r>
                        <a:rPr lang="en-US" altLang="ko-KR" sz="2200" dirty="0"/>
                        <a:t>)</a:t>
                      </a:r>
                    </a:p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  <a:defRPr/>
                      </a:pPr>
                      <a:r>
                        <a:rPr lang="en-US" altLang="ko-KR" sz="2200" dirty="0"/>
                        <a:t>6. </a:t>
                      </a:r>
                      <a:r>
                        <a:rPr lang="ko-KR" altLang="en-US" sz="2200" dirty="0"/>
                        <a:t>이후 모든 프레임의 좌표가 이 원 안에 들어가는 비율을 계산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7419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ore-KR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목표</a:t>
                      </a:r>
                      <a:r>
                        <a:rPr lang="en-US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 </a:t>
                      </a:r>
                      <a:r>
                        <a:rPr lang="ko-KR" altLang="en-US" sz="2400" b="0" i="0">
                          <a:solidFill>
                            <a:schemeClr val="bg1"/>
                          </a:solidFill>
                          <a:latin typeface="Gmarket Sans Medium"/>
                          <a:ea typeface="Gmarket Sans Medium"/>
                        </a:rPr>
                        <a:t>수치</a:t>
                      </a:r>
                      <a:endParaRPr lang="ko-Kore-KR" altLang="en-US" sz="2400" b="0" i="0">
                        <a:solidFill>
                          <a:schemeClr val="bg1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2400" dirty="0"/>
                        <a:t>원 내부 비율 ≥ </a:t>
                      </a:r>
                      <a:r>
                        <a:rPr lang="en-US" altLang="ko-KR" sz="2400" b="1" dirty="0"/>
                        <a:t>80%</a:t>
                      </a:r>
                      <a:endParaRPr lang="en-US" altLang="ko-KR" sz="2400" b="0" i="0" dirty="0">
                        <a:solidFill>
                          <a:srgbClr val="000000"/>
                        </a:solidFill>
                        <a:latin typeface="Gmarket Sans Medium"/>
                        <a:ea typeface="Gmarket Sans Medium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4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29E12-CD56-693B-E6D0-DB40BDC5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2F976543-B363-85EF-26B4-F63B720FDF29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720214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5400" b="1" dirty="0">
                <a:solidFill>
                  <a:prstClr val="black"/>
                </a:solidFill>
                <a:sym typeface="Source Han Sans KR Bold"/>
              </a:rPr>
              <a:t>추적 후 최대 진동 폭 안정성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(</a:t>
            </a:r>
            <a:r>
              <a:rPr lang="ko-KR" altLang="en-US" sz="5400" b="1" dirty="0">
                <a:latin typeface="+mj-lt"/>
                <a:ea typeface="+mj-ea"/>
                <a:cs typeface="+mj-cs"/>
                <a:sym typeface="Source Han Sans KR Bold"/>
              </a:rPr>
              <a:t>정량지표</a:t>
            </a:r>
            <a:r>
              <a:rPr lang="en-US" altLang="ko-KR" sz="5400" b="1" dirty="0">
                <a:latin typeface="+mj-lt"/>
                <a:ea typeface="+mj-ea"/>
                <a:cs typeface="+mj-cs"/>
                <a:sym typeface="Source Han Sans KR Bold"/>
              </a:rPr>
              <a:t>3)</a:t>
            </a:r>
            <a:endParaRPr kumimoji="0" lang="ko-KR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ource Han Sans KR Bold"/>
            </a:endParaRPr>
          </a:p>
        </p:txBody>
      </p:sp>
      <p:pic>
        <p:nvPicPr>
          <p:cNvPr id="4" name="평가지표3_640_자르기">
            <a:hlinkClick r:id="" action="ppaction://media"/>
            <a:extLst>
              <a:ext uri="{FF2B5EF4-FFF2-40B4-BE49-F238E27FC236}">
                <a16:creationId xmlns:a16="http://schemas.microsoft.com/office/drawing/2014/main" id="{9D5AF355-3C97-ACFF-317D-56393243E0E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28999" y="3390900"/>
            <a:ext cx="8910155" cy="6131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29C312-362E-17C7-FCAB-F62C43C7A293}"/>
              </a:ext>
            </a:extLst>
          </p:cNvPr>
          <p:cNvSpPr txBox="1"/>
          <p:nvPr/>
        </p:nvSpPr>
        <p:spPr>
          <a:xfrm>
            <a:off x="3933371" y="2775780"/>
            <a:ext cx="2356414" cy="81208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4400" b="1" dirty="0">
                <a:solidFill>
                  <a:srgbClr val="090807"/>
                </a:solidFill>
                <a:latin typeface="Source Sans Pro Black" panose="020B0803030403020204" pitchFamily="34" charset="0"/>
                <a:ea typeface="Source Sans Pro Black" panose="020B0803030403020204" pitchFamily="34" charset="0"/>
                <a:cs typeface="Source Han Sans KR"/>
                <a:sym typeface="Source Han Sans KR"/>
              </a:rPr>
              <a:t>640 x 480</a:t>
            </a:r>
          </a:p>
          <a:p>
            <a:pPr marL="0" indent="0" algn="ctr" defTabSz="914400" rtl="0" eaLnBrk="1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kumimoji="0" lang="ko-KR" altLang="en-US" sz="4100" b="1" i="0" u="none" strike="noStrike" kern="1200" cap="none" spc="0" normalizeH="0" baseline="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199C4-3937-64D8-7AB1-5A09ED3E77EB}"/>
              </a:ext>
            </a:extLst>
          </p:cNvPr>
          <p:cNvSpPr txBox="1"/>
          <p:nvPr/>
        </p:nvSpPr>
        <p:spPr>
          <a:xfrm>
            <a:off x="7149510" y="2386955"/>
            <a:ext cx="5410200" cy="777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사용자가 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30cm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 동안 왼쪽으로 이동 후 </a:t>
            </a:r>
            <a:r>
              <a:rPr lang="en-US" altLang="ko-KR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lang="ko-KR" altLang="en-US" sz="3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초간 정지</a:t>
            </a:r>
            <a:endParaRPr kumimoji="0" lang="ko-KR" altLang="en-US" sz="3200" b="1" i="0" u="none" strike="noStrike" kern="1200" cap="none" spc="0" normalizeH="0" baseline="0" dirty="0">
              <a:solidFill>
                <a:srgbClr val="090807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Source Han Sans KR"/>
              <a:sym typeface="Source Han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6238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B9B95-010F-BA5D-5A46-574D1A57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37FCF5CF-238A-0102-5064-DAA247039199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5400" b="1" dirty="0">
                <a:solidFill>
                  <a:prstClr val="black"/>
                </a:solidFill>
                <a:sym typeface="Source Han Sans KR Bold"/>
              </a:rPr>
              <a:t>추적 후 최대 진동 폭 안정성</a:t>
            </a:r>
            <a:r>
              <a:rPr lang="en-US" altLang="ko-KR" sz="5400" b="1" dirty="0">
                <a:sym typeface="Source Han Sans KR Bold"/>
              </a:rPr>
              <a:t>(</a:t>
            </a:r>
            <a:r>
              <a:rPr lang="ko-KR" altLang="en-US" sz="5400" b="1" dirty="0">
                <a:sym typeface="Source Han Sans KR Bold"/>
              </a:rPr>
              <a:t>평가지표</a:t>
            </a:r>
            <a:r>
              <a:rPr lang="en-US" altLang="ko-KR" sz="5400" b="1" dirty="0">
                <a:sym typeface="Source Han Sans KR Bold"/>
              </a:rPr>
              <a:t>3)</a:t>
            </a:r>
            <a:endParaRPr lang="ko-KR" altLang="en-US" sz="5400" b="1" dirty="0">
              <a:sym typeface="Source Han Sans KR 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4D4333-1E7E-8FA9-720C-2E4A5A5D4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878807"/>
            <a:ext cx="5181600" cy="83192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BF61F2E-F0E7-DF60-9306-4E2F7687D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324100"/>
            <a:ext cx="4648200" cy="664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422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F4B24-893B-5C57-3F7E-AF613E057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>
            <a:extLst>
              <a:ext uri="{FF2B5EF4-FFF2-40B4-BE49-F238E27FC236}">
                <a16:creationId xmlns:a16="http://schemas.microsoft.com/office/drawing/2014/main" id="{4C03EBA9-0DB9-18C1-DF0E-2964FB3A6404}"/>
              </a:ext>
            </a:extLst>
          </p:cNvPr>
          <p:cNvSpPr txBox="1">
            <a:spLocks/>
          </p:cNvSpPr>
          <p:nvPr/>
        </p:nvSpPr>
        <p:spPr>
          <a:xfrm>
            <a:off x="1085851" y="764380"/>
            <a:ext cx="11473859" cy="1114427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ko-KR" altLang="en-US" sz="5400" b="1" dirty="0">
                <a:solidFill>
                  <a:prstClr val="black"/>
                </a:solidFill>
                <a:sym typeface="Source Han Sans KR Bold"/>
              </a:rPr>
              <a:t>추적 후 최대 진동 폭 안정성</a:t>
            </a:r>
            <a:r>
              <a:rPr lang="en-US" altLang="ko-KR" sz="5400" b="1" dirty="0">
                <a:sym typeface="Source Han Sans KR Bold"/>
              </a:rPr>
              <a:t>(</a:t>
            </a:r>
            <a:r>
              <a:rPr lang="ko-KR" altLang="en-US" sz="5400" b="1" dirty="0">
                <a:sym typeface="Source Han Sans KR Bold"/>
              </a:rPr>
              <a:t>정량지표</a:t>
            </a:r>
            <a:r>
              <a:rPr lang="en-US" altLang="ko-KR" sz="5400" b="1" dirty="0">
                <a:sym typeface="Source Han Sans KR Bold"/>
              </a:rPr>
              <a:t>3)</a:t>
            </a:r>
            <a:endParaRPr lang="ko-KR" altLang="en-US" sz="5400" b="1" dirty="0">
              <a:sym typeface="Source Han Sans KR Bold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90AA41E-A016-A517-28FE-F53ADBFFC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855221"/>
            <a:ext cx="8077200" cy="829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75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anchor="t">
        <a:spAutoFit/>
      </a:bodyPr>
      <a:lstStyle>
        <a:defPPr marL="0" lvl="0" indent="0" algn="ctr" defTabSz="914400" rtl="0" eaLnBrk="1" latinLnBrk="0" hangingPunct="1">
          <a:lnSpc>
            <a:spcPts val="3000"/>
          </a:lnSpc>
          <a:spcBef>
            <a:spcPts val="0"/>
          </a:spcBef>
          <a:spcAft>
            <a:spcPts val="0"/>
          </a:spcAft>
          <a:buNone/>
          <a:defRPr kumimoji="0" lang="en-US" altLang="ko-KR" sz="4100" b="1" i="0" u="none" strike="noStrike" kern="1200" cap="none" spc="0" normalizeH="0" baseline="0">
            <a:solidFill>
              <a:srgbClr val="090807"/>
            </a:solidFill>
            <a:latin typeface="Source Han Sans KR"/>
            <a:ea typeface="Source Han Sans KR"/>
            <a:cs typeface="Source Han Sans KR"/>
            <a:sym typeface="Source Han Sans K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504</Words>
  <Application>Microsoft Office PowerPoint</Application>
  <PresentationFormat>사용자 지정</PresentationFormat>
  <Paragraphs>83</Paragraphs>
  <Slides>12</Slides>
  <Notes>12</Notes>
  <HiddenSlides>0</HiddenSlides>
  <MMClips>5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3" baseType="lpstr">
      <vt:lpstr>Gmarket Sans Medium</vt:lpstr>
      <vt:lpstr>HY견고딕</vt:lpstr>
      <vt:lpstr>Source Han Sans KR</vt:lpstr>
      <vt:lpstr>Source Han Sans KR Bold</vt:lpstr>
      <vt:lpstr>맑은 고딕</vt:lpstr>
      <vt:lpstr>Arial</vt:lpstr>
      <vt:lpstr>Calibri</vt:lpstr>
      <vt:lpstr>Cambria Math</vt:lpstr>
      <vt:lpstr>Raleway</vt:lpstr>
      <vt:lpstr>Source Sans Pro Black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옐로우 블랙 깔끔한 보고서 프레젠테이션</dc:title>
  <dc:creator>UserK</dc:creator>
  <cp:lastModifiedBy>김동현/임베디드시스템공학과</cp:lastModifiedBy>
  <cp:revision>156</cp:revision>
  <dcterms:created xsi:type="dcterms:W3CDTF">2006-08-16T00:00:00Z</dcterms:created>
  <dcterms:modified xsi:type="dcterms:W3CDTF">2025-10-02T01:58:09Z</dcterms:modified>
  <cp:version/>
</cp:coreProperties>
</file>